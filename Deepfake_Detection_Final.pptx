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6F1CCC-2181-4F91-A58F-763268670D6E}" v="4" dt="2026-05-20T02:23:01.8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kateshchidadhla05@outlook.com" userId="951244d93463f550" providerId="LiveId" clId="{034F0073-61D0-41BA-993E-81D105246D5C}"/>
    <pc:docChg chg="undo custSel modSld">
      <pc:chgData name="venkateshchidadhla05@outlook.com" userId="951244d93463f550" providerId="LiveId" clId="{034F0073-61D0-41BA-993E-81D105246D5C}" dt="2026-05-20T02:24:10.280" v="528" actId="20577"/>
      <pc:docMkLst>
        <pc:docMk/>
      </pc:docMkLst>
      <pc:sldChg chg="addSp modSp mod">
        <pc:chgData name="venkateshchidadhla05@outlook.com" userId="951244d93463f550" providerId="LiveId" clId="{034F0073-61D0-41BA-993E-81D105246D5C}" dt="2026-05-20T02:23:50.069" v="470" actId="20577"/>
        <pc:sldMkLst>
          <pc:docMk/>
          <pc:sldMk cId="0" sldId="264"/>
        </pc:sldMkLst>
        <pc:spChg chg="mod">
          <ac:chgData name="venkateshchidadhla05@outlook.com" userId="951244d93463f550" providerId="LiveId" clId="{034F0073-61D0-41BA-993E-81D105246D5C}" dt="2026-05-20T02:18:24.407" v="294" actId="20577"/>
          <ac:spMkLst>
            <pc:docMk/>
            <pc:sldMk cId="0" sldId="264"/>
            <ac:spMk id="14" creationId="{00000000-0000-0000-0000-000000000000}"/>
          </ac:spMkLst>
        </pc:spChg>
        <pc:spChg chg="mod">
          <ac:chgData name="venkateshchidadhla05@outlook.com" userId="951244d93463f550" providerId="LiveId" clId="{034F0073-61D0-41BA-993E-81D105246D5C}" dt="2026-05-20T02:11:49.684" v="88" actId="1076"/>
          <ac:spMkLst>
            <pc:docMk/>
            <pc:sldMk cId="0" sldId="264"/>
            <ac:spMk id="15" creationId="{00000000-0000-0000-0000-000000000000}"/>
          </ac:spMkLst>
        </pc:spChg>
        <pc:spChg chg="mod">
          <ac:chgData name="venkateshchidadhla05@outlook.com" userId="951244d93463f550" providerId="LiveId" clId="{034F0073-61D0-41BA-993E-81D105246D5C}" dt="2026-05-20T02:18:29.220" v="300" actId="20577"/>
          <ac:spMkLst>
            <pc:docMk/>
            <pc:sldMk cId="0" sldId="264"/>
            <ac:spMk id="19" creationId="{00000000-0000-0000-0000-000000000000}"/>
          </ac:spMkLst>
        </pc:spChg>
        <pc:spChg chg="mod">
          <ac:chgData name="venkateshchidadhla05@outlook.com" userId="951244d93463f550" providerId="LiveId" clId="{034F0073-61D0-41BA-993E-81D105246D5C}" dt="2026-05-20T02:19:03.607" v="385" actId="14100"/>
          <ac:spMkLst>
            <pc:docMk/>
            <pc:sldMk cId="0" sldId="264"/>
            <ac:spMk id="20" creationId="{00000000-0000-0000-0000-000000000000}"/>
          </ac:spMkLst>
        </pc:spChg>
        <pc:spChg chg="mod">
          <ac:chgData name="venkateshchidadhla05@outlook.com" userId="951244d93463f550" providerId="LiveId" clId="{034F0073-61D0-41BA-993E-81D105246D5C}" dt="2026-05-20T02:18:15.519" v="287" actId="20577"/>
          <ac:spMkLst>
            <pc:docMk/>
            <pc:sldMk cId="0" sldId="264"/>
            <ac:spMk id="24" creationId="{00000000-0000-0000-0000-000000000000}"/>
          </ac:spMkLst>
        </pc:spChg>
        <pc:spChg chg="mod">
          <ac:chgData name="venkateshchidadhla05@outlook.com" userId="951244d93463f550" providerId="LiveId" clId="{034F0073-61D0-41BA-993E-81D105246D5C}" dt="2026-05-20T02:23:50.069" v="470" actId="20577"/>
          <ac:spMkLst>
            <pc:docMk/>
            <pc:sldMk cId="0" sldId="264"/>
            <ac:spMk id="29" creationId="{00000000-0000-0000-0000-000000000000}"/>
          </ac:spMkLst>
        </pc:spChg>
        <pc:spChg chg="mod">
          <ac:chgData name="venkateshchidadhla05@outlook.com" userId="951244d93463f550" providerId="LiveId" clId="{034F0073-61D0-41BA-993E-81D105246D5C}" dt="2026-05-20T02:18:57.116" v="384" actId="20577"/>
          <ac:spMkLst>
            <pc:docMk/>
            <pc:sldMk cId="0" sldId="264"/>
            <ac:spMk id="30" creationId="{00000000-0000-0000-0000-000000000000}"/>
          </ac:spMkLst>
        </pc:spChg>
        <pc:picChg chg="add mod modCrop">
          <ac:chgData name="venkateshchidadhla05@outlook.com" userId="951244d93463f550" providerId="LiveId" clId="{034F0073-61D0-41BA-993E-81D105246D5C}" dt="2026-05-20T02:09:19.642" v="72" actId="14100"/>
          <ac:picMkLst>
            <pc:docMk/>
            <pc:sldMk cId="0" sldId="264"/>
            <ac:picMk id="32" creationId="{C7A721DA-01E0-EB43-317A-66D0D4A17F93}"/>
          </ac:picMkLst>
        </pc:picChg>
        <pc:picChg chg="add mod modCrop">
          <ac:chgData name="venkateshchidadhla05@outlook.com" userId="951244d93463f550" providerId="LiveId" clId="{034F0073-61D0-41BA-993E-81D105246D5C}" dt="2026-05-20T02:14:00.367" v="150" actId="1076"/>
          <ac:picMkLst>
            <pc:docMk/>
            <pc:sldMk cId="0" sldId="264"/>
            <ac:picMk id="34" creationId="{35EA965B-E829-AB46-DDE8-55292F7E888F}"/>
          </ac:picMkLst>
        </pc:picChg>
        <pc:picChg chg="add mod modCrop">
          <ac:chgData name="venkateshchidadhla05@outlook.com" userId="951244d93463f550" providerId="LiveId" clId="{034F0073-61D0-41BA-993E-81D105246D5C}" dt="2026-05-20T02:16:18.620" v="164" actId="14100"/>
          <ac:picMkLst>
            <pc:docMk/>
            <pc:sldMk cId="0" sldId="264"/>
            <ac:picMk id="36" creationId="{E7D9F824-A0EE-992F-AE5E-A10548F96411}"/>
          </ac:picMkLst>
        </pc:picChg>
        <pc:picChg chg="add mod modCrop">
          <ac:chgData name="venkateshchidadhla05@outlook.com" userId="951244d93463f550" providerId="LiveId" clId="{034F0073-61D0-41BA-993E-81D105246D5C}" dt="2026-05-20T02:22:13.161" v="398" actId="14100"/>
          <ac:picMkLst>
            <pc:docMk/>
            <pc:sldMk cId="0" sldId="264"/>
            <ac:picMk id="38" creationId="{C9B00ED3-72F8-E5E6-4275-0521920885D4}"/>
          </ac:picMkLst>
        </pc:picChg>
      </pc:sldChg>
      <pc:sldChg chg="modSp mod">
        <pc:chgData name="venkateshchidadhla05@outlook.com" userId="951244d93463f550" providerId="LiveId" clId="{034F0073-61D0-41BA-993E-81D105246D5C}" dt="2026-05-20T02:24:10.280" v="528" actId="20577"/>
        <pc:sldMkLst>
          <pc:docMk/>
          <pc:sldMk cId="0" sldId="266"/>
        </pc:sldMkLst>
        <pc:spChg chg="mod">
          <ac:chgData name="venkateshchidadhla05@outlook.com" userId="951244d93463f550" providerId="LiveId" clId="{034F0073-61D0-41BA-993E-81D105246D5C}" dt="2026-05-20T02:24:10.280" v="528" actId="20577"/>
          <ac:spMkLst>
            <pc:docMk/>
            <pc:sldMk cId="0" sldId="266"/>
            <ac:spMk id="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4548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6309360" y="0"/>
            <a:ext cx="2834640" cy="5143500"/>
          </a:xfrm>
          <a:prstGeom prst="rect">
            <a:avLst/>
          </a:prstGeom>
          <a:solidFill>
            <a:srgbClr val="0D1B3E"/>
          </a:solidFill>
          <a:ln w="12700">
            <a:solidFill>
              <a:srgbClr val="0D1B3E"/>
            </a:solidFill>
            <a:prstDash val="solid"/>
          </a:ln>
        </p:spPr>
      </p:sp>
      <p:sp>
        <p:nvSpPr>
          <p:cNvPr id="3" name="Shape 1"/>
          <p:cNvSpPr/>
          <p:nvPr/>
        </p:nvSpPr>
        <p:spPr>
          <a:xfrm>
            <a:off x="6812280" y="0"/>
            <a:ext cx="64008" cy="5143500"/>
          </a:xfrm>
          <a:prstGeom prst="rect">
            <a:avLst/>
          </a:prstGeom>
          <a:solidFill>
            <a:srgbClr val="00C8FF"/>
          </a:solidFill>
          <a:ln w="12700">
            <a:solidFill>
              <a:srgbClr val="00C8FF"/>
            </a:solidFill>
            <a:prstDash val="solid"/>
          </a:ln>
        </p:spPr>
      </p:sp>
      <p:sp>
        <p:nvSpPr>
          <p:cNvPr id="4" name="Shape 2"/>
          <p:cNvSpPr/>
          <p:nvPr/>
        </p:nvSpPr>
        <p:spPr>
          <a:xfrm>
            <a:off x="7772400" y="0"/>
            <a:ext cx="45720" cy="5143500"/>
          </a:xfrm>
          <a:prstGeom prst="rect">
            <a:avLst/>
          </a:prstGeom>
          <a:solidFill>
            <a:srgbClr val="7B61FF"/>
          </a:solidFill>
          <a:ln w="12700">
            <a:solidFill>
              <a:srgbClr val="7B61FF"/>
            </a:solidFill>
            <a:prstDash val="solid"/>
          </a:ln>
        </p:spPr>
      </p:sp>
      <p:sp>
        <p:nvSpPr>
          <p:cNvPr id="5" name="Shape 3"/>
          <p:cNvSpPr/>
          <p:nvPr/>
        </p:nvSpPr>
        <p:spPr>
          <a:xfrm>
            <a:off x="457200" y="384048"/>
            <a:ext cx="2103120" cy="274320"/>
          </a:xfrm>
          <a:prstGeom prst="rect">
            <a:avLst/>
          </a:prstGeom>
          <a:solidFill>
            <a:srgbClr val="00C8FF"/>
          </a:solidFill>
          <a:ln w="12700">
            <a:solidFill>
              <a:srgbClr val="00C8FF"/>
            </a:solidFill>
            <a:prstDash val="solid"/>
          </a:ln>
        </p:spPr>
      </p:sp>
      <p:sp>
        <p:nvSpPr>
          <p:cNvPr id="6" name="Text 4"/>
          <p:cNvSpPr/>
          <p:nvPr/>
        </p:nvSpPr>
        <p:spPr>
          <a:xfrm>
            <a:off x="457200" y="384048"/>
            <a:ext cx="2103120" cy="274320"/>
          </a:xfrm>
          <a:prstGeom prst="rect">
            <a:avLst/>
          </a:prstGeom>
          <a:noFill/>
          <a:ln/>
        </p:spPr>
        <p:txBody>
          <a:bodyPr wrap="square" lIns="0" tIns="0" rIns="0" bIns="0" rtlCol="0" anchor="ctr"/>
          <a:lstStyle/>
          <a:p>
            <a:pPr marL="0" indent="0" algn="ctr">
              <a:buNone/>
            </a:pPr>
            <a:r>
              <a:rPr lang="en-US" sz="800" b="1" kern="0" spc="150" dirty="0">
                <a:solidFill>
                  <a:srgbClr val="0A0E1A"/>
                </a:solidFill>
              </a:rPr>
              <a:t>MAIN PROJECT</a:t>
            </a:r>
            <a:endParaRPr lang="en-US" sz="800" dirty="0"/>
          </a:p>
        </p:txBody>
      </p:sp>
      <p:sp>
        <p:nvSpPr>
          <p:cNvPr id="7" name="Text 5"/>
          <p:cNvSpPr/>
          <p:nvPr/>
        </p:nvSpPr>
        <p:spPr>
          <a:xfrm>
            <a:off x="457200" y="804672"/>
            <a:ext cx="5669280" cy="1828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An Explainable Deep Learning Framework for Image and Video Deepfake Detection Using CNN-BiLSTM-Vision Transformers</a:t>
            </a:r>
            <a:endParaRPr lang="en-US" sz="2200" dirty="0"/>
          </a:p>
        </p:txBody>
      </p:sp>
      <p:sp>
        <p:nvSpPr>
          <p:cNvPr id="8" name="Text 6"/>
          <p:cNvSpPr/>
          <p:nvPr/>
        </p:nvSpPr>
        <p:spPr>
          <a:xfrm>
            <a:off x="457200" y="2724912"/>
            <a:ext cx="5669280" cy="384048"/>
          </a:xfrm>
          <a:prstGeom prst="rect">
            <a:avLst/>
          </a:prstGeom>
          <a:noFill/>
          <a:ln/>
        </p:spPr>
        <p:txBody>
          <a:bodyPr wrap="square" lIns="0" tIns="0" rIns="0" bIns="0" rtlCol="0" anchor="ctr"/>
          <a:lstStyle/>
          <a:p>
            <a:pPr marL="0" indent="0">
              <a:buNone/>
            </a:pPr>
            <a:r>
              <a:rPr lang="en-US" sz="1300" i="1" dirty="0">
                <a:solidFill>
                  <a:srgbClr val="00C8FF"/>
                </a:solidFill>
              </a:rPr>
              <a:t>Using CNN  ·  BiLSTM  ·  Vision Transformers</a:t>
            </a:r>
            <a:endParaRPr lang="en-US" sz="1300" dirty="0"/>
          </a:p>
        </p:txBody>
      </p:sp>
      <p:sp>
        <p:nvSpPr>
          <p:cNvPr id="9" name="Shape 7"/>
          <p:cNvSpPr/>
          <p:nvPr/>
        </p:nvSpPr>
        <p:spPr>
          <a:xfrm>
            <a:off x="457200" y="3218688"/>
            <a:ext cx="4114800" cy="45720"/>
          </a:xfrm>
          <a:prstGeom prst="rect">
            <a:avLst/>
          </a:prstGeom>
          <a:solidFill>
            <a:srgbClr val="7A96BB"/>
          </a:solidFill>
          <a:ln w="12700">
            <a:solidFill>
              <a:srgbClr val="7A96BB"/>
            </a:solidFill>
            <a:prstDash val="solid"/>
          </a:ln>
        </p:spPr>
      </p:sp>
      <p:sp>
        <p:nvSpPr>
          <p:cNvPr id="10" name="Text 8"/>
          <p:cNvSpPr/>
          <p:nvPr/>
        </p:nvSpPr>
        <p:spPr>
          <a:xfrm>
            <a:off x="457200" y="3364992"/>
            <a:ext cx="5669280" cy="292608"/>
          </a:xfrm>
          <a:prstGeom prst="rect">
            <a:avLst/>
          </a:prstGeom>
          <a:noFill/>
          <a:ln/>
        </p:spPr>
        <p:txBody>
          <a:bodyPr wrap="square" lIns="0" tIns="0" rIns="0" bIns="0" rtlCol="0" anchor="ctr"/>
          <a:lstStyle/>
          <a:p>
            <a:pPr marL="0" indent="0">
              <a:buNone/>
            </a:pPr>
            <a:r>
              <a:rPr lang="en-US" sz="1000" dirty="0">
                <a:solidFill>
                  <a:srgbClr val="7A96BB"/>
                </a:solidFill>
              </a:rPr>
              <a:t>Presented by:  </a:t>
            </a:r>
            <a:r>
              <a:rPr lang="en-US" sz="1000" b="1" dirty="0">
                <a:solidFill>
                  <a:srgbClr val="D6E4F7"/>
                </a:solidFill>
              </a:rPr>
              <a:t>CHIDADHALA VENKATESH</a:t>
            </a:r>
            <a:endParaRPr lang="en-US" sz="1000" dirty="0"/>
          </a:p>
        </p:txBody>
      </p:sp>
      <p:sp>
        <p:nvSpPr>
          <p:cNvPr id="11" name="Text 9"/>
          <p:cNvSpPr/>
          <p:nvPr/>
        </p:nvSpPr>
        <p:spPr>
          <a:xfrm>
            <a:off x="457200" y="3694176"/>
            <a:ext cx="5669280" cy="292608"/>
          </a:xfrm>
          <a:prstGeom prst="rect">
            <a:avLst/>
          </a:prstGeom>
          <a:noFill/>
          <a:ln/>
        </p:spPr>
        <p:txBody>
          <a:bodyPr wrap="square" lIns="0" tIns="0" rIns="0" bIns="0" rtlCol="0" anchor="ctr"/>
          <a:lstStyle/>
          <a:p>
            <a:pPr marL="0" indent="0">
              <a:buNone/>
            </a:pPr>
            <a:r>
              <a:rPr lang="en-US" sz="1000" dirty="0">
                <a:solidFill>
                  <a:srgbClr val="7A96BB"/>
                </a:solidFill>
              </a:rPr>
              <a:t>Roll No:  </a:t>
            </a:r>
            <a:r>
              <a:rPr lang="en-US" sz="1000" b="1" dirty="0">
                <a:solidFill>
                  <a:srgbClr val="D6E4F7"/>
                </a:solidFill>
              </a:rPr>
              <a:t>24304332</a:t>
            </a:r>
            <a:endParaRPr lang="en-US" sz="1000" dirty="0"/>
          </a:p>
        </p:txBody>
      </p:sp>
      <p:sp>
        <p:nvSpPr>
          <p:cNvPr id="12" name="Text 10"/>
          <p:cNvSpPr/>
          <p:nvPr/>
        </p:nvSpPr>
        <p:spPr>
          <a:xfrm>
            <a:off x="457200" y="4023360"/>
            <a:ext cx="5669280" cy="292608"/>
          </a:xfrm>
          <a:prstGeom prst="rect">
            <a:avLst/>
          </a:prstGeom>
          <a:noFill/>
          <a:ln/>
        </p:spPr>
        <p:txBody>
          <a:bodyPr wrap="square" lIns="0" tIns="0" rIns="0" bIns="0" rtlCol="0" anchor="ctr"/>
          <a:lstStyle/>
          <a:p>
            <a:pPr marL="0" indent="0">
              <a:buNone/>
            </a:pPr>
            <a:r>
              <a:rPr lang="en-US" sz="1000" dirty="0">
                <a:solidFill>
                  <a:srgbClr val="7A96BB"/>
                </a:solidFill>
              </a:rPr>
              <a:t>Guide:  </a:t>
            </a:r>
            <a:r>
              <a:rPr lang="en-US" sz="1000" b="1" dirty="0">
                <a:solidFill>
                  <a:srgbClr val="00C8FF"/>
                </a:solidFill>
              </a:rPr>
              <a:t>Dr. P. Kavitha</a:t>
            </a:r>
            <a:endParaRPr lang="en-US" sz="1000" dirty="0"/>
          </a:p>
        </p:txBody>
      </p:sp>
      <p:sp>
        <p:nvSpPr>
          <p:cNvPr id="13" name="Text 11"/>
          <p:cNvSpPr/>
          <p:nvPr/>
        </p:nvSpPr>
        <p:spPr>
          <a:xfrm>
            <a:off x="457200" y="4352544"/>
            <a:ext cx="5669280" cy="292608"/>
          </a:xfrm>
          <a:prstGeom prst="rect">
            <a:avLst/>
          </a:prstGeom>
          <a:noFill/>
          <a:ln/>
        </p:spPr>
        <p:txBody>
          <a:bodyPr wrap="square" lIns="0" tIns="0" rIns="0" bIns="0" rtlCol="0" anchor="ctr"/>
          <a:lstStyle/>
          <a:p>
            <a:pPr marL="0" indent="0">
              <a:buNone/>
            </a:pPr>
            <a:r>
              <a:rPr lang="en-US" sz="1000" dirty="0">
                <a:solidFill>
                  <a:srgbClr val="7A96BB"/>
                </a:solidFill>
              </a:rPr>
              <a:t>Department:  </a:t>
            </a:r>
            <a:r>
              <a:rPr lang="en-US" sz="1000" b="1" dirty="0">
                <a:solidFill>
                  <a:srgbClr val="D6E4F7"/>
                </a:solidFill>
              </a:rPr>
              <a:t>II MCA-'C'</a:t>
            </a:r>
            <a:endParaRPr lang="en-US" sz="1000" dirty="0"/>
          </a:p>
        </p:txBody>
      </p:sp>
      <p:sp>
        <p:nvSpPr>
          <p:cNvPr id="14" name="Text 12"/>
          <p:cNvSpPr/>
          <p:nvPr/>
        </p:nvSpPr>
        <p:spPr>
          <a:xfrm>
            <a:off x="457200" y="4681728"/>
            <a:ext cx="5669280" cy="292608"/>
          </a:xfrm>
          <a:prstGeom prst="rect">
            <a:avLst/>
          </a:prstGeom>
          <a:noFill/>
          <a:ln/>
        </p:spPr>
        <p:txBody>
          <a:bodyPr wrap="square" lIns="0" tIns="0" rIns="0" bIns="0" rtlCol="0" anchor="ctr"/>
          <a:lstStyle/>
          <a:p>
            <a:pPr marL="0" indent="0">
              <a:buNone/>
            </a:pPr>
            <a:r>
              <a:rPr lang="en-US" sz="1000" dirty="0">
                <a:solidFill>
                  <a:srgbClr val="7A96BB"/>
                </a:solidFill>
              </a:rPr>
              <a:t>Year:  </a:t>
            </a:r>
            <a:r>
              <a:rPr lang="en-US" sz="1000" b="1" dirty="0">
                <a:solidFill>
                  <a:srgbClr val="D6E4F7"/>
                </a:solidFill>
              </a:rPr>
              <a:t>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C8FF"/>
          </a:solidFill>
          <a:ln w="12700">
            <a:solidFill>
              <a:srgbClr val="00C8FF"/>
            </a:solidFill>
            <a:prstDash val="solid"/>
          </a:ln>
        </p:spPr>
      </p:sp>
      <p:sp>
        <p:nvSpPr>
          <p:cNvPr id="3" name="Shape 1"/>
          <p:cNvSpPr/>
          <p:nvPr/>
        </p:nvSpPr>
        <p:spPr>
          <a:xfrm>
            <a:off x="0" y="5093208"/>
            <a:ext cx="9144000" cy="50292"/>
          </a:xfrm>
          <a:prstGeom prst="rect">
            <a:avLst/>
          </a:prstGeom>
          <a:solidFill>
            <a:srgbClr val="7B61FF"/>
          </a:solidFill>
          <a:ln w="12700">
            <a:solidFill>
              <a:srgbClr val="7B61FF"/>
            </a:solidFill>
            <a:prstDash val="solid"/>
          </a:ln>
        </p:spPr>
      </p:sp>
      <p:sp>
        <p:nvSpPr>
          <p:cNvPr id="4" name="Shape 2"/>
          <p:cNvSpPr/>
          <p:nvPr/>
        </p:nvSpPr>
        <p:spPr>
          <a:xfrm>
            <a:off x="384048" y="146304"/>
            <a:ext cx="1371600" cy="246888"/>
          </a:xfrm>
          <a:prstGeom prst="rect">
            <a:avLst/>
          </a:prstGeom>
          <a:solidFill>
            <a:srgbClr val="7B61FF"/>
          </a:solidFill>
          <a:ln w="12700">
            <a:solidFill>
              <a:srgbClr val="7B61FF"/>
            </a:solidFill>
            <a:prstDash val="solid"/>
          </a:ln>
        </p:spPr>
      </p:sp>
      <p:sp>
        <p:nvSpPr>
          <p:cNvPr id="5" name="Text 3"/>
          <p:cNvSpPr/>
          <p:nvPr/>
        </p:nvSpPr>
        <p:spPr>
          <a:xfrm>
            <a:off x="384048" y="146304"/>
            <a:ext cx="1371600" cy="246888"/>
          </a:xfrm>
          <a:prstGeom prst="rect">
            <a:avLst/>
          </a:prstGeom>
          <a:noFill/>
          <a:ln/>
        </p:spPr>
        <p:txBody>
          <a:bodyPr wrap="square" lIns="0" tIns="0" rIns="0" bIns="0" rtlCol="0" anchor="ctr"/>
          <a:lstStyle/>
          <a:p>
            <a:pPr marL="0" indent="0" algn="ctr">
              <a:buNone/>
            </a:pPr>
            <a:r>
              <a:rPr lang="en-US" sz="750" b="1" kern="0" spc="150" dirty="0">
                <a:solidFill>
                  <a:srgbClr val="FFFFFF"/>
                </a:solidFill>
              </a:rPr>
              <a:t>ABSTRACT</a:t>
            </a:r>
            <a:endParaRPr lang="en-US" sz="750" dirty="0"/>
          </a:p>
        </p:txBody>
      </p:sp>
      <p:sp>
        <p:nvSpPr>
          <p:cNvPr id="6" name="Text 4"/>
          <p:cNvSpPr/>
          <p:nvPr/>
        </p:nvSpPr>
        <p:spPr>
          <a:xfrm>
            <a:off x="384048" y="475488"/>
            <a:ext cx="8412480" cy="566928"/>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Abstract</a:t>
            </a:r>
            <a:endParaRPr lang="en-US" sz="2400" dirty="0"/>
          </a:p>
        </p:txBody>
      </p:sp>
      <p:sp>
        <p:nvSpPr>
          <p:cNvPr id="7" name="Shape 5"/>
          <p:cNvSpPr/>
          <p:nvPr/>
        </p:nvSpPr>
        <p:spPr>
          <a:xfrm>
            <a:off x="384048" y="1078992"/>
            <a:ext cx="502920" cy="50292"/>
          </a:xfrm>
          <a:prstGeom prst="rect">
            <a:avLst/>
          </a:prstGeom>
          <a:solidFill>
            <a:srgbClr val="00C8FF"/>
          </a:solidFill>
          <a:ln w="12700">
            <a:solidFill>
              <a:srgbClr val="00C8FF"/>
            </a:solidFill>
            <a:prstDash val="solid"/>
          </a:ln>
        </p:spPr>
      </p:sp>
      <p:sp>
        <p:nvSpPr>
          <p:cNvPr id="8" name="Shape 6"/>
          <p:cNvSpPr/>
          <p:nvPr/>
        </p:nvSpPr>
        <p:spPr>
          <a:xfrm>
            <a:off x="932688" y="1078992"/>
            <a:ext cx="7827264" cy="50292"/>
          </a:xfrm>
          <a:prstGeom prst="rect">
            <a:avLst/>
          </a:prstGeom>
          <a:solidFill>
            <a:srgbClr val="112244"/>
          </a:solidFill>
          <a:ln w="12700">
            <a:solidFill>
              <a:srgbClr val="112244"/>
            </a:solidFill>
            <a:prstDash val="solid"/>
          </a:ln>
        </p:spPr>
      </p:sp>
      <p:sp>
        <p:nvSpPr>
          <p:cNvPr id="9" name="Text 7"/>
          <p:cNvSpPr/>
          <p:nvPr/>
        </p:nvSpPr>
        <p:spPr>
          <a:xfrm>
            <a:off x="8229600" y="4828032"/>
            <a:ext cx="731520" cy="201168"/>
          </a:xfrm>
          <a:prstGeom prst="rect">
            <a:avLst/>
          </a:prstGeom>
          <a:noFill/>
          <a:ln/>
        </p:spPr>
        <p:txBody>
          <a:bodyPr wrap="square" lIns="0" tIns="0" rIns="0" bIns="0" rtlCol="0" anchor="ctr"/>
          <a:lstStyle/>
          <a:p>
            <a:pPr marL="0" indent="0" algn="r">
              <a:buNone/>
            </a:pPr>
            <a:r>
              <a:rPr lang="en-US" sz="850" dirty="0">
                <a:solidFill>
                  <a:srgbClr val="7A96BB"/>
                </a:solidFill>
              </a:rPr>
              <a:t>2 / 11</a:t>
            </a:r>
            <a:endParaRPr lang="en-US" sz="850" dirty="0"/>
          </a:p>
        </p:txBody>
      </p:sp>
      <p:sp>
        <p:nvSpPr>
          <p:cNvPr id="10" name="Shape 8"/>
          <p:cNvSpPr/>
          <p:nvPr/>
        </p:nvSpPr>
        <p:spPr>
          <a:xfrm>
            <a:off x="384048" y="1234440"/>
            <a:ext cx="8375904" cy="3611880"/>
          </a:xfrm>
          <a:prstGeom prst="rect">
            <a:avLst/>
          </a:prstGeom>
          <a:solidFill>
            <a:srgbClr val="152B55"/>
          </a:solidFill>
          <a:ln w="8890">
            <a:solidFill>
              <a:srgbClr val="00C8FF"/>
            </a:solidFill>
            <a:prstDash val="solid"/>
          </a:ln>
          <a:effectLst>
            <a:outerShdw blurRad="101600" dist="38100" dir="8100000" algn="bl" rotWithShape="0">
              <a:srgbClr val="000000">
                <a:alpha val="28000"/>
              </a:srgbClr>
            </a:outerShdw>
          </a:effectLst>
        </p:spPr>
      </p:sp>
      <p:sp>
        <p:nvSpPr>
          <p:cNvPr id="11" name="Text 9"/>
          <p:cNvSpPr/>
          <p:nvPr/>
        </p:nvSpPr>
        <p:spPr>
          <a:xfrm>
            <a:off x="640080" y="1371600"/>
            <a:ext cx="7863840" cy="320040"/>
          </a:xfrm>
          <a:prstGeom prst="rect">
            <a:avLst/>
          </a:prstGeom>
          <a:noFill/>
          <a:ln/>
        </p:spPr>
        <p:txBody>
          <a:bodyPr wrap="square" lIns="0" tIns="0" rIns="0" bIns="0" rtlCol="0" anchor="ctr"/>
          <a:lstStyle/>
          <a:p>
            <a:pPr marL="0" indent="0">
              <a:buNone/>
            </a:pPr>
            <a:r>
              <a:rPr lang="en-US" sz="1300" b="1" dirty="0">
                <a:solidFill>
                  <a:srgbClr val="00C8FF"/>
                </a:solidFill>
              </a:rPr>
              <a:t>Overview</a:t>
            </a:r>
            <a:endParaRPr lang="en-US" sz="1300" dirty="0"/>
          </a:p>
        </p:txBody>
      </p:sp>
      <p:sp>
        <p:nvSpPr>
          <p:cNvPr id="12" name="Text 10"/>
          <p:cNvSpPr/>
          <p:nvPr/>
        </p:nvSpPr>
        <p:spPr>
          <a:xfrm>
            <a:off x="640080" y="1755648"/>
            <a:ext cx="7863840" cy="2926080"/>
          </a:xfrm>
          <a:prstGeom prst="rect">
            <a:avLst/>
          </a:prstGeom>
          <a:noFill/>
          <a:ln/>
        </p:spPr>
        <p:txBody>
          <a:bodyPr wrap="square" lIns="0" tIns="0" rIns="0" bIns="0" rtlCol="0" anchor="ctr"/>
          <a:lstStyle/>
          <a:p>
            <a:pPr marL="0" indent="0">
              <a:buNone/>
            </a:pPr>
            <a:r>
              <a:rPr lang="en-US" sz="1100" dirty="0">
                <a:solidFill>
                  <a:srgbClr val="D6E4F7"/>
                </a:solidFill>
              </a:rPr>
              <a:t>Deepfake technology poses a serious threat to digital media integrity by enabling the creation of hyper-realistic yet fabricated images and videos. This project proposes an Explainable Deep Learning Framework that combines Convolutional Neural Networks (CNN), Bidirectional Long Short-Term Memory (BiLSTM), and Vision Transformers (ViT) for robust detection of both image and video deepfakes.</a:t>
            </a:r>
            <a:endParaRPr lang="en-US" sz="1100" dirty="0"/>
          </a:p>
          <a:p>
            <a:pPr marL="0" indent="0">
              <a:buNone/>
            </a:pPr>
            <a:endParaRPr lang="en-US" sz="1100" dirty="0"/>
          </a:p>
          <a:p>
            <a:pPr marL="0" indent="0">
              <a:buNone/>
            </a:pPr>
            <a:r>
              <a:rPr lang="en-US" sz="1100" dirty="0">
                <a:solidFill>
                  <a:srgbClr val="D6E4F7"/>
                </a:solidFill>
              </a:rPr>
              <a:t>The CNN module extracts spatial features from individual frames, the BiLSTM captures temporal inconsistencies across frame sequences, and the Vision Transformer models global attention patterns. An integrated Explainable AI (XAI) module using Grad-CAM generates visual saliency maps, enabling transparent and interpretable predictions.</a:t>
            </a:r>
            <a:endParaRPr lang="en-US" sz="1100" dirty="0"/>
          </a:p>
          <a:p>
            <a:pPr marL="0" indent="0">
              <a:buNone/>
            </a:pPr>
            <a:endParaRPr lang="en-US" sz="1100" dirty="0"/>
          </a:p>
          <a:p>
            <a:pPr marL="0" indent="0">
              <a:buNone/>
            </a:pPr>
            <a:r>
              <a:rPr lang="en-US" sz="1100" dirty="0">
                <a:solidFill>
                  <a:srgbClr val="D6E4F7"/>
                </a:solidFill>
              </a:rPr>
              <a:t>The proposed framework achieves state-of-the-art accuracy on benchmark datasets including FaceForensics++, Celeb-DF v2, and DFDC, demonstrating strong generalization and real-time inference capability.</a:t>
            </a:r>
            <a:endParaRPr lang="en-US" sz="1100" dirty="0"/>
          </a:p>
        </p:txBody>
      </p:sp>
      <p:sp>
        <p:nvSpPr>
          <p:cNvPr id="13" name="Text 11"/>
          <p:cNvSpPr/>
          <p:nvPr/>
        </p:nvSpPr>
        <p:spPr>
          <a:xfrm>
            <a:off x="640080" y="4553712"/>
            <a:ext cx="914400" cy="228600"/>
          </a:xfrm>
          <a:prstGeom prst="rect">
            <a:avLst/>
          </a:prstGeom>
          <a:noFill/>
          <a:ln/>
        </p:spPr>
        <p:txBody>
          <a:bodyPr wrap="square" lIns="0" tIns="0" rIns="0" bIns="0" rtlCol="0" anchor="ctr"/>
          <a:lstStyle/>
          <a:p>
            <a:pPr marL="0" indent="0">
              <a:buNone/>
            </a:pPr>
            <a:r>
              <a:rPr lang="en-US" sz="950" b="1" dirty="0">
                <a:solidFill>
                  <a:srgbClr val="FFD166"/>
                </a:solidFill>
              </a:rPr>
              <a:t>Keywords: </a:t>
            </a:r>
            <a:endParaRPr lang="en-US" sz="950" dirty="0"/>
          </a:p>
        </p:txBody>
      </p:sp>
      <p:sp>
        <p:nvSpPr>
          <p:cNvPr id="14" name="Text 12"/>
          <p:cNvSpPr/>
          <p:nvPr/>
        </p:nvSpPr>
        <p:spPr>
          <a:xfrm>
            <a:off x="1554480" y="4553712"/>
            <a:ext cx="1188720" cy="228600"/>
          </a:xfrm>
          <a:prstGeom prst="rect">
            <a:avLst/>
          </a:prstGeom>
          <a:noFill/>
          <a:ln/>
        </p:spPr>
        <p:txBody>
          <a:bodyPr wrap="square" lIns="0" tIns="0" rIns="0" bIns="0" rtlCol="0" anchor="ctr"/>
          <a:lstStyle/>
          <a:p>
            <a:pPr marL="0" indent="0">
              <a:buNone/>
            </a:pPr>
            <a:r>
              <a:rPr lang="en-US" sz="900" dirty="0">
                <a:solidFill>
                  <a:srgbClr val="7A96BB"/>
                </a:solidFill>
              </a:rPr>
              <a:t>Deepfake Detection • </a:t>
            </a:r>
            <a:endParaRPr lang="en-US" sz="900" dirty="0"/>
          </a:p>
        </p:txBody>
      </p:sp>
      <p:sp>
        <p:nvSpPr>
          <p:cNvPr id="15" name="Text 13"/>
          <p:cNvSpPr/>
          <p:nvPr/>
        </p:nvSpPr>
        <p:spPr>
          <a:xfrm>
            <a:off x="2670048" y="4553712"/>
            <a:ext cx="1188720" cy="228600"/>
          </a:xfrm>
          <a:prstGeom prst="rect">
            <a:avLst/>
          </a:prstGeom>
          <a:noFill/>
          <a:ln/>
        </p:spPr>
        <p:txBody>
          <a:bodyPr wrap="square" lIns="0" tIns="0" rIns="0" bIns="0" rtlCol="0" anchor="ctr"/>
          <a:lstStyle/>
          <a:p>
            <a:pPr marL="0" indent="0">
              <a:buNone/>
            </a:pPr>
            <a:r>
              <a:rPr lang="en-US" sz="900" dirty="0">
                <a:solidFill>
                  <a:srgbClr val="7A96BB"/>
                </a:solidFill>
              </a:rPr>
              <a:t>CNN • </a:t>
            </a:r>
            <a:endParaRPr lang="en-US" sz="900" dirty="0"/>
          </a:p>
        </p:txBody>
      </p:sp>
      <p:sp>
        <p:nvSpPr>
          <p:cNvPr id="16" name="Text 14"/>
          <p:cNvSpPr/>
          <p:nvPr/>
        </p:nvSpPr>
        <p:spPr>
          <a:xfrm>
            <a:off x="3785616" y="4553712"/>
            <a:ext cx="1188720" cy="228600"/>
          </a:xfrm>
          <a:prstGeom prst="rect">
            <a:avLst/>
          </a:prstGeom>
          <a:noFill/>
          <a:ln/>
        </p:spPr>
        <p:txBody>
          <a:bodyPr wrap="square" lIns="0" tIns="0" rIns="0" bIns="0" rtlCol="0" anchor="ctr"/>
          <a:lstStyle/>
          <a:p>
            <a:pPr marL="0" indent="0">
              <a:buNone/>
            </a:pPr>
            <a:r>
              <a:rPr lang="en-US" sz="900" dirty="0">
                <a:solidFill>
                  <a:srgbClr val="7A96BB"/>
                </a:solidFill>
              </a:rPr>
              <a:t>BiLSTM • </a:t>
            </a:r>
            <a:endParaRPr lang="en-US" sz="900" dirty="0"/>
          </a:p>
        </p:txBody>
      </p:sp>
      <p:sp>
        <p:nvSpPr>
          <p:cNvPr id="17" name="Text 15"/>
          <p:cNvSpPr/>
          <p:nvPr/>
        </p:nvSpPr>
        <p:spPr>
          <a:xfrm>
            <a:off x="4901184" y="4553712"/>
            <a:ext cx="1188720" cy="228600"/>
          </a:xfrm>
          <a:prstGeom prst="rect">
            <a:avLst/>
          </a:prstGeom>
          <a:noFill/>
          <a:ln/>
        </p:spPr>
        <p:txBody>
          <a:bodyPr wrap="square" lIns="0" tIns="0" rIns="0" bIns="0" rtlCol="0" anchor="ctr"/>
          <a:lstStyle/>
          <a:p>
            <a:pPr marL="0" indent="0">
              <a:buNone/>
            </a:pPr>
            <a:r>
              <a:rPr lang="en-US" sz="900" dirty="0">
                <a:solidFill>
                  <a:srgbClr val="7A96BB"/>
                </a:solidFill>
              </a:rPr>
              <a:t>Vision Transformer • </a:t>
            </a:r>
            <a:endParaRPr lang="en-US" sz="900" dirty="0"/>
          </a:p>
        </p:txBody>
      </p:sp>
      <p:sp>
        <p:nvSpPr>
          <p:cNvPr id="18" name="Text 16"/>
          <p:cNvSpPr/>
          <p:nvPr/>
        </p:nvSpPr>
        <p:spPr>
          <a:xfrm>
            <a:off x="6016752" y="4553712"/>
            <a:ext cx="1188720" cy="228600"/>
          </a:xfrm>
          <a:prstGeom prst="rect">
            <a:avLst/>
          </a:prstGeom>
          <a:noFill/>
          <a:ln/>
        </p:spPr>
        <p:txBody>
          <a:bodyPr wrap="square" lIns="0" tIns="0" rIns="0" bIns="0" rtlCol="0" anchor="ctr"/>
          <a:lstStyle/>
          <a:p>
            <a:pPr marL="0" indent="0">
              <a:buNone/>
            </a:pPr>
            <a:r>
              <a:rPr lang="en-US" sz="900" dirty="0">
                <a:solidFill>
                  <a:srgbClr val="7A96BB"/>
                </a:solidFill>
              </a:rPr>
              <a:t>Explainable AI • </a:t>
            </a:r>
            <a:endParaRPr lang="en-US" sz="900" dirty="0"/>
          </a:p>
        </p:txBody>
      </p:sp>
      <p:sp>
        <p:nvSpPr>
          <p:cNvPr id="19" name="Text 17"/>
          <p:cNvSpPr/>
          <p:nvPr/>
        </p:nvSpPr>
        <p:spPr>
          <a:xfrm>
            <a:off x="7132320" y="4553712"/>
            <a:ext cx="1188720" cy="228600"/>
          </a:xfrm>
          <a:prstGeom prst="rect">
            <a:avLst/>
          </a:prstGeom>
          <a:noFill/>
          <a:ln/>
        </p:spPr>
        <p:txBody>
          <a:bodyPr wrap="square" lIns="0" tIns="0" rIns="0" bIns="0" rtlCol="0" anchor="ctr"/>
          <a:lstStyle/>
          <a:p>
            <a:pPr marL="0" indent="0">
              <a:buNone/>
            </a:pPr>
            <a:r>
              <a:rPr lang="en-US" sz="900" dirty="0">
                <a:solidFill>
                  <a:srgbClr val="7A96BB"/>
                </a:solidFill>
              </a:rPr>
              <a:t>Grad-CAM • </a:t>
            </a:r>
            <a:endParaRPr lang="en-US" sz="900" dirty="0"/>
          </a:p>
        </p:txBody>
      </p:sp>
      <p:sp>
        <p:nvSpPr>
          <p:cNvPr id="20" name="Text 18"/>
          <p:cNvSpPr/>
          <p:nvPr/>
        </p:nvSpPr>
        <p:spPr>
          <a:xfrm>
            <a:off x="8247888" y="4553712"/>
            <a:ext cx="1188720" cy="228600"/>
          </a:xfrm>
          <a:prstGeom prst="rect">
            <a:avLst/>
          </a:prstGeom>
          <a:noFill/>
          <a:ln/>
        </p:spPr>
        <p:txBody>
          <a:bodyPr wrap="square" lIns="0" tIns="0" rIns="0" bIns="0" rtlCol="0" anchor="ctr"/>
          <a:lstStyle/>
          <a:p>
            <a:pPr marL="0" indent="0">
              <a:buNone/>
            </a:pPr>
            <a:r>
              <a:rPr lang="en-US" sz="900" dirty="0">
                <a:solidFill>
                  <a:srgbClr val="7A96BB"/>
                </a:solidFill>
              </a:rPr>
              <a:t>FaceForensics++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C8FF"/>
          </a:solidFill>
          <a:ln w="12700">
            <a:solidFill>
              <a:srgbClr val="00C8FF"/>
            </a:solidFill>
            <a:prstDash val="solid"/>
          </a:ln>
        </p:spPr>
      </p:sp>
      <p:sp>
        <p:nvSpPr>
          <p:cNvPr id="3" name="Shape 1"/>
          <p:cNvSpPr/>
          <p:nvPr/>
        </p:nvSpPr>
        <p:spPr>
          <a:xfrm>
            <a:off x="0" y="5093208"/>
            <a:ext cx="9144000" cy="50292"/>
          </a:xfrm>
          <a:prstGeom prst="rect">
            <a:avLst/>
          </a:prstGeom>
          <a:solidFill>
            <a:srgbClr val="7B61FF"/>
          </a:solidFill>
          <a:ln w="12700">
            <a:solidFill>
              <a:srgbClr val="7B61FF"/>
            </a:solidFill>
            <a:prstDash val="solid"/>
          </a:ln>
        </p:spPr>
      </p:sp>
      <p:sp>
        <p:nvSpPr>
          <p:cNvPr id="4" name="Shape 2"/>
          <p:cNvSpPr/>
          <p:nvPr/>
        </p:nvSpPr>
        <p:spPr>
          <a:xfrm>
            <a:off x="384048" y="146304"/>
            <a:ext cx="1371600" cy="246888"/>
          </a:xfrm>
          <a:prstGeom prst="rect">
            <a:avLst/>
          </a:prstGeom>
          <a:solidFill>
            <a:srgbClr val="7B61FF"/>
          </a:solidFill>
          <a:ln w="12700">
            <a:solidFill>
              <a:srgbClr val="7B61FF"/>
            </a:solidFill>
            <a:prstDash val="solid"/>
          </a:ln>
        </p:spPr>
      </p:sp>
      <p:sp>
        <p:nvSpPr>
          <p:cNvPr id="5" name="Text 3"/>
          <p:cNvSpPr/>
          <p:nvPr/>
        </p:nvSpPr>
        <p:spPr>
          <a:xfrm>
            <a:off x="384048" y="146304"/>
            <a:ext cx="1371600" cy="246888"/>
          </a:xfrm>
          <a:prstGeom prst="rect">
            <a:avLst/>
          </a:prstGeom>
          <a:noFill/>
          <a:ln/>
        </p:spPr>
        <p:txBody>
          <a:bodyPr wrap="square" lIns="0" tIns="0" rIns="0" bIns="0" rtlCol="0" anchor="ctr"/>
          <a:lstStyle/>
          <a:p>
            <a:pPr marL="0" indent="0" algn="ctr">
              <a:buNone/>
            </a:pPr>
            <a:r>
              <a:rPr lang="en-US" sz="750" b="1" kern="0" spc="150" dirty="0">
                <a:solidFill>
                  <a:srgbClr val="FFFFFF"/>
                </a:solidFill>
              </a:rPr>
              <a:t>INTRODUCTION</a:t>
            </a:r>
            <a:endParaRPr lang="en-US" sz="750" dirty="0"/>
          </a:p>
        </p:txBody>
      </p:sp>
      <p:sp>
        <p:nvSpPr>
          <p:cNvPr id="6" name="Text 4"/>
          <p:cNvSpPr/>
          <p:nvPr/>
        </p:nvSpPr>
        <p:spPr>
          <a:xfrm>
            <a:off x="384048" y="475488"/>
            <a:ext cx="8412480" cy="566928"/>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Introduction</a:t>
            </a:r>
            <a:endParaRPr lang="en-US" sz="2400" dirty="0"/>
          </a:p>
        </p:txBody>
      </p:sp>
      <p:sp>
        <p:nvSpPr>
          <p:cNvPr id="7" name="Shape 5"/>
          <p:cNvSpPr/>
          <p:nvPr/>
        </p:nvSpPr>
        <p:spPr>
          <a:xfrm>
            <a:off x="384048" y="1078992"/>
            <a:ext cx="502920" cy="50292"/>
          </a:xfrm>
          <a:prstGeom prst="rect">
            <a:avLst/>
          </a:prstGeom>
          <a:solidFill>
            <a:srgbClr val="00C8FF"/>
          </a:solidFill>
          <a:ln w="12700">
            <a:solidFill>
              <a:srgbClr val="00C8FF"/>
            </a:solidFill>
            <a:prstDash val="solid"/>
          </a:ln>
        </p:spPr>
      </p:sp>
      <p:sp>
        <p:nvSpPr>
          <p:cNvPr id="8" name="Shape 6"/>
          <p:cNvSpPr/>
          <p:nvPr/>
        </p:nvSpPr>
        <p:spPr>
          <a:xfrm>
            <a:off x="932688" y="1078992"/>
            <a:ext cx="7827264" cy="50292"/>
          </a:xfrm>
          <a:prstGeom prst="rect">
            <a:avLst/>
          </a:prstGeom>
          <a:solidFill>
            <a:srgbClr val="112244"/>
          </a:solidFill>
          <a:ln w="12700">
            <a:solidFill>
              <a:srgbClr val="112244"/>
            </a:solidFill>
            <a:prstDash val="solid"/>
          </a:ln>
        </p:spPr>
      </p:sp>
      <p:sp>
        <p:nvSpPr>
          <p:cNvPr id="9" name="Text 7"/>
          <p:cNvSpPr/>
          <p:nvPr/>
        </p:nvSpPr>
        <p:spPr>
          <a:xfrm>
            <a:off x="8229600" y="4828032"/>
            <a:ext cx="731520" cy="201168"/>
          </a:xfrm>
          <a:prstGeom prst="rect">
            <a:avLst/>
          </a:prstGeom>
          <a:noFill/>
          <a:ln/>
        </p:spPr>
        <p:txBody>
          <a:bodyPr wrap="square" lIns="0" tIns="0" rIns="0" bIns="0" rtlCol="0" anchor="ctr"/>
          <a:lstStyle/>
          <a:p>
            <a:pPr marL="0" indent="0" algn="r">
              <a:buNone/>
            </a:pPr>
            <a:r>
              <a:rPr lang="en-US" sz="850" dirty="0">
                <a:solidFill>
                  <a:srgbClr val="7A96BB"/>
                </a:solidFill>
              </a:rPr>
              <a:t>3 / 11</a:t>
            </a:r>
            <a:endParaRPr lang="en-US" sz="850" dirty="0"/>
          </a:p>
        </p:txBody>
      </p:sp>
      <p:sp>
        <p:nvSpPr>
          <p:cNvPr id="10" name="Shape 8"/>
          <p:cNvSpPr/>
          <p:nvPr/>
        </p:nvSpPr>
        <p:spPr>
          <a:xfrm>
            <a:off x="384048" y="1234440"/>
            <a:ext cx="4160520" cy="3611880"/>
          </a:xfrm>
          <a:prstGeom prst="rect">
            <a:avLst/>
          </a:prstGeom>
          <a:solidFill>
            <a:srgbClr val="152B55"/>
          </a:solidFill>
          <a:ln w="8890">
            <a:solidFill>
              <a:srgbClr val="00C8FF"/>
            </a:solidFill>
            <a:prstDash val="solid"/>
          </a:ln>
          <a:effectLst>
            <a:outerShdw blurRad="101600" dist="38100" dir="8100000" algn="bl" rotWithShape="0">
              <a:srgbClr val="000000">
                <a:alpha val="28000"/>
              </a:srgbClr>
            </a:outerShdw>
          </a:effectLst>
        </p:spPr>
      </p:sp>
      <p:sp>
        <p:nvSpPr>
          <p:cNvPr id="11" name="Text 9"/>
          <p:cNvSpPr/>
          <p:nvPr/>
        </p:nvSpPr>
        <p:spPr>
          <a:xfrm>
            <a:off x="566928" y="1371600"/>
            <a:ext cx="3794760" cy="320040"/>
          </a:xfrm>
          <a:prstGeom prst="rect">
            <a:avLst/>
          </a:prstGeom>
          <a:noFill/>
          <a:ln/>
        </p:spPr>
        <p:txBody>
          <a:bodyPr wrap="square" lIns="0" tIns="0" rIns="0" bIns="0" rtlCol="0" anchor="ctr"/>
          <a:lstStyle/>
          <a:p>
            <a:pPr marL="0" indent="0">
              <a:buNone/>
            </a:pPr>
            <a:r>
              <a:rPr lang="en-US" sz="1200" b="1" dirty="0">
                <a:solidFill>
                  <a:srgbClr val="00C8FF"/>
                </a:solidFill>
              </a:rPr>
              <a:t>Problem Statement</a:t>
            </a:r>
            <a:endParaRPr lang="en-US" sz="1200" dirty="0"/>
          </a:p>
        </p:txBody>
      </p:sp>
      <p:sp>
        <p:nvSpPr>
          <p:cNvPr id="12" name="Text 10"/>
          <p:cNvSpPr/>
          <p:nvPr/>
        </p:nvSpPr>
        <p:spPr>
          <a:xfrm>
            <a:off x="566928" y="1755648"/>
            <a:ext cx="3794760" cy="2971800"/>
          </a:xfrm>
          <a:prstGeom prst="rect">
            <a:avLst/>
          </a:prstGeom>
          <a:noFill/>
          <a:ln/>
        </p:spPr>
        <p:txBody>
          <a:bodyPr wrap="square" lIns="0" tIns="0" rIns="0" bIns="0" rtlCol="0" anchor="ctr"/>
          <a:lstStyle/>
          <a:p>
            <a:pPr marL="0" indent="0">
              <a:buNone/>
            </a:pPr>
            <a:r>
              <a:rPr lang="en-US" sz="1050" dirty="0">
                <a:solidFill>
                  <a:srgbClr val="D6E4F7"/>
                </a:solidFill>
              </a:rPr>
              <a:t>The rapid advancement of AI-generated synthetic media (deepfakes) has created significant challenges for:</a:t>
            </a:r>
            <a:endParaRPr lang="en-US" sz="1050" dirty="0"/>
          </a:p>
          <a:p>
            <a:pPr marL="0" indent="0">
              <a:buNone/>
            </a:pPr>
            <a:endParaRPr lang="en-US" sz="1050" dirty="0"/>
          </a:p>
          <a:p>
            <a:pPr marL="0" indent="0">
              <a:buNone/>
            </a:pPr>
            <a:r>
              <a:rPr lang="en-US" sz="1050" dirty="0">
                <a:solidFill>
                  <a:srgbClr val="D6E4F7"/>
                </a:solidFill>
              </a:rPr>
              <a:t>• Digital content authenticity</a:t>
            </a:r>
            <a:endParaRPr lang="en-US" sz="1050" dirty="0"/>
          </a:p>
          <a:p>
            <a:pPr marL="0" indent="0">
              <a:buNone/>
            </a:pPr>
            <a:r>
              <a:rPr lang="en-US" sz="1050" dirty="0">
                <a:solidFill>
                  <a:srgbClr val="D6E4F7"/>
                </a:solidFill>
              </a:rPr>
              <a:t>• Political misinformation &amp; propaganda</a:t>
            </a:r>
            <a:endParaRPr lang="en-US" sz="1050" dirty="0"/>
          </a:p>
          <a:p>
            <a:pPr marL="0" indent="0">
              <a:buNone/>
            </a:pPr>
            <a:r>
              <a:rPr lang="en-US" sz="1050" dirty="0">
                <a:solidFill>
                  <a:srgbClr val="D6E4F7"/>
                </a:solidFill>
              </a:rPr>
              <a:t>• Identity theft and fraud</a:t>
            </a:r>
            <a:endParaRPr lang="en-US" sz="1050" dirty="0"/>
          </a:p>
          <a:p>
            <a:pPr marL="0" indent="0">
              <a:buNone/>
            </a:pPr>
            <a:r>
              <a:rPr lang="en-US" sz="1050" dirty="0">
                <a:solidFill>
                  <a:srgbClr val="D6E4F7"/>
                </a:solidFill>
              </a:rPr>
              <a:t>• Non-consensual media manipulation</a:t>
            </a:r>
            <a:endParaRPr lang="en-US" sz="1050" dirty="0"/>
          </a:p>
          <a:p>
            <a:pPr marL="0" indent="0">
              <a:buNone/>
            </a:pPr>
            <a:r>
              <a:rPr lang="en-US" sz="1050" dirty="0">
                <a:solidFill>
                  <a:srgbClr val="D6E4F7"/>
                </a:solidFill>
              </a:rPr>
              <a:t>• Erosion of public trust in visual media</a:t>
            </a:r>
            <a:endParaRPr lang="en-US" sz="1050" dirty="0"/>
          </a:p>
          <a:p>
            <a:pPr marL="0" indent="0">
              <a:buNone/>
            </a:pPr>
            <a:endParaRPr lang="en-US" sz="1050" dirty="0"/>
          </a:p>
          <a:p>
            <a:pPr marL="0" indent="0">
              <a:buNone/>
            </a:pPr>
            <a:r>
              <a:rPr lang="en-US" sz="1050" dirty="0">
                <a:solidFill>
                  <a:srgbClr val="D6E4F7"/>
                </a:solidFill>
              </a:rPr>
              <a:t>Existing detection systems suffer from poor interpretability and limited generalization across different forgery types.</a:t>
            </a:r>
            <a:endParaRPr lang="en-US" sz="1050" dirty="0"/>
          </a:p>
        </p:txBody>
      </p:sp>
      <p:sp>
        <p:nvSpPr>
          <p:cNvPr id="13" name="Shape 11"/>
          <p:cNvSpPr/>
          <p:nvPr/>
        </p:nvSpPr>
        <p:spPr>
          <a:xfrm>
            <a:off x="4754880" y="1234440"/>
            <a:ext cx="4005072" cy="1691640"/>
          </a:xfrm>
          <a:prstGeom prst="rect">
            <a:avLst/>
          </a:prstGeom>
          <a:solidFill>
            <a:srgbClr val="152B55"/>
          </a:solidFill>
          <a:ln w="8890">
            <a:solidFill>
              <a:srgbClr val="00E5A0"/>
            </a:solidFill>
            <a:prstDash val="solid"/>
          </a:ln>
          <a:effectLst>
            <a:outerShdw blurRad="101600" dist="38100" dir="8100000" algn="bl" rotWithShape="0">
              <a:srgbClr val="000000">
                <a:alpha val="28000"/>
              </a:srgbClr>
            </a:outerShdw>
          </a:effectLst>
        </p:spPr>
      </p:sp>
      <p:sp>
        <p:nvSpPr>
          <p:cNvPr id="14" name="Text 12"/>
          <p:cNvSpPr/>
          <p:nvPr/>
        </p:nvSpPr>
        <p:spPr>
          <a:xfrm>
            <a:off x="4937760" y="1371600"/>
            <a:ext cx="3657600" cy="320040"/>
          </a:xfrm>
          <a:prstGeom prst="rect">
            <a:avLst/>
          </a:prstGeom>
          <a:noFill/>
          <a:ln/>
        </p:spPr>
        <p:txBody>
          <a:bodyPr wrap="square" lIns="0" tIns="0" rIns="0" bIns="0" rtlCol="0" anchor="ctr"/>
          <a:lstStyle/>
          <a:p>
            <a:pPr marL="0" indent="0">
              <a:buNone/>
            </a:pPr>
            <a:r>
              <a:rPr lang="en-US" sz="1200" b="1" dirty="0">
                <a:solidFill>
                  <a:srgbClr val="00E5A0"/>
                </a:solidFill>
              </a:rPr>
              <a:t>Objectives</a:t>
            </a:r>
            <a:endParaRPr lang="en-US" sz="1200" dirty="0"/>
          </a:p>
        </p:txBody>
      </p:sp>
      <p:sp>
        <p:nvSpPr>
          <p:cNvPr id="15" name="Text 13"/>
          <p:cNvSpPr/>
          <p:nvPr/>
        </p:nvSpPr>
        <p:spPr>
          <a:xfrm>
            <a:off x="4937760" y="1755648"/>
            <a:ext cx="3657600" cy="109728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D6E4F7"/>
                </a:solidFill>
              </a:rPr>
              <a:t>Detect both image and video deepfakes in a unified framework</a:t>
            </a:r>
            <a:endParaRPr lang="en-US" sz="1050" dirty="0"/>
          </a:p>
          <a:p>
            <a:pPr marL="342900" indent="-342900">
              <a:spcAft>
                <a:spcPts val="400"/>
              </a:spcAft>
              <a:buSzPct val="100000"/>
              <a:buChar char="•"/>
            </a:pPr>
            <a:r>
              <a:rPr lang="en-US" sz="1050" dirty="0">
                <a:solidFill>
                  <a:srgbClr val="D6E4F7"/>
                </a:solidFill>
              </a:rPr>
              <a:t>Integrate CNN + BiLSTM + ViT for multi-level feature extraction</a:t>
            </a:r>
            <a:endParaRPr lang="en-US" sz="1050" dirty="0"/>
          </a:p>
          <a:p>
            <a:pPr marL="342900" indent="-342900">
              <a:spcAft>
                <a:spcPts val="400"/>
              </a:spcAft>
              <a:buSzPct val="100000"/>
              <a:buChar char="•"/>
            </a:pPr>
            <a:r>
              <a:rPr lang="en-US" sz="1050" dirty="0">
                <a:solidFill>
                  <a:srgbClr val="D6E4F7"/>
                </a:solidFill>
              </a:rPr>
              <a:t>Provide explainability via Grad-CAM saliency maps</a:t>
            </a:r>
            <a:endParaRPr lang="en-US" sz="1050" dirty="0"/>
          </a:p>
        </p:txBody>
      </p:sp>
      <p:sp>
        <p:nvSpPr>
          <p:cNvPr id="16" name="Shape 14"/>
          <p:cNvSpPr/>
          <p:nvPr/>
        </p:nvSpPr>
        <p:spPr>
          <a:xfrm>
            <a:off x="4754880" y="3090672"/>
            <a:ext cx="4005072" cy="1755648"/>
          </a:xfrm>
          <a:prstGeom prst="rect">
            <a:avLst/>
          </a:prstGeom>
          <a:solidFill>
            <a:srgbClr val="152B55"/>
          </a:solidFill>
          <a:ln w="8890">
            <a:solidFill>
              <a:srgbClr val="7B61FF"/>
            </a:solidFill>
            <a:prstDash val="solid"/>
          </a:ln>
          <a:effectLst>
            <a:outerShdw blurRad="101600" dist="38100" dir="8100000" algn="bl" rotWithShape="0">
              <a:srgbClr val="000000">
                <a:alpha val="28000"/>
              </a:srgbClr>
            </a:outerShdw>
          </a:effectLst>
        </p:spPr>
      </p:sp>
      <p:sp>
        <p:nvSpPr>
          <p:cNvPr id="17" name="Text 15"/>
          <p:cNvSpPr/>
          <p:nvPr/>
        </p:nvSpPr>
        <p:spPr>
          <a:xfrm>
            <a:off x="4937760" y="3218688"/>
            <a:ext cx="3657600" cy="320040"/>
          </a:xfrm>
          <a:prstGeom prst="rect">
            <a:avLst/>
          </a:prstGeom>
          <a:noFill/>
          <a:ln/>
        </p:spPr>
        <p:txBody>
          <a:bodyPr wrap="square" lIns="0" tIns="0" rIns="0" bIns="0" rtlCol="0" anchor="ctr"/>
          <a:lstStyle/>
          <a:p>
            <a:pPr marL="0" indent="0">
              <a:buNone/>
            </a:pPr>
            <a:r>
              <a:rPr lang="en-US" sz="1200" b="1" dirty="0">
                <a:solidFill>
                  <a:srgbClr val="7B61FF"/>
                </a:solidFill>
              </a:rPr>
              <a:t>Scope of the Project</a:t>
            </a:r>
            <a:endParaRPr lang="en-US" sz="1200" dirty="0"/>
          </a:p>
        </p:txBody>
      </p:sp>
      <p:sp>
        <p:nvSpPr>
          <p:cNvPr id="18" name="Text 16"/>
          <p:cNvSpPr/>
          <p:nvPr/>
        </p:nvSpPr>
        <p:spPr>
          <a:xfrm>
            <a:off x="4937760" y="3611880"/>
            <a:ext cx="3657600" cy="1170432"/>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D6E4F7"/>
                </a:solidFill>
              </a:rPr>
              <a:t>Face-swap &amp; expression manipulation detection</a:t>
            </a:r>
            <a:endParaRPr lang="en-US" sz="1050" dirty="0"/>
          </a:p>
          <a:p>
            <a:pPr marL="342900" indent="-342900">
              <a:spcAft>
                <a:spcPts val="300"/>
              </a:spcAft>
              <a:buSzPct val="100000"/>
              <a:buChar char="•"/>
            </a:pPr>
            <a:r>
              <a:rPr lang="en-US" sz="1050" dirty="0">
                <a:solidFill>
                  <a:srgbClr val="D6E4F7"/>
                </a:solidFill>
              </a:rPr>
              <a:t>Frame-level &amp; video-level classification</a:t>
            </a:r>
            <a:endParaRPr lang="en-US" sz="1050" dirty="0"/>
          </a:p>
          <a:p>
            <a:pPr marL="342900" indent="-342900">
              <a:spcAft>
                <a:spcPts val="300"/>
              </a:spcAft>
              <a:buSzPct val="100000"/>
              <a:buChar char="•"/>
            </a:pPr>
            <a:r>
              <a:rPr lang="en-US" sz="1050" dirty="0">
                <a:solidFill>
                  <a:srgbClr val="D6E4F7"/>
                </a:solidFill>
              </a:rPr>
              <a:t>Cross-dataset generalization evaluation</a:t>
            </a:r>
            <a:endParaRPr lang="en-US" sz="1050" dirty="0"/>
          </a:p>
          <a:p>
            <a:pPr marL="342900" indent="-342900">
              <a:spcAft>
                <a:spcPts val="300"/>
              </a:spcAft>
              <a:buSzPct val="100000"/>
              <a:buChar char="•"/>
            </a:pPr>
            <a:r>
              <a:rPr lang="en-US" sz="1050" dirty="0">
                <a:solidFill>
                  <a:srgbClr val="D6E4F7"/>
                </a:solidFill>
              </a:rPr>
              <a:t>Real-time capable inference pipeline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C8FF"/>
          </a:solidFill>
          <a:ln w="12700">
            <a:solidFill>
              <a:srgbClr val="00C8FF"/>
            </a:solidFill>
            <a:prstDash val="solid"/>
          </a:ln>
        </p:spPr>
      </p:sp>
      <p:sp>
        <p:nvSpPr>
          <p:cNvPr id="3" name="Shape 1"/>
          <p:cNvSpPr/>
          <p:nvPr/>
        </p:nvSpPr>
        <p:spPr>
          <a:xfrm>
            <a:off x="0" y="5093208"/>
            <a:ext cx="9144000" cy="50292"/>
          </a:xfrm>
          <a:prstGeom prst="rect">
            <a:avLst/>
          </a:prstGeom>
          <a:solidFill>
            <a:srgbClr val="7B61FF"/>
          </a:solidFill>
          <a:ln w="12700">
            <a:solidFill>
              <a:srgbClr val="7B61FF"/>
            </a:solidFill>
            <a:prstDash val="solid"/>
          </a:ln>
        </p:spPr>
      </p:sp>
      <p:sp>
        <p:nvSpPr>
          <p:cNvPr id="4" name="Shape 2"/>
          <p:cNvSpPr/>
          <p:nvPr/>
        </p:nvSpPr>
        <p:spPr>
          <a:xfrm>
            <a:off x="384048" y="146304"/>
            <a:ext cx="1371600" cy="246888"/>
          </a:xfrm>
          <a:prstGeom prst="rect">
            <a:avLst/>
          </a:prstGeom>
          <a:solidFill>
            <a:srgbClr val="7B61FF"/>
          </a:solidFill>
          <a:ln w="12700">
            <a:solidFill>
              <a:srgbClr val="7B61FF"/>
            </a:solidFill>
            <a:prstDash val="solid"/>
          </a:ln>
        </p:spPr>
      </p:sp>
      <p:sp>
        <p:nvSpPr>
          <p:cNvPr id="5" name="Text 3"/>
          <p:cNvSpPr/>
          <p:nvPr/>
        </p:nvSpPr>
        <p:spPr>
          <a:xfrm>
            <a:off x="384048" y="146304"/>
            <a:ext cx="1371600" cy="246888"/>
          </a:xfrm>
          <a:prstGeom prst="rect">
            <a:avLst/>
          </a:prstGeom>
          <a:noFill/>
          <a:ln/>
        </p:spPr>
        <p:txBody>
          <a:bodyPr wrap="square" lIns="0" tIns="0" rIns="0" bIns="0" rtlCol="0" anchor="ctr"/>
          <a:lstStyle/>
          <a:p>
            <a:pPr marL="0" indent="0" algn="ctr">
              <a:buNone/>
            </a:pPr>
            <a:r>
              <a:rPr lang="en-US" sz="750" b="1" kern="0" spc="150" dirty="0">
                <a:solidFill>
                  <a:srgbClr val="FFFFFF"/>
                </a:solidFill>
              </a:rPr>
              <a:t>LITERATURE REVIEW</a:t>
            </a:r>
            <a:endParaRPr lang="en-US" sz="750" dirty="0"/>
          </a:p>
        </p:txBody>
      </p:sp>
      <p:sp>
        <p:nvSpPr>
          <p:cNvPr id="6" name="Text 4"/>
          <p:cNvSpPr/>
          <p:nvPr/>
        </p:nvSpPr>
        <p:spPr>
          <a:xfrm>
            <a:off x="384048" y="475488"/>
            <a:ext cx="8412480" cy="566928"/>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Literature Review</a:t>
            </a:r>
            <a:endParaRPr lang="en-US" sz="2400" dirty="0"/>
          </a:p>
        </p:txBody>
      </p:sp>
      <p:sp>
        <p:nvSpPr>
          <p:cNvPr id="7" name="Shape 5"/>
          <p:cNvSpPr/>
          <p:nvPr/>
        </p:nvSpPr>
        <p:spPr>
          <a:xfrm>
            <a:off x="384048" y="1078992"/>
            <a:ext cx="502920" cy="50292"/>
          </a:xfrm>
          <a:prstGeom prst="rect">
            <a:avLst/>
          </a:prstGeom>
          <a:solidFill>
            <a:srgbClr val="00C8FF"/>
          </a:solidFill>
          <a:ln w="12700">
            <a:solidFill>
              <a:srgbClr val="00C8FF"/>
            </a:solidFill>
            <a:prstDash val="solid"/>
          </a:ln>
        </p:spPr>
      </p:sp>
      <p:sp>
        <p:nvSpPr>
          <p:cNvPr id="8" name="Shape 6"/>
          <p:cNvSpPr/>
          <p:nvPr/>
        </p:nvSpPr>
        <p:spPr>
          <a:xfrm>
            <a:off x="932688" y="1078992"/>
            <a:ext cx="7827264" cy="50292"/>
          </a:xfrm>
          <a:prstGeom prst="rect">
            <a:avLst/>
          </a:prstGeom>
          <a:solidFill>
            <a:srgbClr val="112244"/>
          </a:solidFill>
          <a:ln w="12700">
            <a:solidFill>
              <a:srgbClr val="112244"/>
            </a:solidFill>
            <a:prstDash val="solid"/>
          </a:ln>
        </p:spPr>
      </p:sp>
      <p:sp>
        <p:nvSpPr>
          <p:cNvPr id="9" name="Text 7"/>
          <p:cNvSpPr/>
          <p:nvPr/>
        </p:nvSpPr>
        <p:spPr>
          <a:xfrm>
            <a:off x="8229600" y="4828032"/>
            <a:ext cx="731520" cy="201168"/>
          </a:xfrm>
          <a:prstGeom prst="rect">
            <a:avLst/>
          </a:prstGeom>
          <a:noFill/>
          <a:ln/>
        </p:spPr>
        <p:txBody>
          <a:bodyPr wrap="square" lIns="0" tIns="0" rIns="0" bIns="0" rtlCol="0" anchor="ctr"/>
          <a:lstStyle/>
          <a:p>
            <a:pPr marL="0" indent="0" algn="r">
              <a:buNone/>
            </a:pPr>
            <a:r>
              <a:rPr lang="en-US" sz="850" dirty="0">
                <a:solidFill>
                  <a:srgbClr val="7A96BB"/>
                </a:solidFill>
              </a:rPr>
              <a:t>4 / 11</a:t>
            </a:r>
            <a:endParaRPr lang="en-US" sz="850" dirty="0"/>
          </a:p>
        </p:txBody>
      </p:sp>
      <p:sp>
        <p:nvSpPr>
          <p:cNvPr id="10" name="Shape 8"/>
          <p:cNvSpPr/>
          <p:nvPr/>
        </p:nvSpPr>
        <p:spPr>
          <a:xfrm>
            <a:off x="384048" y="1234440"/>
            <a:ext cx="594360" cy="457200"/>
          </a:xfrm>
          <a:prstGeom prst="rect">
            <a:avLst/>
          </a:prstGeom>
          <a:solidFill>
            <a:srgbClr val="00C8FF"/>
          </a:solidFill>
          <a:ln w="12700">
            <a:solidFill>
              <a:srgbClr val="00C8FF"/>
            </a:solidFill>
            <a:prstDash val="solid"/>
          </a:ln>
        </p:spPr>
      </p:sp>
      <p:sp>
        <p:nvSpPr>
          <p:cNvPr id="11" name="Text 9"/>
          <p:cNvSpPr/>
          <p:nvPr/>
        </p:nvSpPr>
        <p:spPr>
          <a:xfrm>
            <a:off x="384048" y="1234440"/>
            <a:ext cx="594360" cy="457200"/>
          </a:xfrm>
          <a:prstGeom prst="rect">
            <a:avLst/>
          </a:prstGeom>
          <a:noFill/>
          <a:ln/>
        </p:spPr>
        <p:txBody>
          <a:bodyPr wrap="square" lIns="0" tIns="0" rIns="0" bIns="0" rtlCol="0" anchor="ctr"/>
          <a:lstStyle/>
          <a:p>
            <a:pPr marL="0" indent="0" algn="ctr">
              <a:buNone/>
            </a:pPr>
            <a:r>
              <a:rPr lang="en-US" sz="1000" b="1" dirty="0">
                <a:solidFill>
                  <a:srgbClr val="0A0E1A"/>
                </a:solidFill>
              </a:rPr>
              <a:t>2019</a:t>
            </a:r>
            <a:endParaRPr lang="en-US" sz="1000" dirty="0"/>
          </a:p>
        </p:txBody>
      </p:sp>
      <p:sp>
        <p:nvSpPr>
          <p:cNvPr id="12" name="Shape 10"/>
          <p:cNvSpPr/>
          <p:nvPr/>
        </p:nvSpPr>
        <p:spPr>
          <a:xfrm>
            <a:off x="1051560" y="1289304"/>
            <a:ext cx="685800" cy="219456"/>
          </a:xfrm>
          <a:prstGeom prst="rect">
            <a:avLst/>
          </a:prstGeom>
          <a:solidFill>
            <a:srgbClr val="00C8FF"/>
          </a:solidFill>
          <a:ln w="12700">
            <a:solidFill>
              <a:srgbClr val="00C8FF"/>
            </a:solidFill>
            <a:prstDash val="solid"/>
          </a:ln>
        </p:spPr>
      </p:sp>
      <p:sp>
        <p:nvSpPr>
          <p:cNvPr id="13" name="Text 11"/>
          <p:cNvSpPr/>
          <p:nvPr/>
        </p:nvSpPr>
        <p:spPr>
          <a:xfrm>
            <a:off x="1051560" y="1289304"/>
            <a:ext cx="685800" cy="219456"/>
          </a:xfrm>
          <a:prstGeom prst="rect">
            <a:avLst/>
          </a:prstGeom>
          <a:noFill/>
          <a:ln/>
        </p:spPr>
        <p:txBody>
          <a:bodyPr wrap="square" lIns="0" tIns="0" rIns="0" bIns="0" rtlCol="0" anchor="ctr"/>
          <a:lstStyle/>
          <a:p>
            <a:pPr marL="0" indent="0" algn="ctr">
              <a:buNone/>
            </a:pPr>
            <a:r>
              <a:rPr lang="en-US" sz="750" b="1" dirty="0">
                <a:solidFill>
                  <a:srgbClr val="0A0E1A"/>
                </a:solidFill>
              </a:rPr>
              <a:t>Dataset</a:t>
            </a:r>
            <a:endParaRPr lang="en-US" sz="750" dirty="0"/>
          </a:p>
        </p:txBody>
      </p:sp>
      <p:sp>
        <p:nvSpPr>
          <p:cNvPr id="14" name="Text 12"/>
          <p:cNvSpPr/>
          <p:nvPr/>
        </p:nvSpPr>
        <p:spPr>
          <a:xfrm>
            <a:off x="1828800" y="1234440"/>
            <a:ext cx="6903720" cy="237744"/>
          </a:xfrm>
          <a:prstGeom prst="rect">
            <a:avLst/>
          </a:prstGeom>
          <a:noFill/>
          <a:ln/>
        </p:spPr>
        <p:txBody>
          <a:bodyPr wrap="square" lIns="0" tIns="0" rIns="0" bIns="0" rtlCol="0" anchor="ctr"/>
          <a:lstStyle/>
          <a:p>
            <a:pPr marL="0" indent="0">
              <a:buNone/>
            </a:pPr>
            <a:r>
              <a:rPr lang="en-US" sz="1050" b="1" dirty="0">
                <a:solidFill>
                  <a:srgbClr val="D6E4F7"/>
                </a:solidFill>
              </a:rPr>
              <a:t>FaceForensics++  —  Rossler et al.</a:t>
            </a:r>
            <a:endParaRPr lang="en-US" sz="1050" dirty="0"/>
          </a:p>
        </p:txBody>
      </p:sp>
      <p:sp>
        <p:nvSpPr>
          <p:cNvPr id="15" name="Text 13"/>
          <p:cNvSpPr/>
          <p:nvPr/>
        </p:nvSpPr>
        <p:spPr>
          <a:xfrm>
            <a:off x="1828800" y="1472184"/>
            <a:ext cx="6903720" cy="310896"/>
          </a:xfrm>
          <a:prstGeom prst="rect">
            <a:avLst/>
          </a:prstGeom>
          <a:noFill/>
          <a:ln/>
        </p:spPr>
        <p:txBody>
          <a:bodyPr wrap="square" lIns="0" tIns="0" rIns="0" bIns="0" rtlCol="0" anchor="ctr"/>
          <a:lstStyle/>
          <a:p>
            <a:pPr marL="0" indent="0">
              <a:buNone/>
            </a:pPr>
            <a:r>
              <a:rPr lang="en-US" sz="950" dirty="0">
                <a:solidFill>
                  <a:srgbClr val="7A96BB"/>
                </a:solidFill>
              </a:rPr>
              <a:t>Introduced a large-scale benchmark with 4 manipulation methods (DeepFakes, Face2Face, FaceSwap, NeuralTextures). Established video-level CNN baselines for detection.</a:t>
            </a:r>
            <a:endParaRPr lang="en-US" sz="950" dirty="0"/>
          </a:p>
        </p:txBody>
      </p:sp>
      <p:sp>
        <p:nvSpPr>
          <p:cNvPr id="16" name="Shape 14"/>
          <p:cNvSpPr/>
          <p:nvPr/>
        </p:nvSpPr>
        <p:spPr>
          <a:xfrm>
            <a:off x="384048" y="1856232"/>
            <a:ext cx="594360" cy="457200"/>
          </a:xfrm>
          <a:prstGeom prst="rect">
            <a:avLst/>
          </a:prstGeom>
          <a:solidFill>
            <a:srgbClr val="00E5A0"/>
          </a:solidFill>
          <a:ln w="12700">
            <a:solidFill>
              <a:srgbClr val="00E5A0"/>
            </a:solidFill>
            <a:prstDash val="solid"/>
          </a:ln>
        </p:spPr>
      </p:sp>
      <p:sp>
        <p:nvSpPr>
          <p:cNvPr id="17" name="Text 15"/>
          <p:cNvSpPr/>
          <p:nvPr/>
        </p:nvSpPr>
        <p:spPr>
          <a:xfrm>
            <a:off x="384048" y="1856232"/>
            <a:ext cx="594360" cy="457200"/>
          </a:xfrm>
          <a:prstGeom prst="rect">
            <a:avLst/>
          </a:prstGeom>
          <a:noFill/>
          <a:ln/>
        </p:spPr>
        <p:txBody>
          <a:bodyPr wrap="square" lIns="0" tIns="0" rIns="0" bIns="0" rtlCol="0" anchor="ctr"/>
          <a:lstStyle/>
          <a:p>
            <a:pPr marL="0" indent="0" algn="ctr">
              <a:buNone/>
            </a:pPr>
            <a:r>
              <a:rPr lang="en-US" sz="1000" b="1" dirty="0">
                <a:solidFill>
                  <a:srgbClr val="0A0E1A"/>
                </a:solidFill>
              </a:rPr>
              <a:t>2020</a:t>
            </a:r>
            <a:endParaRPr lang="en-US" sz="1000" dirty="0"/>
          </a:p>
        </p:txBody>
      </p:sp>
      <p:sp>
        <p:nvSpPr>
          <p:cNvPr id="18" name="Shape 16"/>
          <p:cNvSpPr/>
          <p:nvPr/>
        </p:nvSpPr>
        <p:spPr>
          <a:xfrm>
            <a:off x="1051560" y="1911096"/>
            <a:ext cx="685800" cy="219456"/>
          </a:xfrm>
          <a:prstGeom prst="rect">
            <a:avLst/>
          </a:prstGeom>
          <a:solidFill>
            <a:srgbClr val="00E5A0"/>
          </a:solidFill>
          <a:ln w="12700">
            <a:solidFill>
              <a:srgbClr val="00E5A0"/>
            </a:solidFill>
            <a:prstDash val="solid"/>
          </a:ln>
        </p:spPr>
      </p:sp>
      <p:sp>
        <p:nvSpPr>
          <p:cNvPr id="19" name="Text 17"/>
          <p:cNvSpPr/>
          <p:nvPr/>
        </p:nvSpPr>
        <p:spPr>
          <a:xfrm>
            <a:off x="1051560" y="1911096"/>
            <a:ext cx="685800" cy="219456"/>
          </a:xfrm>
          <a:prstGeom prst="rect">
            <a:avLst/>
          </a:prstGeom>
          <a:noFill/>
          <a:ln/>
        </p:spPr>
        <p:txBody>
          <a:bodyPr wrap="square" lIns="0" tIns="0" rIns="0" bIns="0" rtlCol="0" anchor="ctr"/>
          <a:lstStyle/>
          <a:p>
            <a:pPr marL="0" indent="0" algn="ctr">
              <a:buNone/>
            </a:pPr>
            <a:r>
              <a:rPr lang="en-US" sz="750" b="1" dirty="0">
                <a:solidFill>
                  <a:srgbClr val="0A0E1A"/>
                </a:solidFill>
              </a:rPr>
              <a:t>CNN</a:t>
            </a:r>
            <a:endParaRPr lang="en-US" sz="750" dirty="0"/>
          </a:p>
        </p:txBody>
      </p:sp>
      <p:sp>
        <p:nvSpPr>
          <p:cNvPr id="20" name="Text 18"/>
          <p:cNvSpPr/>
          <p:nvPr/>
        </p:nvSpPr>
        <p:spPr>
          <a:xfrm>
            <a:off x="1828800" y="1856232"/>
            <a:ext cx="6903720" cy="237744"/>
          </a:xfrm>
          <a:prstGeom prst="rect">
            <a:avLst/>
          </a:prstGeom>
          <a:noFill/>
          <a:ln/>
        </p:spPr>
        <p:txBody>
          <a:bodyPr wrap="square" lIns="0" tIns="0" rIns="0" bIns="0" rtlCol="0" anchor="ctr"/>
          <a:lstStyle/>
          <a:p>
            <a:pPr marL="0" indent="0">
              <a:buNone/>
            </a:pPr>
            <a:r>
              <a:rPr lang="en-US" sz="1050" b="1" dirty="0">
                <a:solidFill>
                  <a:srgbClr val="D6E4F7"/>
                </a:solidFill>
              </a:rPr>
              <a:t>MesoNet  —  Afchar et al.</a:t>
            </a:r>
            <a:endParaRPr lang="en-US" sz="1050" dirty="0"/>
          </a:p>
        </p:txBody>
      </p:sp>
      <p:sp>
        <p:nvSpPr>
          <p:cNvPr id="21" name="Text 19"/>
          <p:cNvSpPr/>
          <p:nvPr/>
        </p:nvSpPr>
        <p:spPr>
          <a:xfrm>
            <a:off x="1828800" y="2093976"/>
            <a:ext cx="6903720" cy="310896"/>
          </a:xfrm>
          <a:prstGeom prst="rect">
            <a:avLst/>
          </a:prstGeom>
          <a:noFill/>
          <a:ln/>
        </p:spPr>
        <p:txBody>
          <a:bodyPr wrap="square" lIns="0" tIns="0" rIns="0" bIns="0" rtlCol="0" anchor="ctr"/>
          <a:lstStyle/>
          <a:p>
            <a:pPr marL="0" indent="0">
              <a:buNone/>
            </a:pPr>
            <a:r>
              <a:rPr lang="en-US" sz="950" dirty="0">
                <a:solidFill>
                  <a:srgbClr val="7A96BB"/>
                </a:solidFill>
              </a:rPr>
              <a:t>Proposed a compact CNN focusing on mesoscopic image properties. Achieved real-time performance but limited accuracy on high-quality fakes.</a:t>
            </a:r>
            <a:endParaRPr lang="en-US" sz="950" dirty="0"/>
          </a:p>
        </p:txBody>
      </p:sp>
      <p:sp>
        <p:nvSpPr>
          <p:cNvPr id="22" name="Shape 20"/>
          <p:cNvSpPr/>
          <p:nvPr/>
        </p:nvSpPr>
        <p:spPr>
          <a:xfrm>
            <a:off x="384048" y="2478024"/>
            <a:ext cx="594360" cy="457200"/>
          </a:xfrm>
          <a:prstGeom prst="rect">
            <a:avLst/>
          </a:prstGeom>
          <a:solidFill>
            <a:srgbClr val="FFD166"/>
          </a:solidFill>
          <a:ln w="12700">
            <a:solidFill>
              <a:srgbClr val="FFD166"/>
            </a:solidFill>
            <a:prstDash val="solid"/>
          </a:ln>
        </p:spPr>
      </p:sp>
      <p:sp>
        <p:nvSpPr>
          <p:cNvPr id="23" name="Text 21"/>
          <p:cNvSpPr/>
          <p:nvPr/>
        </p:nvSpPr>
        <p:spPr>
          <a:xfrm>
            <a:off x="384048" y="2478024"/>
            <a:ext cx="594360" cy="457200"/>
          </a:xfrm>
          <a:prstGeom prst="rect">
            <a:avLst/>
          </a:prstGeom>
          <a:noFill/>
          <a:ln/>
        </p:spPr>
        <p:txBody>
          <a:bodyPr wrap="square" lIns="0" tIns="0" rIns="0" bIns="0" rtlCol="0" anchor="ctr"/>
          <a:lstStyle/>
          <a:p>
            <a:pPr marL="0" indent="0" algn="ctr">
              <a:buNone/>
            </a:pPr>
            <a:r>
              <a:rPr lang="en-US" sz="1000" b="1" dirty="0">
                <a:solidFill>
                  <a:srgbClr val="0A0E1A"/>
                </a:solidFill>
              </a:rPr>
              <a:t>2021</a:t>
            </a:r>
            <a:endParaRPr lang="en-US" sz="1000" dirty="0"/>
          </a:p>
        </p:txBody>
      </p:sp>
      <p:sp>
        <p:nvSpPr>
          <p:cNvPr id="24" name="Shape 22"/>
          <p:cNvSpPr/>
          <p:nvPr/>
        </p:nvSpPr>
        <p:spPr>
          <a:xfrm>
            <a:off x="1051560" y="2532888"/>
            <a:ext cx="685800" cy="219456"/>
          </a:xfrm>
          <a:prstGeom prst="rect">
            <a:avLst/>
          </a:prstGeom>
          <a:solidFill>
            <a:srgbClr val="FFD166"/>
          </a:solidFill>
          <a:ln w="12700">
            <a:solidFill>
              <a:srgbClr val="FFD166"/>
            </a:solidFill>
            <a:prstDash val="solid"/>
          </a:ln>
        </p:spPr>
      </p:sp>
      <p:sp>
        <p:nvSpPr>
          <p:cNvPr id="25" name="Text 23"/>
          <p:cNvSpPr/>
          <p:nvPr/>
        </p:nvSpPr>
        <p:spPr>
          <a:xfrm>
            <a:off x="1051560" y="2532888"/>
            <a:ext cx="685800" cy="219456"/>
          </a:xfrm>
          <a:prstGeom prst="rect">
            <a:avLst/>
          </a:prstGeom>
          <a:noFill/>
          <a:ln/>
        </p:spPr>
        <p:txBody>
          <a:bodyPr wrap="square" lIns="0" tIns="0" rIns="0" bIns="0" rtlCol="0" anchor="ctr"/>
          <a:lstStyle/>
          <a:p>
            <a:pPr marL="0" indent="0" algn="ctr">
              <a:buNone/>
            </a:pPr>
            <a:r>
              <a:rPr lang="en-US" sz="750" b="1" dirty="0">
                <a:solidFill>
                  <a:srgbClr val="0A0E1A"/>
                </a:solidFill>
              </a:rPr>
              <a:t>Attention</a:t>
            </a:r>
            <a:endParaRPr lang="en-US" sz="750" dirty="0"/>
          </a:p>
        </p:txBody>
      </p:sp>
      <p:sp>
        <p:nvSpPr>
          <p:cNvPr id="26" name="Text 24"/>
          <p:cNvSpPr/>
          <p:nvPr/>
        </p:nvSpPr>
        <p:spPr>
          <a:xfrm>
            <a:off x="1828800" y="2478024"/>
            <a:ext cx="6903720" cy="237744"/>
          </a:xfrm>
          <a:prstGeom prst="rect">
            <a:avLst/>
          </a:prstGeom>
          <a:noFill/>
          <a:ln/>
        </p:spPr>
        <p:txBody>
          <a:bodyPr wrap="square" lIns="0" tIns="0" rIns="0" bIns="0" rtlCol="0" anchor="ctr"/>
          <a:lstStyle/>
          <a:p>
            <a:pPr marL="0" indent="0">
              <a:buNone/>
            </a:pPr>
            <a:r>
              <a:rPr lang="en-US" sz="1050" b="1" dirty="0">
                <a:solidFill>
                  <a:srgbClr val="D6E4F7"/>
                </a:solidFill>
              </a:rPr>
              <a:t>Multi-Attentional Deepfake Detection  —  Zhao et al.</a:t>
            </a:r>
            <a:endParaRPr lang="en-US" sz="1050" dirty="0"/>
          </a:p>
        </p:txBody>
      </p:sp>
      <p:sp>
        <p:nvSpPr>
          <p:cNvPr id="27" name="Text 25"/>
          <p:cNvSpPr/>
          <p:nvPr/>
        </p:nvSpPr>
        <p:spPr>
          <a:xfrm>
            <a:off x="1828800" y="2715768"/>
            <a:ext cx="6903720" cy="310896"/>
          </a:xfrm>
          <a:prstGeom prst="rect">
            <a:avLst/>
          </a:prstGeom>
          <a:noFill/>
          <a:ln/>
        </p:spPr>
        <p:txBody>
          <a:bodyPr wrap="square" lIns="0" tIns="0" rIns="0" bIns="0" rtlCol="0" anchor="ctr"/>
          <a:lstStyle/>
          <a:p>
            <a:pPr marL="0" indent="0">
              <a:buNone/>
            </a:pPr>
            <a:r>
              <a:rPr lang="en-US" sz="950" dirty="0">
                <a:solidFill>
                  <a:srgbClr val="7A96BB"/>
                </a:solidFill>
              </a:rPr>
              <a:t>Used multiple spatial attention heads to focus on local face regions. Improved accuracy over single-attention models on FF++ benchmark.</a:t>
            </a:r>
            <a:endParaRPr lang="en-US" sz="950" dirty="0"/>
          </a:p>
        </p:txBody>
      </p:sp>
      <p:sp>
        <p:nvSpPr>
          <p:cNvPr id="28" name="Shape 26"/>
          <p:cNvSpPr/>
          <p:nvPr/>
        </p:nvSpPr>
        <p:spPr>
          <a:xfrm>
            <a:off x="384048" y="3099816"/>
            <a:ext cx="594360" cy="457200"/>
          </a:xfrm>
          <a:prstGeom prst="rect">
            <a:avLst/>
          </a:prstGeom>
          <a:solidFill>
            <a:srgbClr val="7B61FF"/>
          </a:solidFill>
          <a:ln w="12700">
            <a:solidFill>
              <a:srgbClr val="7B61FF"/>
            </a:solidFill>
            <a:prstDash val="solid"/>
          </a:ln>
        </p:spPr>
      </p:sp>
      <p:sp>
        <p:nvSpPr>
          <p:cNvPr id="29" name="Text 27"/>
          <p:cNvSpPr/>
          <p:nvPr/>
        </p:nvSpPr>
        <p:spPr>
          <a:xfrm>
            <a:off x="384048" y="3099816"/>
            <a:ext cx="594360" cy="457200"/>
          </a:xfrm>
          <a:prstGeom prst="rect">
            <a:avLst/>
          </a:prstGeom>
          <a:noFill/>
          <a:ln/>
        </p:spPr>
        <p:txBody>
          <a:bodyPr wrap="square" lIns="0" tIns="0" rIns="0" bIns="0" rtlCol="0" anchor="ctr"/>
          <a:lstStyle/>
          <a:p>
            <a:pPr marL="0" indent="0" algn="ctr">
              <a:buNone/>
            </a:pPr>
            <a:r>
              <a:rPr lang="en-US" sz="1000" b="1" dirty="0">
                <a:solidFill>
                  <a:srgbClr val="0A0E1A"/>
                </a:solidFill>
              </a:rPr>
              <a:t>2022</a:t>
            </a:r>
            <a:endParaRPr lang="en-US" sz="1000" dirty="0"/>
          </a:p>
        </p:txBody>
      </p:sp>
      <p:sp>
        <p:nvSpPr>
          <p:cNvPr id="30" name="Shape 28"/>
          <p:cNvSpPr/>
          <p:nvPr/>
        </p:nvSpPr>
        <p:spPr>
          <a:xfrm>
            <a:off x="1051560" y="3154680"/>
            <a:ext cx="685800" cy="219456"/>
          </a:xfrm>
          <a:prstGeom prst="rect">
            <a:avLst/>
          </a:prstGeom>
          <a:solidFill>
            <a:srgbClr val="7B61FF"/>
          </a:solidFill>
          <a:ln w="12700">
            <a:solidFill>
              <a:srgbClr val="7B61FF"/>
            </a:solidFill>
            <a:prstDash val="solid"/>
          </a:ln>
        </p:spPr>
      </p:sp>
      <p:sp>
        <p:nvSpPr>
          <p:cNvPr id="31" name="Text 29"/>
          <p:cNvSpPr/>
          <p:nvPr/>
        </p:nvSpPr>
        <p:spPr>
          <a:xfrm>
            <a:off x="1051560" y="3154680"/>
            <a:ext cx="685800" cy="219456"/>
          </a:xfrm>
          <a:prstGeom prst="rect">
            <a:avLst/>
          </a:prstGeom>
          <a:noFill/>
          <a:ln/>
        </p:spPr>
        <p:txBody>
          <a:bodyPr wrap="square" lIns="0" tIns="0" rIns="0" bIns="0" rtlCol="0" anchor="ctr"/>
          <a:lstStyle/>
          <a:p>
            <a:pPr marL="0" indent="0" algn="ctr">
              <a:buNone/>
            </a:pPr>
            <a:r>
              <a:rPr lang="en-US" sz="750" b="1" dirty="0">
                <a:solidFill>
                  <a:srgbClr val="0A0E1A"/>
                </a:solidFill>
              </a:rPr>
              <a:t>ViT</a:t>
            </a:r>
            <a:endParaRPr lang="en-US" sz="750" dirty="0"/>
          </a:p>
        </p:txBody>
      </p:sp>
      <p:sp>
        <p:nvSpPr>
          <p:cNvPr id="32" name="Text 30"/>
          <p:cNvSpPr/>
          <p:nvPr/>
        </p:nvSpPr>
        <p:spPr>
          <a:xfrm>
            <a:off x="1828800" y="3099816"/>
            <a:ext cx="6903720" cy="237744"/>
          </a:xfrm>
          <a:prstGeom prst="rect">
            <a:avLst/>
          </a:prstGeom>
          <a:noFill/>
          <a:ln/>
        </p:spPr>
        <p:txBody>
          <a:bodyPr wrap="square" lIns="0" tIns="0" rIns="0" bIns="0" rtlCol="0" anchor="ctr"/>
          <a:lstStyle/>
          <a:p>
            <a:pPr marL="0" indent="0">
              <a:buNone/>
            </a:pPr>
            <a:r>
              <a:rPr lang="en-US" sz="1050" b="1" dirty="0">
                <a:solidFill>
                  <a:srgbClr val="D6E4F7"/>
                </a:solidFill>
              </a:rPr>
              <a:t>Freq-Spatial Transformer  —  Zheng et al.</a:t>
            </a:r>
            <a:endParaRPr lang="en-US" sz="1050" dirty="0"/>
          </a:p>
        </p:txBody>
      </p:sp>
      <p:sp>
        <p:nvSpPr>
          <p:cNvPr id="33" name="Text 31"/>
          <p:cNvSpPr/>
          <p:nvPr/>
        </p:nvSpPr>
        <p:spPr>
          <a:xfrm>
            <a:off x="1828800" y="3337560"/>
            <a:ext cx="6903720" cy="310896"/>
          </a:xfrm>
          <a:prstGeom prst="rect">
            <a:avLst/>
          </a:prstGeom>
          <a:noFill/>
          <a:ln/>
        </p:spPr>
        <p:txBody>
          <a:bodyPr wrap="square" lIns="0" tIns="0" rIns="0" bIns="0" rtlCol="0" anchor="ctr"/>
          <a:lstStyle/>
          <a:p>
            <a:pPr marL="0" indent="0">
              <a:buNone/>
            </a:pPr>
            <a:r>
              <a:rPr lang="en-US" sz="950" dirty="0">
                <a:solidFill>
                  <a:srgbClr val="7A96BB"/>
                </a:solidFill>
              </a:rPr>
              <a:t>Combined frequency domain analysis with ViT architecture. Captured both spatial and frequency artifacts for cross-dataset detection.</a:t>
            </a:r>
            <a:endParaRPr lang="en-US" sz="950" dirty="0"/>
          </a:p>
        </p:txBody>
      </p:sp>
      <p:sp>
        <p:nvSpPr>
          <p:cNvPr id="34" name="Shape 32"/>
          <p:cNvSpPr/>
          <p:nvPr/>
        </p:nvSpPr>
        <p:spPr>
          <a:xfrm>
            <a:off x="384048" y="3721608"/>
            <a:ext cx="594360" cy="457200"/>
          </a:xfrm>
          <a:prstGeom prst="rect">
            <a:avLst/>
          </a:prstGeom>
          <a:solidFill>
            <a:srgbClr val="FF6B6B"/>
          </a:solidFill>
          <a:ln w="12700">
            <a:solidFill>
              <a:srgbClr val="FF6B6B"/>
            </a:solidFill>
            <a:prstDash val="solid"/>
          </a:ln>
        </p:spPr>
      </p:sp>
      <p:sp>
        <p:nvSpPr>
          <p:cNvPr id="35" name="Text 33"/>
          <p:cNvSpPr/>
          <p:nvPr/>
        </p:nvSpPr>
        <p:spPr>
          <a:xfrm>
            <a:off x="384048" y="3721608"/>
            <a:ext cx="594360" cy="457200"/>
          </a:xfrm>
          <a:prstGeom prst="rect">
            <a:avLst/>
          </a:prstGeom>
          <a:noFill/>
          <a:ln/>
        </p:spPr>
        <p:txBody>
          <a:bodyPr wrap="square" lIns="0" tIns="0" rIns="0" bIns="0" rtlCol="0" anchor="ctr"/>
          <a:lstStyle/>
          <a:p>
            <a:pPr marL="0" indent="0" algn="ctr">
              <a:buNone/>
            </a:pPr>
            <a:r>
              <a:rPr lang="en-US" sz="1000" b="1" dirty="0">
                <a:solidFill>
                  <a:srgbClr val="0A0E1A"/>
                </a:solidFill>
              </a:rPr>
              <a:t>2023</a:t>
            </a:r>
            <a:endParaRPr lang="en-US" sz="1000" dirty="0"/>
          </a:p>
        </p:txBody>
      </p:sp>
      <p:sp>
        <p:nvSpPr>
          <p:cNvPr id="36" name="Shape 34"/>
          <p:cNvSpPr/>
          <p:nvPr/>
        </p:nvSpPr>
        <p:spPr>
          <a:xfrm>
            <a:off x="1051560" y="3776472"/>
            <a:ext cx="685800" cy="219456"/>
          </a:xfrm>
          <a:prstGeom prst="rect">
            <a:avLst/>
          </a:prstGeom>
          <a:solidFill>
            <a:srgbClr val="FF6B6B"/>
          </a:solidFill>
          <a:ln w="12700">
            <a:solidFill>
              <a:srgbClr val="FF6B6B"/>
            </a:solidFill>
            <a:prstDash val="solid"/>
          </a:ln>
        </p:spPr>
      </p:sp>
      <p:sp>
        <p:nvSpPr>
          <p:cNvPr id="37" name="Text 35"/>
          <p:cNvSpPr/>
          <p:nvPr/>
        </p:nvSpPr>
        <p:spPr>
          <a:xfrm>
            <a:off x="1051560" y="3776472"/>
            <a:ext cx="685800" cy="219456"/>
          </a:xfrm>
          <a:prstGeom prst="rect">
            <a:avLst/>
          </a:prstGeom>
          <a:noFill/>
          <a:ln/>
        </p:spPr>
        <p:txBody>
          <a:bodyPr wrap="square" lIns="0" tIns="0" rIns="0" bIns="0" rtlCol="0" anchor="ctr"/>
          <a:lstStyle/>
          <a:p>
            <a:pPr marL="0" indent="0" algn="ctr">
              <a:buNone/>
            </a:pPr>
            <a:r>
              <a:rPr lang="en-US" sz="750" b="1" dirty="0">
                <a:solidFill>
                  <a:srgbClr val="0A0E1A"/>
                </a:solidFill>
              </a:rPr>
              <a:t>BiLSTM</a:t>
            </a:r>
            <a:endParaRPr lang="en-US" sz="750" dirty="0"/>
          </a:p>
        </p:txBody>
      </p:sp>
      <p:sp>
        <p:nvSpPr>
          <p:cNvPr id="38" name="Text 36"/>
          <p:cNvSpPr/>
          <p:nvPr/>
        </p:nvSpPr>
        <p:spPr>
          <a:xfrm>
            <a:off x="1828800" y="3721608"/>
            <a:ext cx="6903720" cy="237744"/>
          </a:xfrm>
          <a:prstGeom prst="rect">
            <a:avLst/>
          </a:prstGeom>
          <a:noFill/>
          <a:ln/>
        </p:spPr>
        <p:txBody>
          <a:bodyPr wrap="square" lIns="0" tIns="0" rIns="0" bIns="0" rtlCol="0" anchor="ctr"/>
          <a:lstStyle/>
          <a:p>
            <a:pPr marL="0" indent="0">
              <a:buNone/>
            </a:pPr>
            <a:r>
              <a:rPr lang="en-US" sz="1050" b="1" dirty="0">
                <a:solidFill>
                  <a:srgbClr val="D6E4F7"/>
                </a:solidFill>
              </a:rPr>
              <a:t>BiLSTM Temporal Deepfake Detection  —  Lin et al.</a:t>
            </a:r>
            <a:endParaRPr lang="en-US" sz="1050" dirty="0"/>
          </a:p>
        </p:txBody>
      </p:sp>
      <p:sp>
        <p:nvSpPr>
          <p:cNvPr id="39" name="Text 37"/>
          <p:cNvSpPr/>
          <p:nvPr/>
        </p:nvSpPr>
        <p:spPr>
          <a:xfrm>
            <a:off x="1828800" y="3959352"/>
            <a:ext cx="6903720" cy="310896"/>
          </a:xfrm>
          <a:prstGeom prst="rect">
            <a:avLst/>
          </a:prstGeom>
          <a:noFill/>
          <a:ln/>
        </p:spPr>
        <p:txBody>
          <a:bodyPr wrap="square" lIns="0" tIns="0" rIns="0" bIns="0" rtlCol="0" anchor="ctr"/>
          <a:lstStyle/>
          <a:p>
            <a:pPr marL="0" indent="0">
              <a:buNone/>
            </a:pPr>
            <a:r>
              <a:rPr lang="en-US" sz="950" dirty="0">
                <a:solidFill>
                  <a:srgbClr val="7A96BB"/>
                </a:solidFill>
              </a:rPr>
              <a:t>Applied BiLSTM to model temporal inconsistencies in video deepfakes. Demonstrated that temporal modeling significantly improves video-level AUC.</a:t>
            </a:r>
            <a:endParaRPr lang="en-US" sz="950" dirty="0"/>
          </a:p>
        </p:txBody>
      </p:sp>
      <p:sp>
        <p:nvSpPr>
          <p:cNvPr id="40" name="Shape 38"/>
          <p:cNvSpPr/>
          <p:nvPr/>
        </p:nvSpPr>
        <p:spPr>
          <a:xfrm>
            <a:off x="384048" y="4343400"/>
            <a:ext cx="594360" cy="457200"/>
          </a:xfrm>
          <a:prstGeom prst="rect">
            <a:avLst/>
          </a:prstGeom>
          <a:solidFill>
            <a:srgbClr val="00C8FF"/>
          </a:solidFill>
          <a:ln w="12700">
            <a:solidFill>
              <a:srgbClr val="00C8FF"/>
            </a:solidFill>
            <a:prstDash val="solid"/>
          </a:ln>
        </p:spPr>
      </p:sp>
      <p:sp>
        <p:nvSpPr>
          <p:cNvPr id="41" name="Text 39"/>
          <p:cNvSpPr/>
          <p:nvPr/>
        </p:nvSpPr>
        <p:spPr>
          <a:xfrm>
            <a:off x="384048" y="4343400"/>
            <a:ext cx="594360" cy="457200"/>
          </a:xfrm>
          <a:prstGeom prst="rect">
            <a:avLst/>
          </a:prstGeom>
          <a:noFill/>
          <a:ln/>
        </p:spPr>
        <p:txBody>
          <a:bodyPr wrap="square" lIns="0" tIns="0" rIns="0" bIns="0" rtlCol="0" anchor="ctr"/>
          <a:lstStyle/>
          <a:p>
            <a:pPr marL="0" indent="0" algn="ctr">
              <a:buNone/>
            </a:pPr>
            <a:r>
              <a:rPr lang="en-US" sz="1000" b="1" dirty="0">
                <a:solidFill>
                  <a:srgbClr val="0A0E1A"/>
                </a:solidFill>
              </a:rPr>
              <a:t>2024</a:t>
            </a:r>
            <a:endParaRPr lang="en-US" sz="1000" dirty="0"/>
          </a:p>
        </p:txBody>
      </p:sp>
      <p:sp>
        <p:nvSpPr>
          <p:cNvPr id="42" name="Shape 40"/>
          <p:cNvSpPr/>
          <p:nvPr/>
        </p:nvSpPr>
        <p:spPr>
          <a:xfrm>
            <a:off x="1051560" y="4398264"/>
            <a:ext cx="685800" cy="219456"/>
          </a:xfrm>
          <a:prstGeom prst="rect">
            <a:avLst/>
          </a:prstGeom>
          <a:solidFill>
            <a:srgbClr val="00C8FF"/>
          </a:solidFill>
          <a:ln w="12700">
            <a:solidFill>
              <a:srgbClr val="00C8FF"/>
            </a:solidFill>
            <a:prstDash val="solid"/>
          </a:ln>
        </p:spPr>
      </p:sp>
      <p:sp>
        <p:nvSpPr>
          <p:cNvPr id="43" name="Text 41"/>
          <p:cNvSpPr/>
          <p:nvPr/>
        </p:nvSpPr>
        <p:spPr>
          <a:xfrm>
            <a:off x="1051560" y="4398264"/>
            <a:ext cx="685800" cy="219456"/>
          </a:xfrm>
          <a:prstGeom prst="rect">
            <a:avLst/>
          </a:prstGeom>
          <a:noFill/>
          <a:ln/>
        </p:spPr>
        <p:txBody>
          <a:bodyPr wrap="square" lIns="0" tIns="0" rIns="0" bIns="0" rtlCol="0" anchor="ctr"/>
          <a:lstStyle/>
          <a:p>
            <a:pPr marL="0" indent="0" algn="ctr">
              <a:buNone/>
            </a:pPr>
            <a:r>
              <a:rPr lang="en-US" sz="750" b="1" dirty="0">
                <a:solidFill>
                  <a:srgbClr val="0A0E1A"/>
                </a:solidFill>
              </a:rPr>
              <a:t>Ours</a:t>
            </a:r>
            <a:endParaRPr lang="en-US" sz="750" dirty="0"/>
          </a:p>
        </p:txBody>
      </p:sp>
      <p:sp>
        <p:nvSpPr>
          <p:cNvPr id="44" name="Text 42"/>
          <p:cNvSpPr/>
          <p:nvPr/>
        </p:nvSpPr>
        <p:spPr>
          <a:xfrm>
            <a:off x="1828800" y="4343400"/>
            <a:ext cx="6903720" cy="237744"/>
          </a:xfrm>
          <a:prstGeom prst="rect">
            <a:avLst/>
          </a:prstGeom>
          <a:noFill/>
          <a:ln/>
        </p:spPr>
        <p:txBody>
          <a:bodyPr wrap="square" lIns="0" tIns="0" rIns="0" bIns="0" rtlCol="0" anchor="ctr"/>
          <a:lstStyle/>
          <a:p>
            <a:pPr marL="0" indent="0">
              <a:buNone/>
            </a:pPr>
            <a:r>
              <a:rPr lang="en-US" sz="1050" b="1" dirty="0">
                <a:solidFill>
                  <a:srgbClr val="D6E4F7"/>
                </a:solidFill>
              </a:rPr>
              <a:t>CNN-BiLSTM-ViT + XAI  —  Proposed Work</a:t>
            </a:r>
            <a:endParaRPr lang="en-US" sz="1050" dirty="0"/>
          </a:p>
        </p:txBody>
      </p:sp>
      <p:sp>
        <p:nvSpPr>
          <p:cNvPr id="45" name="Text 43"/>
          <p:cNvSpPr/>
          <p:nvPr/>
        </p:nvSpPr>
        <p:spPr>
          <a:xfrm>
            <a:off x="1828800" y="4581144"/>
            <a:ext cx="6903720" cy="310896"/>
          </a:xfrm>
          <a:prstGeom prst="rect">
            <a:avLst/>
          </a:prstGeom>
          <a:noFill/>
          <a:ln/>
        </p:spPr>
        <p:txBody>
          <a:bodyPr wrap="square" lIns="0" tIns="0" rIns="0" bIns="0" rtlCol="0" anchor="ctr"/>
          <a:lstStyle/>
          <a:p>
            <a:pPr marL="0" indent="0">
              <a:buNone/>
            </a:pPr>
            <a:r>
              <a:rPr lang="en-US" sz="950" dirty="0">
                <a:solidFill>
                  <a:srgbClr val="7A96BB"/>
                </a:solidFill>
              </a:rPr>
              <a:t>Unified framework integrating all three architectures with built-in explainability using Grad-CAM. Achieves SOTA accuracy with transparent predictions.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C8FF"/>
          </a:solidFill>
          <a:ln w="12700">
            <a:solidFill>
              <a:srgbClr val="00C8FF"/>
            </a:solidFill>
            <a:prstDash val="solid"/>
          </a:ln>
        </p:spPr>
      </p:sp>
      <p:sp>
        <p:nvSpPr>
          <p:cNvPr id="3" name="Shape 1"/>
          <p:cNvSpPr/>
          <p:nvPr/>
        </p:nvSpPr>
        <p:spPr>
          <a:xfrm>
            <a:off x="0" y="5093208"/>
            <a:ext cx="9144000" cy="50292"/>
          </a:xfrm>
          <a:prstGeom prst="rect">
            <a:avLst/>
          </a:prstGeom>
          <a:solidFill>
            <a:srgbClr val="7B61FF"/>
          </a:solidFill>
          <a:ln w="12700">
            <a:solidFill>
              <a:srgbClr val="7B61FF"/>
            </a:solidFill>
            <a:prstDash val="solid"/>
          </a:ln>
        </p:spPr>
      </p:sp>
      <p:sp>
        <p:nvSpPr>
          <p:cNvPr id="4" name="Shape 2"/>
          <p:cNvSpPr/>
          <p:nvPr/>
        </p:nvSpPr>
        <p:spPr>
          <a:xfrm>
            <a:off x="384048" y="146304"/>
            <a:ext cx="1371600" cy="246888"/>
          </a:xfrm>
          <a:prstGeom prst="rect">
            <a:avLst/>
          </a:prstGeom>
          <a:solidFill>
            <a:srgbClr val="7B61FF"/>
          </a:solidFill>
          <a:ln w="12700">
            <a:solidFill>
              <a:srgbClr val="7B61FF"/>
            </a:solidFill>
            <a:prstDash val="solid"/>
          </a:ln>
        </p:spPr>
      </p:sp>
      <p:sp>
        <p:nvSpPr>
          <p:cNvPr id="5" name="Text 3"/>
          <p:cNvSpPr/>
          <p:nvPr/>
        </p:nvSpPr>
        <p:spPr>
          <a:xfrm>
            <a:off x="384048" y="146304"/>
            <a:ext cx="1371600" cy="246888"/>
          </a:xfrm>
          <a:prstGeom prst="rect">
            <a:avLst/>
          </a:prstGeom>
          <a:noFill/>
          <a:ln/>
        </p:spPr>
        <p:txBody>
          <a:bodyPr wrap="square" lIns="0" tIns="0" rIns="0" bIns="0" rtlCol="0" anchor="ctr"/>
          <a:lstStyle/>
          <a:p>
            <a:pPr marL="0" indent="0" algn="ctr">
              <a:buNone/>
            </a:pPr>
            <a:r>
              <a:rPr lang="en-US" sz="750" b="1" kern="0" spc="150" dirty="0">
                <a:solidFill>
                  <a:srgbClr val="FFFFFF"/>
                </a:solidFill>
              </a:rPr>
              <a:t>SYSTEM ANALYSIS</a:t>
            </a:r>
            <a:endParaRPr lang="en-US" sz="750" dirty="0"/>
          </a:p>
        </p:txBody>
      </p:sp>
      <p:sp>
        <p:nvSpPr>
          <p:cNvPr id="6" name="Text 4"/>
          <p:cNvSpPr/>
          <p:nvPr/>
        </p:nvSpPr>
        <p:spPr>
          <a:xfrm>
            <a:off x="384048" y="475488"/>
            <a:ext cx="8412480" cy="566928"/>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System Analysis</a:t>
            </a:r>
            <a:endParaRPr lang="en-US" sz="2400" dirty="0"/>
          </a:p>
        </p:txBody>
      </p:sp>
      <p:sp>
        <p:nvSpPr>
          <p:cNvPr id="7" name="Shape 5"/>
          <p:cNvSpPr/>
          <p:nvPr/>
        </p:nvSpPr>
        <p:spPr>
          <a:xfrm>
            <a:off x="384048" y="1078992"/>
            <a:ext cx="502920" cy="50292"/>
          </a:xfrm>
          <a:prstGeom prst="rect">
            <a:avLst/>
          </a:prstGeom>
          <a:solidFill>
            <a:srgbClr val="00C8FF"/>
          </a:solidFill>
          <a:ln w="12700">
            <a:solidFill>
              <a:srgbClr val="00C8FF"/>
            </a:solidFill>
            <a:prstDash val="solid"/>
          </a:ln>
        </p:spPr>
      </p:sp>
      <p:sp>
        <p:nvSpPr>
          <p:cNvPr id="8" name="Shape 6"/>
          <p:cNvSpPr/>
          <p:nvPr/>
        </p:nvSpPr>
        <p:spPr>
          <a:xfrm>
            <a:off x="932688" y="1078992"/>
            <a:ext cx="7827264" cy="50292"/>
          </a:xfrm>
          <a:prstGeom prst="rect">
            <a:avLst/>
          </a:prstGeom>
          <a:solidFill>
            <a:srgbClr val="112244"/>
          </a:solidFill>
          <a:ln w="12700">
            <a:solidFill>
              <a:srgbClr val="112244"/>
            </a:solidFill>
            <a:prstDash val="solid"/>
          </a:ln>
        </p:spPr>
      </p:sp>
      <p:sp>
        <p:nvSpPr>
          <p:cNvPr id="9" name="Text 7"/>
          <p:cNvSpPr/>
          <p:nvPr/>
        </p:nvSpPr>
        <p:spPr>
          <a:xfrm>
            <a:off x="8229600" y="4828032"/>
            <a:ext cx="731520" cy="201168"/>
          </a:xfrm>
          <a:prstGeom prst="rect">
            <a:avLst/>
          </a:prstGeom>
          <a:noFill/>
          <a:ln/>
        </p:spPr>
        <p:txBody>
          <a:bodyPr wrap="square" lIns="0" tIns="0" rIns="0" bIns="0" rtlCol="0" anchor="ctr"/>
          <a:lstStyle/>
          <a:p>
            <a:pPr marL="0" indent="0" algn="r">
              <a:buNone/>
            </a:pPr>
            <a:r>
              <a:rPr lang="en-US" sz="850" dirty="0">
                <a:solidFill>
                  <a:srgbClr val="7A96BB"/>
                </a:solidFill>
              </a:rPr>
              <a:t>5 / 11</a:t>
            </a:r>
            <a:endParaRPr lang="en-US" sz="850" dirty="0"/>
          </a:p>
        </p:txBody>
      </p:sp>
      <p:sp>
        <p:nvSpPr>
          <p:cNvPr id="10" name="Shape 8"/>
          <p:cNvSpPr/>
          <p:nvPr/>
        </p:nvSpPr>
        <p:spPr>
          <a:xfrm>
            <a:off x="384048" y="1234440"/>
            <a:ext cx="4160520" cy="1783080"/>
          </a:xfrm>
          <a:prstGeom prst="rect">
            <a:avLst/>
          </a:prstGeom>
          <a:solidFill>
            <a:srgbClr val="152B55"/>
          </a:solidFill>
          <a:ln w="8890">
            <a:solidFill>
              <a:srgbClr val="FF6B6B"/>
            </a:solidFill>
            <a:prstDash val="solid"/>
          </a:ln>
          <a:effectLst>
            <a:outerShdw blurRad="101600" dist="38100" dir="8100000" algn="bl" rotWithShape="0">
              <a:srgbClr val="000000">
                <a:alpha val="28000"/>
              </a:srgbClr>
            </a:outerShdw>
          </a:effectLst>
        </p:spPr>
      </p:sp>
      <p:sp>
        <p:nvSpPr>
          <p:cNvPr id="11" name="Text 9"/>
          <p:cNvSpPr/>
          <p:nvPr/>
        </p:nvSpPr>
        <p:spPr>
          <a:xfrm>
            <a:off x="566928" y="1371600"/>
            <a:ext cx="3794760" cy="292608"/>
          </a:xfrm>
          <a:prstGeom prst="rect">
            <a:avLst/>
          </a:prstGeom>
          <a:noFill/>
          <a:ln/>
        </p:spPr>
        <p:txBody>
          <a:bodyPr wrap="square" lIns="0" tIns="0" rIns="0" bIns="0" rtlCol="0" anchor="ctr"/>
          <a:lstStyle/>
          <a:p>
            <a:pPr marL="0" indent="0">
              <a:buNone/>
            </a:pPr>
            <a:r>
              <a:rPr lang="en-US" sz="1200" b="1" dirty="0">
                <a:solidFill>
                  <a:srgbClr val="FF6B6B"/>
                </a:solidFill>
              </a:rPr>
              <a:t>Existing System</a:t>
            </a:r>
            <a:endParaRPr lang="en-US" sz="1200" dirty="0"/>
          </a:p>
        </p:txBody>
      </p:sp>
      <p:sp>
        <p:nvSpPr>
          <p:cNvPr id="12" name="Text 10"/>
          <p:cNvSpPr/>
          <p:nvPr/>
        </p:nvSpPr>
        <p:spPr>
          <a:xfrm>
            <a:off x="566928" y="1719072"/>
            <a:ext cx="3794760" cy="118872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D6E4F7"/>
                </a:solidFill>
              </a:rPr>
              <a:t>Single-modality CNNs — no temporal modeling for videos</a:t>
            </a:r>
            <a:endParaRPr lang="en-US" sz="1050" dirty="0"/>
          </a:p>
          <a:p>
            <a:pPr marL="342900" indent="-342900">
              <a:spcAft>
                <a:spcPts val="300"/>
              </a:spcAft>
              <a:buSzPct val="100000"/>
              <a:buChar char="•"/>
            </a:pPr>
            <a:r>
              <a:rPr lang="en-US" sz="1050" dirty="0">
                <a:solidFill>
                  <a:srgbClr val="D6E4F7"/>
                </a:solidFill>
              </a:rPr>
              <a:t>No built-in explainability or interpretability</a:t>
            </a:r>
            <a:endParaRPr lang="en-US" sz="1050" dirty="0"/>
          </a:p>
          <a:p>
            <a:pPr marL="342900" indent="-342900">
              <a:spcAft>
                <a:spcPts val="300"/>
              </a:spcAft>
              <a:buSzPct val="100000"/>
              <a:buChar char="•"/>
            </a:pPr>
            <a:r>
              <a:rPr lang="en-US" sz="1050" dirty="0">
                <a:solidFill>
                  <a:srgbClr val="D6E4F7"/>
                </a:solidFill>
              </a:rPr>
              <a:t>Poor cross-dataset generalization</a:t>
            </a:r>
            <a:endParaRPr lang="en-US" sz="1050" dirty="0"/>
          </a:p>
          <a:p>
            <a:pPr marL="342900" indent="-342900">
              <a:spcAft>
                <a:spcPts val="300"/>
              </a:spcAft>
              <a:buSzPct val="100000"/>
              <a:buChar char="•"/>
            </a:pPr>
            <a:r>
              <a:rPr lang="en-US" sz="1050" dirty="0">
                <a:solidFill>
                  <a:srgbClr val="D6E4F7"/>
                </a:solidFill>
              </a:rPr>
              <a:t>High false-positive rate on compressed media</a:t>
            </a:r>
            <a:endParaRPr lang="en-US" sz="1050" dirty="0"/>
          </a:p>
        </p:txBody>
      </p:sp>
      <p:sp>
        <p:nvSpPr>
          <p:cNvPr id="13" name="Shape 11"/>
          <p:cNvSpPr/>
          <p:nvPr/>
        </p:nvSpPr>
        <p:spPr>
          <a:xfrm>
            <a:off x="4754880" y="1234440"/>
            <a:ext cx="4005072" cy="1783080"/>
          </a:xfrm>
          <a:prstGeom prst="rect">
            <a:avLst/>
          </a:prstGeom>
          <a:solidFill>
            <a:srgbClr val="152B55"/>
          </a:solidFill>
          <a:ln w="8890">
            <a:solidFill>
              <a:srgbClr val="00E5A0"/>
            </a:solidFill>
            <a:prstDash val="solid"/>
          </a:ln>
          <a:effectLst>
            <a:outerShdw blurRad="101600" dist="38100" dir="8100000" algn="bl" rotWithShape="0">
              <a:srgbClr val="000000">
                <a:alpha val="28000"/>
              </a:srgbClr>
            </a:outerShdw>
          </a:effectLst>
        </p:spPr>
      </p:sp>
      <p:sp>
        <p:nvSpPr>
          <p:cNvPr id="14" name="Text 12"/>
          <p:cNvSpPr/>
          <p:nvPr/>
        </p:nvSpPr>
        <p:spPr>
          <a:xfrm>
            <a:off x="4937760" y="1371600"/>
            <a:ext cx="3657600" cy="292608"/>
          </a:xfrm>
          <a:prstGeom prst="rect">
            <a:avLst/>
          </a:prstGeom>
          <a:noFill/>
          <a:ln/>
        </p:spPr>
        <p:txBody>
          <a:bodyPr wrap="square" lIns="0" tIns="0" rIns="0" bIns="0" rtlCol="0" anchor="ctr"/>
          <a:lstStyle/>
          <a:p>
            <a:pPr marL="0" indent="0">
              <a:buNone/>
            </a:pPr>
            <a:r>
              <a:rPr lang="en-US" sz="1200" b="1" dirty="0">
                <a:solidFill>
                  <a:srgbClr val="00E5A0"/>
                </a:solidFill>
              </a:rPr>
              <a:t>Proposed System</a:t>
            </a:r>
            <a:endParaRPr lang="en-US" sz="1200" dirty="0"/>
          </a:p>
        </p:txBody>
      </p:sp>
      <p:sp>
        <p:nvSpPr>
          <p:cNvPr id="15" name="Text 13"/>
          <p:cNvSpPr/>
          <p:nvPr/>
        </p:nvSpPr>
        <p:spPr>
          <a:xfrm>
            <a:off x="4937760" y="1719072"/>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D6E4F7"/>
                </a:solidFill>
              </a:rPr>
              <a:t>Hybrid CNN + BiLSTM + ViT for spatial &amp; temporal analysis</a:t>
            </a:r>
            <a:endParaRPr lang="en-US" sz="1050" dirty="0"/>
          </a:p>
          <a:p>
            <a:pPr marL="342900" indent="-342900">
              <a:spcAft>
                <a:spcPts val="300"/>
              </a:spcAft>
              <a:buSzPct val="100000"/>
              <a:buChar char="•"/>
            </a:pPr>
            <a:r>
              <a:rPr lang="en-US" sz="1050" dirty="0">
                <a:solidFill>
                  <a:srgbClr val="D6E4F7"/>
                </a:solidFill>
              </a:rPr>
              <a:t>Grad-CAM XAI module for interpretable predictions</a:t>
            </a:r>
            <a:endParaRPr lang="en-US" sz="1050" dirty="0"/>
          </a:p>
          <a:p>
            <a:pPr marL="342900" indent="-342900">
              <a:spcAft>
                <a:spcPts val="300"/>
              </a:spcAft>
              <a:buSzPct val="100000"/>
              <a:buChar char="•"/>
            </a:pPr>
            <a:r>
              <a:rPr lang="en-US" sz="1050" dirty="0">
                <a:solidFill>
                  <a:srgbClr val="D6E4F7"/>
                </a:solidFill>
              </a:rPr>
              <a:t>Handles both image and video inputs in one pipeline</a:t>
            </a:r>
            <a:endParaRPr lang="en-US" sz="1050" dirty="0"/>
          </a:p>
          <a:p>
            <a:pPr marL="342900" indent="-342900">
              <a:spcAft>
                <a:spcPts val="300"/>
              </a:spcAft>
              <a:buSzPct val="100000"/>
              <a:buChar char="•"/>
            </a:pPr>
            <a:r>
              <a:rPr lang="en-US" sz="1050" dirty="0">
                <a:solidFill>
                  <a:srgbClr val="D6E4F7"/>
                </a:solidFill>
              </a:rPr>
              <a:t>Achieves real-time detection at 12ms per frame</a:t>
            </a:r>
            <a:endParaRPr lang="en-US" sz="1050" dirty="0"/>
          </a:p>
        </p:txBody>
      </p:sp>
      <p:sp>
        <p:nvSpPr>
          <p:cNvPr id="16" name="Shape 14"/>
          <p:cNvSpPr/>
          <p:nvPr/>
        </p:nvSpPr>
        <p:spPr>
          <a:xfrm>
            <a:off x="384048" y="3127248"/>
            <a:ext cx="4160520" cy="1719072"/>
          </a:xfrm>
          <a:prstGeom prst="rect">
            <a:avLst/>
          </a:prstGeom>
          <a:solidFill>
            <a:srgbClr val="152B55"/>
          </a:solidFill>
          <a:ln w="8890">
            <a:solidFill>
              <a:srgbClr val="00C8FF"/>
            </a:solidFill>
            <a:prstDash val="solid"/>
          </a:ln>
          <a:effectLst>
            <a:outerShdw blurRad="101600" dist="38100" dir="8100000" algn="bl" rotWithShape="0">
              <a:srgbClr val="000000">
                <a:alpha val="28000"/>
              </a:srgbClr>
            </a:outerShdw>
          </a:effectLst>
        </p:spPr>
      </p:sp>
      <p:sp>
        <p:nvSpPr>
          <p:cNvPr id="17" name="Text 15"/>
          <p:cNvSpPr/>
          <p:nvPr/>
        </p:nvSpPr>
        <p:spPr>
          <a:xfrm>
            <a:off x="566928" y="3264408"/>
            <a:ext cx="3794760" cy="292608"/>
          </a:xfrm>
          <a:prstGeom prst="rect">
            <a:avLst/>
          </a:prstGeom>
          <a:noFill/>
          <a:ln/>
        </p:spPr>
        <p:txBody>
          <a:bodyPr wrap="square" lIns="0" tIns="0" rIns="0" bIns="0" rtlCol="0" anchor="ctr"/>
          <a:lstStyle/>
          <a:p>
            <a:pPr marL="0" indent="0">
              <a:buNone/>
            </a:pPr>
            <a:r>
              <a:rPr lang="en-US" sz="1200" b="1" dirty="0">
                <a:solidFill>
                  <a:srgbClr val="00C8FF"/>
                </a:solidFill>
              </a:rPr>
              <a:t>Hardware Requirements</a:t>
            </a:r>
            <a:endParaRPr lang="en-US" sz="1200" dirty="0"/>
          </a:p>
        </p:txBody>
      </p:sp>
      <p:sp>
        <p:nvSpPr>
          <p:cNvPr id="18" name="Text 16"/>
          <p:cNvSpPr/>
          <p:nvPr/>
        </p:nvSpPr>
        <p:spPr>
          <a:xfrm>
            <a:off x="566928" y="3611880"/>
            <a:ext cx="3794760" cy="1170432"/>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D6E4F7"/>
                </a:solidFill>
              </a:rPr>
              <a:t>Processor: Intel Core i7 / AMD Ryzen 7 or higher</a:t>
            </a:r>
            <a:endParaRPr lang="en-US" sz="1050" dirty="0"/>
          </a:p>
          <a:p>
            <a:pPr marL="342900" indent="-342900">
              <a:spcAft>
                <a:spcPts val="300"/>
              </a:spcAft>
              <a:buSzPct val="100000"/>
              <a:buChar char="•"/>
            </a:pPr>
            <a:r>
              <a:rPr lang="en-US" sz="1050" dirty="0">
                <a:solidFill>
                  <a:srgbClr val="D6E4F7"/>
                </a:solidFill>
              </a:rPr>
              <a:t>RAM: 16 GB minimum (32 GB recommended)</a:t>
            </a:r>
            <a:endParaRPr lang="en-US" sz="1050" dirty="0"/>
          </a:p>
          <a:p>
            <a:pPr marL="342900" indent="-342900">
              <a:spcAft>
                <a:spcPts val="300"/>
              </a:spcAft>
              <a:buSzPct val="100000"/>
              <a:buChar char="•"/>
            </a:pPr>
            <a:r>
              <a:rPr lang="en-US" sz="1050" dirty="0">
                <a:solidFill>
                  <a:srgbClr val="D6E4F7"/>
                </a:solidFill>
              </a:rPr>
              <a:t>GPU: NVIDIA GTX 1080 / RTX 3060 (8GB VRAM)</a:t>
            </a:r>
            <a:endParaRPr lang="en-US" sz="1050" dirty="0"/>
          </a:p>
          <a:p>
            <a:pPr marL="342900" indent="-342900">
              <a:spcAft>
                <a:spcPts val="300"/>
              </a:spcAft>
              <a:buSzPct val="100000"/>
              <a:buChar char="•"/>
            </a:pPr>
            <a:r>
              <a:rPr lang="en-US" sz="1050" dirty="0">
                <a:solidFill>
                  <a:srgbClr val="D6E4F7"/>
                </a:solidFill>
              </a:rPr>
              <a:t>Storage: 100 GB SSD</a:t>
            </a:r>
            <a:endParaRPr lang="en-US" sz="1050" dirty="0"/>
          </a:p>
        </p:txBody>
      </p:sp>
      <p:sp>
        <p:nvSpPr>
          <p:cNvPr id="19" name="Shape 17"/>
          <p:cNvSpPr/>
          <p:nvPr/>
        </p:nvSpPr>
        <p:spPr>
          <a:xfrm>
            <a:off x="4754880" y="3127248"/>
            <a:ext cx="4005072" cy="1719072"/>
          </a:xfrm>
          <a:prstGeom prst="rect">
            <a:avLst/>
          </a:prstGeom>
          <a:solidFill>
            <a:srgbClr val="152B55"/>
          </a:solidFill>
          <a:ln w="8890">
            <a:solidFill>
              <a:srgbClr val="7B61FF"/>
            </a:solidFill>
            <a:prstDash val="solid"/>
          </a:ln>
          <a:effectLst>
            <a:outerShdw blurRad="101600" dist="38100" dir="8100000" algn="bl" rotWithShape="0">
              <a:srgbClr val="000000">
                <a:alpha val="28000"/>
              </a:srgbClr>
            </a:outerShdw>
          </a:effectLst>
        </p:spPr>
      </p:sp>
      <p:sp>
        <p:nvSpPr>
          <p:cNvPr id="20" name="Text 18"/>
          <p:cNvSpPr/>
          <p:nvPr/>
        </p:nvSpPr>
        <p:spPr>
          <a:xfrm>
            <a:off x="4937760" y="3264408"/>
            <a:ext cx="3657600" cy="292608"/>
          </a:xfrm>
          <a:prstGeom prst="rect">
            <a:avLst/>
          </a:prstGeom>
          <a:noFill/>
          <a:ln/>
        </p:spPr>
        <p:txBody>
          <a:bodyPr wrap="square" lIns="0" tIns="0" rIns="0" bIns="0" rtlCol="0" anchor="ctr"/>
          <a:lstStyle/>
          <a:p>
            <a:pPr marL="0" indent="0">
              <a:buNone/>
            </a:pPr>
            <a:r>
              <a:rPr lang="en-US" sz="1200" b="1" dirty="0">
                <a:solidFill>
                  <a:srgbClr val="7B61FF"/>
                </a:solidFill>
              </a:rPr>
              <a:t>Software Requirements</a:t>
            </a:r>
            <a:endParaRPr lang="en-US" sz="1200" dirty="0"/>
          </a:p>
        </p:txBody>
      </p:sp>
      <p:sp>
        <p:nvSpPr>
          <p:cNvPr id="21" name="Text 19"/>
          <p:cNvSpPr/>
          <p:nvPr/>
        </p:nvSpPr>
        <p:spPr>
          <a:xfrm>
            <a:off x="4937760" y="3611880"/>
            <a:ext cx="3657600" cy="1170432"/>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D6E4F7"/>
                </a:solidFill>
              </a:rPr>
              <a:t>OS: Ubuntu 20.04 / Windows 10+</a:t>
            </a:r>
            <a:endParaRPr lang="en-US" sz="1050" dirty="0"/>
          </a:p>
          <a:p>
            <a:pPr marL="342900" indent="-342900">
              <a:spcAft>
                <a:spcPts val="300"/>
              </a:spcAft>
              <a:buSzPct val="100000"/>
              <a:buChar char="•"/>
            </a:pPr>
            <a:r>
              <a:rPr lang="en-US" sz="1050" dirty="0">
                <a:solidFill>
                  <a:srgbClr val="D6E4F7"/>
                </a:solidFill>
              </a:rPr>
              <a:t>Language: Python 3.9+</a:t>
            </a:r>
            <a:endParaRPr lang="en-US" sz="1050" dirty="0"/>
          </a:p>
          <a:p>
            <a:pPr marL="342900" indent="-342900">
              <a:spcAft>
                <a:spcPts val="300"/>
              </a:spcAft>
              <a:buSzPct val="100000"/>
              <a:buChar char="•"/>
            </a:pPr>
            <a:r>
              <a:rPr lang="en-US" sz="1050" dirty="0">
                <a:solidFill>
                  <a:srgbClr val="D6E4F7"/>
                </a:solidFill>
              </a:rPr>
              <a:t>Frameworks: PyTorch 2.0, OpenCV, HuggingFace</a:t>
            </a:r>
            <a:endParaRPr lang="en-US" sz="1050" dirty="0"/>
          </a:p>
          <a:p>
            <a:pPr marL="342900" indent="-342900">
              <a:spcAft>
                <a:spcPts val="300"/>
              </a:spcAft>
              <a:buSzPct val="100000"/>
              <a:buChar char="•"/>
            </a:pPr>
            <a:r>
              <a:rPr lang="en-US" sz="1050" dirty="0">
                <a:solidFill>
                  <a:srgbClr val="D6E4F7"/>
                </a:solidFill>
              </a:rPr>
              <a:t>Tools: Jupyter Notebook, VS Code, Git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C8FF"/>
          </a:solidFill>
          <a:ln w="12700">
            <a:solidFill>
              <a:srgbClr val="00C8FF"/>
            </a:solidFill>
            <a:prstDash val="solid"/>
          </a:ln>
        </p:spPr>
      </p:sp>
      <p:sp>
        <p:nvSpPr>
          <p:cNvPr id="3" name="Shape 1"/>
          <p:cNvSpPr/>
          <p:nvPr/>
        </p:nvSpPr>
        <p:spPr>
          <a:xfrm>
            <a:off x="0" y="5093208"/>
            <a:ext cx="9144000" cy="50292"/>
          </a:xfrm>
          <a:prstGeom prst="rect">
            <a:avLst/>
          </a:prstGeom>
          <a:solidFill>
            <a:srgbClr val="7B61FF"/>
          </a:solidFill>
          <a:ln w="12700">
            <a:solidFill>
              <a:srgbClr val="7B61FF"/>
            </a:solidFill>
            <a:prstDash val="solid"/>
          </a:ln>
        </p:spPr>
      </p:sp>
      <p:sp>
        <p:nvSpPr>
          <p:cNvPr id="4" name="Shape 2"/>
          <p:cNvSpPr/>
          <p:nvPr/>
        </p:nvSpPr>
        <p:spPr>
          <a:xfrm>
            <a:off x="384048" y="146304"/>
            <a:ext cx="1371600" cy="246888"/>
          </a:xfrm>
          <a:prstGeom prst="rect">
            <a:avLst/>
          </a:prstGeom>
          <a:solidFill>
            <a:srgbClr val="7B61FF"/>
          </a:solidFill>
          <a:ln w="12700">
            <a:solidFill>
              <a:srgbClr val="7B61FF"/>
            </a:solidFill>
            <a:prstDash val="solid"/>
          </a:ln>
        </p:spPr>
      </p:sp>
      <p:sp>
        <p:nvSpPr>
          <p:cNvPr id="5" name="Text 3"/>
          <p:cNvSpPr/>
          <p:nvPr/>
        </p:nvSpPr>
        <p:spPr>
          <a:xfrm>
            <a:off x="384048" y="146304"/>
            <a:ext cx="1371600" cy="246888"/>
          </a:xfrm>
          <a:prstGeom prst="rect">
            <a:avLst/>
          </a:prstGeom>
          <a:noFill/>
          <a:ln/>
        </p:spPr>
        <p:txBody>
          <a:bodyPr wrap="square" lIns="0" tIns="0" rIns="0" bIns="0" rtlCol="0" anchor="ctr"/>
          <a:lstStyle/>
          <a:p>
            <a:pPr marL="0" indent="0" algn="ctr">
              <a:buNone/>
            </a:pPr>
            <a:r>
              <a:rPr lang="en-US" sz="750" b="1" kern="0" spc="150" dirty="0">
                <a:solidFill>
                  <a:srgbClr val="FFFFFF"/>
                </a:solidFill>
              </a:rPr>
              <a:t>SYSTEM DESIGN</a:t>
            </a:r>
            <a:endParaRPr lang="en-US" sz="750" dirty="0"/>
          </a:p>
        </p:txBody>
      </p:sp>
      <p:sp>
        <p:nvSpPr>
          <p:cNvPr id="6" name="Text 4"/>
          <p:cNvSpPr/>
          <p:nvPr/>
        </p:nvSpPr>
        <p:spPr>
          <a:xfrm>
            <a:off x="384048" y="475488"/>
            <a:ext cx="8412480" cy="566928"/>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System Design</a:t>
            </a:r>
            <a:endParaRPr lang="en-US" sz="2400" dirty="0"/>
          </a:p>
        </p:txBody>
      </p:sp>
      <p:sp>
        <p:nvSpPr>
          <p:cNvPr id="7" name="Shape 5"/>
          <p:cNvSpPr/>
          <p:nvPr/>
        </p:nvSpPr>
        <p:spPr>
          <a:xfrm>
            <a:off x="384048" y="1078992"/>
            <a:ext cx="502920" cy="50292"/>
          </a:xfrm>
          <a:prstGeom prst="rect">
            <a:avLst/>
          </a:prstGeom>
          <a:solidFill>
            <a:srgbClr val="00C8FF"/>
          </a:solidFill>
          <a:ln w="12700">
            <a:solidFill>
              <a:srgbClr val="00C8FF"/>
            </a:solidFill>
            <a:prstDash val="solid"/>
          </a:ln>
        </p:spPr>
      </p:sp>
      <p:sp>
        <p:nvSpPr>
          <p:cNvPr id="8" name="Shape 6"/>
          <p:cNvSpPr/>
          <p:nvPr/>
        </p:nvSpPr>
        <p:spPr>
          <a:xfrm>
            <a:off x="932688" y="1078992"/>
            <a:ext cx="7827264" cy="50292"/>
          </a:xfrm>
          <a:prstGeom prst="rect">
            <a:avLst/>
          </a:prstGeom>
          <a:solidFill>
            <a:srgbClr val="112244"/>
          </a:solidFill>
          <a:ln w="12700">
            <a:solidFill>
              <a:srgbClr val="112244"/>
            </a:solidFill>
            <a:prstDash val="solid"/>
          </a:ln>
        </p:spPr>
      </p:sp>
      <p:sp>
        <p:nvSpPr>
          <p:cNvPr id="9" name="Text 7"/>
          <p:cNvSpPr/>
          <p:nvPr/>
        </p:nvSpPr>
        <p:spPr>
          <a:xfrm>
            <a:off x="8229600" y="4828032"/>
            <a:ext cx="731520" cy="201168"/>
          </a:xfrm>
          <a:prstGeom prst="rect">
            <a:avLst/>
          </a:prstGeom>
          <a:noFill/>
          <a:ln/>
        </p:spPr>
        <p:txBody>
          <a:bodyPr wrap="square" lIns="0" tIns="0" rIns="0" bIns="0" rtlCol="0" anchor="ctr"/>
          <a:lstStyle/>
          <a:p>
            <a:pPr marL="0" indent="0" algn="r">
              <a:buNone/>
            </a:pPr>
            <a:r>
              <a:rPr lang="en-US" sz="850" dirty="0">
                <a:solidFill>
                  <a:srgbClr val="7A96BB"/>
                </a:solidFill>
              </a:rPr>
              <a:t>6 / 11</a:t>
            </a:r>
            <a:endParaRPr lang="en-US" sz="850" dirty="0"/>
          </a:p>
        </p:txBody>
      </p:sp>
      <p:sp>
        <p:nvSpPr>
          <p:cNvPr id="10" name="Text 8"/>
          <p:cNvSpPr/>
          <p:nvPr/>
        </p:nvSpPr>
        <p:spPr>
          <a:xfrm>
            <a:off x="384048" y="1207008"/>
            <a:ext cx="8375904" cy="274320"/>
          </a:xfrm>
          <a:prstGeom prst="rect">
            <a:avLst/>
          </a:prstGeom>
          <a:noFill/>
          <a:ln/>
        </p:spPr>
        <p:txBody>
          <a:bodyPr wrap="square" lIns="0" tIns="0" rIns="0" bIns="0" rtlCol="0" anchor="ctr"/>
          <a:lstStyle/>
          <a:p>
            <a:pPr marL="0" indent="0">
              <a:buNone/>
            </a:pPr>
            <a:r>
              <a:rPr lang="en-US" sz="1200" b="1" dirty="0">
                <a:solidFill>
                  <a:srgbClr val="00C8FF"/>
                </a:solidFill>
              </a:rPr>
              <a:t>System Architecture Flow</a:t>
            </a:r>
            <a:endParaRPr lang="en-US" sz="1200" dirty="0"/>
          </a:p>
        </p:txBody>
      </p:sp>
      <p:sp>
        <p:nvSpPr>
          <p:cNvPr id="11" name="Shape 9"/>
          <p:cNvSpPr/>
          <p:nvPr/>
        </p:nvSpPr>
        <p:spPr>
          <a:xfrm>
            <a:off x="274320" y="1572768"/>
            <a:ext cx="1325880" cy="914400"/>
          </a:xfrm>
          <a:prstGeom prst="rect">
            <a:avLst/>
          </a:prstGeom>
          <a:solidFill>
            <a:srgbClr val="112244"/>
          </a:solidFill>
          <a:ln w="10160">
            <a:solidFill>
              <a:srgbClr val="00C8FF"/>
            </a:solidFill>
            <a:prstDash val="solid"/>
          </a:ln>
          <a:effectLst>
            <a:outerShdw blurRad="101600" dist="38100" dir="8100000" algn="bl" rotWithShape="0">
              <a:srgbClr val="000000">
                <a:alpha val="28000"/>
              </a:srgbClr>
            </a:outerShdw>
          </a:effectLst>
        </p:spPr>
      </p:sp>
      <p:sp>
        <p:nvSpPr>
          <p:cNvPr id="12" name="Text 10"/>
          <p:cNvSpPr/>
          <p:nvPr/>
        </p:nvSpPr>
        <p:spPr>
          <a:xfrm>
            <a:off x="274320" y="1627632"/>
            <a:ext cx="1325880" cy="502920"/>
          </a:xfrm>
          <a:prstGeom prst="rect">
            <a:avLst/>
          </a:prstGeom>
          <a:noFill/>
          <a:ln/>
        </p:spPr>
        <p:txBody>
          <a:bodyPr wrap="square" lIns="0" tIns="0" rIns="0" bIns="0" rtlCol="0" anchor="ctr"/>
          <a:lstStyle/>
          <a:p>
            <a:pPr marL="0" indent="0" algn="ctr">
              <a:buNone/>
            </a:pPr>
            <a:r>
              <a:rPr lang="en-US" sz="1100" b="1" dirty="0">
                <a:solidFill>
                  <a:srgbClr val="FFFFFF"/>
                </a:solidFill>
              </a:rPr>
              <a:t>Input</a:t>
            </a:r>
            <a:endParaRPr lang="en-US" sz="1100" dirty="0"/>
          </a:p>
          <a:p>
            <a:pPr marL="0" indent="0" algn="ctr">
              <a:buNone/>
            </a:pPr>
            <a:r>
              <a:rPr lang="en-US" sz="1100" b="1" dirty="0">
                <a:solidFill>
                  <a:srgbClr val="FFFFFF"/>
                </a:solidFill>
              </a:rPr>
              <a:t>Media</a:t>
            </a:r>
            <a:endParaRPr lang="en-US" sz="1100" dirty="0"/>
          </a:p>
        </p:txBody>
      </p:sp>
      <p:sp>
        <p:nvSpPr>
          <p:cNvPr id="13" name="Text 11"/>
          <p:cNvSpPr/>
          <p:nvPr/>
        </p:nvSpPr>
        <p:spPr>
          <a:xfrm>
            <a:off x="274320" y="2139696"/>
            <a:ext cx="1325880" cy="274320"/>
          </a:xfrm>
          <a:prstGeom prst="rect">
            <a:avLst/>
          </a:prstGeom>
          <a:noFill/>
          <a:ln/>
        </p:spPr>
        <p:txBody>
          <a:bodyPr wrap="square" lIns="0" tIns="0" rIns="0" bIns="0" rtlCol="0" anchor="ctr"/>
          <a:lstStyle/>
          <a:p>
            <a:pPr marL="0" indent="0" algn="ctr">
              <a:buNone/>
            </a:pPr>
            <a:r>
              <a:rPr lang="en-US" sz="850" dirty="0">
                <a:solidFill>
                  <a:srgbClr val="00C8FF"/>
                </a:solidFill>
              </a:rPr>
              <a:t>Image/Video</a:t>
            </a:r>
            <a:endParaRPr lang="en-US" sz="850" dirty="0"/>
          </a:p>
        </p:txBody>
      </p:sp>
      <p:sp>
        <p:nvSpPr>
          <p:cNvPr id="14" name="Shape 12"/>
          <p:cNvSpPr/>
          <p:nvPr/>
        </p:nvSpPr>
        <p:spPr>
          <a:xfrm>
            <a:off x="1600200" y="2007108"/>
            <a:ext cx="91440" cy="45720"/>
          </a:xfrm>
          <a:prstGeom prst="rect">
            <a:avLst/>
          </a:prstGeom>
          <a:solidFill>
            <a:srgbClr val="00C8FF"/>
          </a:solidFill>
          <a:ln w="12700">
            <a:solidFill>
              <a:srgbClr val="00C8FF"/>
            </a:solidFill>
            <a:prstDash val="solid"/>
          </a:ln>
        </p:spPr>
      </p:sp>
      <p:sp>
        <p:nvSpPr>
          <p:cNvPr id="15" name="Shape 13"/>
          <p:cNvSpPr/>
          <p:nvPr/>
        </p:nvSpPr>
        <p:spPr>
          <a:xfrm>
            <a:off x="1691640" y="1572768"/>
            <a:ext cx="1325880" cy="914400"/>
          </a:xfrm>
          <a:prstGeom prst="rect">
            <a:avLst/>
          </a:prstGeom>
          <a:solidFill>
            <a:srgbClr val="0A3B6B"/>
          </a:solidFill>
          <a:ln w="10160">
            <a:solidFill>
              <a:srgbClr val="00C8FF"/>
            </a:solidFill>
            <a:prstDash val="solid"/>
          </a:ln>
          <a:effectLst>
            <a:outerShdw blurRad="101600" dist="38100" dir="8100000" algn="bl" rotWithShape="0">
              <a:srgbClr val="000000">
                <a:alpha val="28000"/>
              </a:srgbClr>
            </a:outerShdw>
          </a:effectLst>
        </p:spPr>
      </p:sp>
      <p:sp>
        <p:nvSpPr>
          <p:cNvPr id="16" name="Text 14"/>
          <p:cNvSpPr/>
          <p:nvPr/>
        </p:nvSpPr>
        <p:spPr>
          <a:xfrm>
            <a:off x="1691640" y="1627632"/>
            <a:ext cx="1325880" cy="502920"/>
          </a:xfrm>
          <a:prstGeom prst="rect">
            <a:avLst/>
          </a:prstGeom>
          <a:noFill/>
          <a:ln/>
        </p:spPr>
        <p:txBody>
          <a:bodyPr wrap="square" lIns="0" tIns="0" rIns="0" bIns="0" rtlCol="0" anchor="ctr"/>
          <a:lstStyle/>
          <a:p>
            <a:pPr marL="0" indent="0" algn="ctr">
              <a:buNone/>
            </a:pPr>
            <a:r>
              <a:rPr lang="en-US" sz="1100" b="1" dirty="0">
                <a:solidFill>
                  <a:srgbClr val="FFFFFF"/>
                </a:solidFill>
              </a:rPr>
              <a:t>Face</a:t>
            </a:r>
            <a:endParaRPr lang="en-US" sz="1100" dirty="0"/>
          </a:p>
          <a:p>
            <a:pPr marL="0" indent="0" algn="ctr">
              <a:buNone/>
            </a:pPr>
            <a:r>
              <a:rPr lang="en-US" sz="1100" b="1" dirty="0">
                <a:solidFill>
                  <a:srgbClr val="FFFFFF"/>
                </a:solidFill>
              </a:rPr>
              <a:t>Detection</a:t>
            </a:r>
            <a:endParaRPr lang="en-US" sz="1100" dirty="0"/>
          </a:p>
        </p:txBody>
      </p:sp>
      <p:sp>
        <p:nvSpPr>
          <p:cNvPr id="17" name="Text 15"/>
          <p:cNvSpPr/>
          <p:nvPr/>
        </p:nvSpPr>
        <p:spPr>
          <a:xfrm>
            <a:off x="1691640" y="2139696"/>
            <a:ext cx="1325880" cy="274320"/>
          </a:xfrm>
          <a:prstGeom prst="rect">
            <a:avLst/>
          </a:prstGeom>
          <a:noFill/>
          <a:ln/>
        </p:spPr>
        <p:txBody>
          <a:bodyPr wrap="square" lIns="0" tIns="0" rIns="0" bIns="0" rtlCol="0" anchor="ctr"/>
          <a:lstStyle/>
          <a:p>
            <a:pPr marL="0" indent="0" algn="ctr">
              <a:buNone/>
            </a:pPr>
            <a:r>
              <a:rPr lang="en-US" sz="850" dirty="0">
                <a:solidFill>
                  <a:srgbClr val="00C8FF"/>
                </a:solidFill>
              </a:rPr>
              <a:t>MTCNN</a:t>
            </a:r>
            <a:endParaRPr lang="en-US" sz="850" dirty="0"/>
          </a:p>
        </p:txBody>
      </p:sp>
      <p:sp>
        <p:nvSpPr>
          <p:cNvPr id="18" name="Shape 16"/>
          <p:cNvSpPr/>
          <p:nvPr/>
        </p:nvSpPr>
        <p:spPr>
          <a:xfrm>
            <a:off x="3017520" y="2007108"/>
            <a:ext cx="91440" cy="45720"/>
          </a:xfrm>
          <a:prstGeom prst="rect">
            <a:avLst/>
          </a:prstGeom>
          <a:solidFill>
            <a:srgbClr val="00C8FF"/>
          </a:solidFill>
          <a:ln w="12700">
            <a:solidFill>
              <a:srgbClr val="00C8FF"/>
            </a:solidFill>
            <a:prstDash val="solid"/>
          </a:ln>
        </p:spPr>
      </p:sp>
      <p:sp>
        <p:nvSpPr>
          <p:cNvPr id="19" name="Shape 17"/>
          <p:cNvSpPr/>
          <p:nvPr/>
        </p:nvSpPr>
        <p:spPr>
          <a:xfrm>
            <a:off x="3108960" y="1572768"/>
            <a:ext cx="1325880" cy="914400"/>
          </a:xfrm>
          <a:prstGeom prst="rect">
            <a:avLst/>
          </a:prstGeom>
          <a:solidFill>
            <a:srgbClr val="1A2A70"/>
          </a:solidFill>
          <a:ln w="10160">
            <a:solidFill>
              <a:srgbClr val="00C8FF"/>
            </a:solidFill>
            <a:prstDash val="solid"/>
          </a:ln>
          <a:effectLst>
            <a:outerShdw blurRad="101600" dist="38100" dir="8100000" algn="bl" rotWithShape="0">
              <a:srgbClr val="000000">
                <a:alpha val="28000"/>
              </a:srgbClr>
            </a:outerShdw>
          </a:effectLst>
        </p:spPr>
      </p:sp>
      <p:sp>
        <p:nvSpPr>
          <p:cNvPr id="20" name="Text 18"/>
          <p:cNvSpPr/>
          <p:nvPr/>
        </p:nvSpPr>
        <p:spPr>
          <a:xfrm>
            <a:off x="3108960" y="1627632"/>
            <a:ext cx="1325880" cy="502920"/>
          </a:xfrm>
          <a:prstGeom prst="rect">
            <a:avLst/>
          </a:prstGeom>
          <a:noFill/>
          <a:ln/>
        </p:spPr>
        <p:txBody>
          <a:bodyPr wrap="square" lIns="0" tIns="0" rIns="0" bIns="0" rtlCol="0" anchor="ctr"/>
          <a:lstStyle/>
          <a:p>
            <a:pPr marL="0" indent="0" algn="ctr">
              <a:buNone/>
            </a:pPr>
            <a:r>
              <a:rPr lang="en-US" sz="1100" b="1" dirty="0">
                <a:solidFill>
                  <a:srgbClr val="FFFFFF"/>
                </a:solidFill>
              </a:rPr>
              <a:t>CNN</a:t>
            </a:r>
            <a:endParaRPr lang="en-US" sz="1100" dirty="0"/>
          </a:p>
          <a:p>
            <a:pPr marL="0" indent="0" algn="ctr">
              <a:buNone/>
            </a:pPr>
            <a:r>
              <a:rPr lang="en-US" sz="1100" b="1" dirty="0">
                <a:solidFill>
                  <a:srgbClr val="FFFFFF"/>
                </a:solidFill>
              </a:rPr>
              <a:t>Encoder</a:t>
            </a:r>
            <a:endParaRPr lang="en-US" sz="1100" dirty="0"/>
          </a:p>
        </p:txBody>
      </p:sp>
      <p:sp>
        <p:nvSpPr>
          <p:cNvPr id="21" name="Text 19"/>
          <p:cNvSpPr/>
          <p:nvPr/>
        </p:nvSpPr>
        <p:spPr>
          <a:xfrm>
            <a:off x="3108960" y="2139696"/>
            <a:ext cx="1325880" cy="274320"/>
          </a:xfrm>
          <a:prstGeom prst="rect">
            <a:avLst/>
          </a:prstGeom>
          <a:noFill/>
          <a:ln/>
        </p:spPr>
        <p:txBody>
          <a:bodyPr wrap="square" lIns="0" tIns="0" rIns="0" bIns="0" rtlCol="0" anchor="ctr"/>
          <a:lstStyle/>
          <a:p>
            <a:pPr marL="0" indent="0" algn="ctr">
              <a:buNone/>
            </a:pPr>
            <a:r>
              <a:rPr lang="en-US" sz="850" dirty="0">
                <a:solidFill>
                  <a:srgbClr val="00C8FF"/>
                </a:solidFill>
              </a:rPr>
              <a:t>EfficientNet-B4</a:t>
            </a:r>
            <a:endParaRPr lang="en-US" sz="850" dirty="0"/>
          </a:p>
        </p:txBody>
      </p:sp>
      <p:sp>
        <p:nvSpPr>
          <p:cNvPr id="22" name="Shape 20"/>
          <p:cNvSpPr/>
          <p:nvPr/>
        </p:nvSpPr>
        <p:spPr>
          <a:xfrm>
            <a:off x="4434840" y="2007108"/>
            <a:ext cx="91440" cy="45720"/>
          </a:xfrm>
          <a:prstGeom prst="rect">
            <a:avLst/>
          </a:prstGeom>
          <a:solidFill>
            <a:srgbClr val="00C8FF"/>
          </a:solidFill>
          <a:ln w="12700">
            <a:solidFill>
              <a:srgbClr val="00C8FF"/>
            </a:solidFill>
            <a:prstDash val="solid"/>
          </a:ln>
        </p:spPr>
      </p:sp>
      <p:sp>
        <p:nvSpPr>
          <p:cNvPr id="23" name="Shape 21"/>
          <p:cNvSpPr/>
          <p:nvPr/>
        </p:nvSpPr>
        <p:spPr>
          <a:xfrm>
            <a:off x="4526280" y="1572768"/>
            <a:ext cx="1325880" cy="914400"/>
          </a:xfrm>
          <a:prstGeom prst="rect">
            <a:avLst/>
          </a:prstGeom>
          <a:solidFill>
            <a:srgbClr val="2A1B6B"/>
          </a:solidFill>
          <a:ln w="10160">
            <a:solidFill>
              <a:srgbClr val="00C8FF"/>
            </a:solidFill>
            <a:prstDash val="solid"/>
          </a:ln>
          <a:effectLst>
            <a:outerShdw blurRad="101600" dist="38100" dir="8100000" algn="bl" rotWithShape="0">
              <a:srgbClr val="000000">
                <a:alpha val="28000"/>
              </a:srgbClr>
            </a:outerShdw>
          </a:effectLst>
        </p:spPr>
      </p:sp>
      <p:sp>
        <p:nvSpPr>
          <p:cNvPr id="24" name="Text 22"/>
          <p:cNvSpPr/>
          <p:nvPr/>
        </p:nvSpPr>
        <p:spPr>
          <a:xfrm>
            <a:off x="4526280" y="1627632"/>
            <a:ext cx="1325880" cy="502920"/>
          </a:xfrm>
          <a:prstGeom prst="rect">
            <a:avLst/>
          </a:prstGeom>
          <a:noFill/>
          <a:ln/>
        </p:spPr>
        <p:txBody>
          <a:bodyPr wrap="square" lIns="0" tIns="0" rIns="0" bIns="0" rtlCol="0" anchor="ctr"/>
          <a:lstStyle/>
          <a:p>
            <a:pPr marL="0" indent="0" algn="ctr">
              <a:buNone/>
            </a:pPr>
            <a:r>
              <a:rPr lang="en-US" sz="1100" b="1" dirty="0">
                <a:solidFill>
                  <a:srgbClr val="FFFFFF"/>
                </a:solidFill>
              </a:rPr>
              <a:t>BiLSTM</a:t>
            </a:r>
            <a:endParaRPr lang="en-US" sz="1100" dirty="0"/>
          </a:p>
          <a:p>
            <a:pPr marL="0" indent="0" algn="ctr">
              <a:buNone/>
            </a:pPr>
            <a:r>
              <a:rPr lang="en-US" sz="1100" b="1" dirty="0">
                <a:solidFill>
                  <a:srgbClr val="FFFFFF"/>
                </a:solidFill>
              </a:rPr>
              <a:t>Module</a:t>
            </a:r>
            <a:endParaRPr lang="en-US" sz="1100" dirty="0"/>
          </a:p>
        </p:txBody>
      </p:sp>
      <p:sp>
        <p:nvSpPr>
          <p:cNvPr id="25" name="Text 23"/>
          <p:cNvSpPr/>
          <p:nvPr/>
        </p:nvSpPr>
        <p:spPr>
          <a:xfrm>
            <a:off x="4526280" y="2139696"/>
            <a:ext cx="1325880" cy="274320"/>
          </a:xfrm>
          <a:prstGeom prst="rect">
            <a:avLst/>
          </a:prstGeom>
          <a:noFill/>
          <a:ln/>
        </p:spPr>
        <p:txBody>
          <a:bodyPr wrap="square" lIns="0" tIns="0" rIns="0" bIns="0" rtlCol="0" anchor="ctr"/>
          <a:lstStyle/>
          <a:p>
            <a:pPr marL="0" indent="0" algn="ctr">
              <a:buNone/>
            </a:pPr>
            <a:r>
              <a:rPr lang="en-US" sz="850" dirty="0">
                <a:solidFill>
                  <a:srgbClr val="00C8FF"/>
                </a:solidFill>
              </a:rPr>
              <a:t>Temporal Seq.</a:t>
            </a:r>
            <a:endParaRPr lang="en-US" sz="850" dirty="0"/>
          </a:p>
        </p:txBody>
      </p:sp>
      <p:sp>
        <p:nvSpPr>
          <p:cNvPr id="26" name="Shape 24"/>
          <p:cNvSpPr/>
          <p:nvPr/>
        </p:nvSpPr>
        <p:spPr>
          <a:xfrm>
            <a:off x="5852160" y="2007108"/>
            <a:ext cx="91440" cy="45720"/>
          </a:xfrm>
          <a:prstGeom prst="rect">
            <a:avLst/>
          </a:prstGeom>
          <a:solidFill>
            <a:srgbClr val="00C8FF"/>
          </a:solidFill>
          <a:ln w="12700">
            <a:solidFill>
              <a:srgbClr val="00C8FF"/>
            </a:solidFill>
            <a:prstDash val="solid"/>
          </a:ln>
        </p:spPr>
      </p:sp>
      <p:sp>
        <p:nvSpPr>
          <p:cNvPr id="27" name="Shape 25"/>
          <p:cNvSpPr/>
          <p:nvPr/>
        </p:nvSpPr>
        <p:spPr>
          <a:xfrm>
            <a:off x="5943600" y="1572768"/>
            <a:ext cx="1325880" cy="914400"/>
          </a:xfrm>
          <a:prstGeom prst="rect">
            <a:avLst/>
          </a:prstGeom>
          <a:solidFill>
            <a:srgbClr val="3A0F5F"/>
          </a:solidFill>
          <a:ln w="10160">
            <a:solidFill>
              <a:srgbClr val="00C8FF"/>
            </a:solidFill>
            <a:prstDash val="solid"/>
          </a:ln>
          <a:effectLst>
            <a:outerShdw blurRad="101600" dist="38100" dir="8100000" algn="bl" rotWithShape="0">
              <a:srgbClr val="000000">
                <a:alpha val="28000"/>
              </a:srgbClr>
            </a:outerShdw>
          </a:effectLst>
        </p:spPr>
      </p:sp>
      <p:sp>
        <p:nvSpPr>
          <p:cNvPr id="28" name="Text 26"/>
          <p:cNvSpPr/>
          <p:nvPr/>
        </p:nvSpPr>
        <p:spPr>
          <a:xfrm>
            <a:off x="5943600" y="1627632"/>
            <a:ext cx="1325880" cy="502920"/>
          </a:xfrm>
          <a:prstGeom prst="rect">
            <a:avLst/>
          </a:prstGeom>
          <a:noFill/>
          <a:ln/>
        </p:spPr>
        <p:txBody>
          <a:bodyPr wrap="square" lIns="0" tIns="0" rIns="0" bIns="0" rtlCol="0" anchor="ctr"/>
          <a:lstStyle/>
          <a:p>
            <a:pPr marL="0" indent="0" algn="ctr">
              <a:buNone/>
            </a:pPr>
            <a:r>
              <a:rPr lang="en-US" sz="1100" b="1" dirty="0">
                <a:solidFill>
                  <a:srgbClr val="FFFFFF"/>
                </a:solidFill>
              </a:rPr>
              <a:t>ViT</a:t>
            </a:r>
            <a:endParaRPr lang="en-US" sz="1100" dirty="0"/>
          </a:p>
          <a:p>
            <a:pPr marL="0" indent="0" algn="ctr">
              <a:buNone/>
            </a:pPr>
            <a:r>
              <a:rPr lang="en-US" sz="1100" b="1" dirty="0">
                <a:solidFill>
                  <a:srgbClr val="FFFFFF"/>
                </a:solidFill>
              </a:rPr>
              <a:t>Attention</a:t>
            </a:r>
            <a:endParaRPr lang="en-US" sz="1100" dirty="0"/>
          </a:p>
        </p:txBody>
      </p:sp>
      <p:sp>
        <p:nvSpPr>
          <p:cNvPr id="29" name="Text 27"/>
          <p:cNvSpPr/>
          <p:nvPr/>
        </p:nvSpPr>
        <p:spPr>
          <a:xfrm>
            <a:off x="5943600" y="2139696"/>
            <a:ext cx="1325880" cy="274320"/>
          </a:xfrm>
          <a:prstGeom prst="rect">
            <a:avLst/>
          </a:prstGeom>
          <a:noFill/>
          <a:ln/>
        </p:spPr>
        <p:txBody>
          <a:bodyPr wrap="square" lIns="0" tIns="0" rIns="0" bIns="0" rtlCol="0" anchor="ctr"/>
          <a:lstStyle/>
          <a:p>
            <a:pPr marL="0" indent="0" algn="ctr">
              <a:buNone/>
            </a:pPr>
            <a:r>
              <a:rPr lang="en-US" sz="850" dirty="0">
                <a:solidFill>
                  <a:srgbClr val="00C8FF"/>
                </a:solidFill>
              </a:rPr>
              <a:t>Patch Tokens</a:t>
            </a:r>
            <a:endParaRPr lang="en-US" sz="850" dirty="0"/>
          </a:p>
        </p:txBody>
      </p:sp>
      <p:sp>
        <p:nvSpPr>
          <p:cNvPr id="30" name="Shape 28"/>
          <p:cNvSpPr/>
          <p:nvPr/>
        </p:nvSpPr>
        <p:spPr>
          <a:xfrm>
            <a:off x="7269480" y="2007108"/>
            <a:ext cx="91440" cy="45720"/>
          </a:xfrm>
          <a:prstGeom prst="rect">
            <a:avLst/>
          </a:prstGeom>
          <a:solidFill>
            <a:srgbClr val="00C8FF"/>
          </a:solidFill>
          <a:ln w="12700">
            <a:solidFill>
              <a:srgbClr val="00C8FF"/>
            </a:solidFill>
            <a:prstDash val="solid"/>
          </a:ln>
        </p:spPr>
      </p:sp>
      <p:sp>
        <p:nvSpPr>
          <p:cNvPr id="31" name="Shape 29"/>
          <p:cNvSpPr/>
          <p:nvPr/>
        </p:nvSpPr>
        <p:spPr>
          <a:xfrm>
            <a:off x="7360920" y="1572768"/>
            <a:ext cx="1325880" cy="914400"/>
          </a:xfrm>
          <a:prstGeom prst="rect">
            <a:avLst/>
          </a:prstGeom>
          <a:solidFill>
            <a:srgbClr val="4A0040"/>
          </a:solidFill>
          <a:ln w="10160">
            <a:solidFill>
              <a:srgbClr val="00C8FF"/>
            </a:solidFill>
            <a:prstDash val="solid"/>
          </a:ln>
          <a:effectLst>
            <a:outerShdw blurRad="101600" dist="38100" dir="8100000" algn="bl" rotWithShape="0">
              <a:srgbClr val="000000">
                <a:alpha val="28000"/>
              </a:srgbClr>
            </a:outerShdw>
          </a:effectLst>
        </p:spPr>
      </p:sp>
      <p:sp>
        <p:nvSpPr>
          <p:cNvPr id="32" name="Text 30"/>
          <p:cNvSpPr/>
          <p:nvPr/>
        </p:nvSpPr>
        <p:spPr>
          <a:xfrm>
            <a:off x="7360920" y="1627632"/>
            <a:ext cx="1325880" cy="502920"/>
          </a:xfrm>
          <a:prstGeom prst="rect">
            <a:avLst/>
          </a:prstGeom>
          <a:noFill/>
          <a:ln/>
        </p:spPr>
        <p:txBody>
          <a:bodyPr wrap="square" lIns="0" tIns="0" rIns="0" bIns="0" rtlCol="0" anchor="ctr"/>
          <a:lstStyle/>
          <a:p>
            <a:pPr marL="0" indent="0" algn="ctr">
              <a:buNone/>
            </a:pPr>
            <a:r>
              <a:rPr lang="en-US" sz="1100" b="1" dirty="0">
                <a:solidFill>
                  <a:srgbClr val="FFFFFF"/>
                </a:solidFill>
              </a:rPr>
              <a:t>Classifier</a:t>
            </a:r>
            <a:endParaRPr lang="en-US" sz="1100" dirty="0"/>
          </a:p>
          <a:p>
            <a:pPr marL="0" indent="0" algn="ctr">
              <a:buNone/>
            </a:pPr>
            <a:r>
              <a:rPr lang="en-US" sz="1100" b="1" dirty="0">
                <a:solidFill>
                  <a:srgbClr val="FFFFFF"/>
                </a:solidFill>
              </a:rPr>
              <a:t>+XAI</a:t>
            </a:r>
            <a:endParaRPr lang="en-US" sz="1100" dirty="0"/>
          </a:p>
        </p:txBody>
      </p:sp>
      <p:sp>
        <p:nvSpPr>
          <p:cNvPr id="33" name="Text 31"/>
          <p:cNvSpPr/>
          <p:nvPr/>
        </p:nvSpPr>
        <p:spPr>
          <a:xfrm>
            <a:off x="7360920" y="2139696"/>
            <a:ext cx="1325880" cy="274320"/>
          </a:xfrm>
          <a:prstGeom prst="rect">
            <a:avLst/>
          </a:prstGeom>
          <a:noFill/>
          <a:ln/>
        </p:spPr>
        <p:txBody>
          <a:bodyPr wrap="square" lIns="0" tIns="0" rIns="0" bIns="0" rtlCol="0" anchor="ctr"/>
          <a:lstStyle/>
          <a:p>
            <a:pPr marL="0" indent="0" algn="ctr">
              <a:buNone/>
            </a:pPr>
            <a:r>
              <a:rPr lang="en-US" sz="850" dirty="0">
                <a:solidFill>
                  <a:srgbClr val="00C8FF"/>
                </a:solidFill>
              </a:rPr>
              <a:t>Real/Fake+Grad-CAM</a:t>
            </a:r>
            <a:endParaRPr lang="en-US" sz="850" dirty="0"/>
          </a:p>
        </p:txBody>
      </p:sp>
      <p:sp>
        <p:nvSpPr>
          <p:cNvPr id="34" name="Text 32"/>
          <p:cNvSpPr/>
          <p:nvPr/>
        </p:nvSpPr>
        <p:spPr>
          <a:xfrm>
            <a:off x="384048" y="2651760"/>
            <a:ext cx="8375904" cy="274320"/>
          </a:xfrm>
          <a:prstGeom prst="rect">
            <a:avLst/>
          </a:prstGeom>
          <a:noFill/>
          <a:ln/>
        </p:spPr>
        <p:txBody>
          <a:bodyPr wrap="square" lIns="0" tIns="0" rIns="0" bIns="0" rtlCol="0" anchor="ctr"/>
          <a:lstStyle/>
          <a:p>
            <a:pPr marL="0" indent="0">
              <a:buNone/>
            </a:pPr>
            <a:r>
              <a:rPr lang="en-US" sz="1200" b="1" dirty="0">
                <a:solidFill>
                  <a:srgbClr val="00C8FF"/>
                </a:solidFill>
              </a:rPr>
              <a:t>Key Modules</a:t>
            </a:r>
            <a:endParaRPr lang="en-US" sz="1200" dirty="0"/>
          </a:p>
        </p:txBody>
      </p:sp>
      <p:sp>
        <p:nvSpPr>
          <p:cNvPr id="35" name="Shape 33"/>
          <p:cNvSpPr/>
          <p:nvPr/>
        </p:nvSpPr>
        <p:spPr>
          <a:xfrm>
            <a:off x="384048" y="2999232"/>
            <a:ext cx="2057400" cy="1828800"/>
          </a:xfrm>
          <a:prstGeom prst="rect">
            <a:avLst/>
          </a:prstGeom>
          <a:solidFill>
            <a:srgbClr val="152B55"/>
          </a:solidFill>
          <a:ln w="8890">
            <a:solidFill>
              <a:srgbClr val="00C8FF"/>
            </a:solidFill>
            <a:prstDash val="solid"/>
          </a:ln>
          <a:effectLst>
            <a:outerShdw blurRad="101600" dist="38100" dir="8100000" algn="bl" rotWithShape="0">
              <a:srgbClr val="000000">
                <a:alpha val="28000"/>
              </a:srgbClr>
            </a:outerShdw>
          </a:effectLst>
        </p:spPr>
      </p:sp>
      <p:sp>
        <p:nvSpPr>
          <p:cNvPr id="36" name="Text 34"/>
          <p:cNvSpPr/>
          <p:nvPr/>
        </p:nvSpPr>
        <p:spPr>
          <a:xfrm>
            <a:off x="475488" y="3090672"/>
            <a:ext cx="1874520" cy="292608"/>
          </a:xfrm>
          <a:prstGeom prst="rect">
            <a:avLst/>
          </a:prstGeom>
          <a:noFill/>
          <a:ln/>
        </p:spPr>
        <p:txBody>
          <a:bodyPr wrap="square" lIns="0" tIns="0" rIns="0" bIns="0" rtlCol="0" anchor="ctr"/>
          <a:lstStyle/>
          <a:p>
            <a:pPr marL="0" indent="0">
              <a:buNone/>
            </a:pPr>
            <a:r>
              <a:rPr lang="en-US" sz="1000" b="1" dirty="0">
                <a:solidFill>
                  <a:srgbClr val="00C8FF"/>
                </a:solidFill>
              </a:rPr>
              <a:t>Pre-processing</a:t>
            </a:r>
            <a:endParaRPr lang="en-US" sz="1000" dirty="0"/>
          </a:p>
        </p:txBody>
      </p:sp>
      <p:sp>
        <p:nvSpPr>
          <p:cNvPr id="37" name="Text 35"/>
          <p:cNvSpPr/>
          <p:nvPr/>
        </p:nvSpPr>
        <p:spPr>
          <a:xfrm>
            <a:off x="475488" y="3419856"/>
            <a:ext cx="1874520" cy="1325880"/>
          </a:xfrm>
          <a:prstGeom prst="rect">
            <a:avLst/>
          </a:prstGeom>
          <a:noFill/>
          <a:ln/>
        </p:spPr>
        <p:txBody>
          <a:bodyPr wrap="square" lIns="0" tIns="0" rIns="0" bIns="0" rtlCol="0" anchor="ctr"/>
          <a:lstStyle/>
          <a:p>
            <a:pPr marL="0" indent="0">
              <a:buNone/>
            </a:pPr>
            <a:r>
              <a:rPr lang="en-US" sz="950" dirty="0">
                <a:solidFill>
                  <a:srgbClr val="D6E4F7"/>
                </a:solidFill>
              </a:rPr>
              <a:t>Face detection using MTCNN, frame sampling at 10 FPS, normalization &amp; augmentation</a:t>
            </a:r>
            <a:endParaRPr lang="en-US" sz="950" dirty="0"/>
          </a:p>
        </p:txBody>
      </p:sp>
      <p:sp>
        <p:nvSpPr>
          <p:cNvPr id="38" name="Shape 36"/>
          <p:cNvSpPr/>
          <p:nvPr/>
        </p:nvSpPr>
        <p:spPr>
          <a:xfrm>
            <a:off x="2596896" y="2999232"/>
            <a:ext cx="2057400" cy="1828800"/>
          </a:xfrm>
          <a:prstGeom prst="rect">
            <a:avLst/>
          </a:prstGeom>
          <a:solidFill>
            <a:srgbClr val="152B55"/>
          </a:solidFill>
          <a:ln w="8890">
            <a:solidFill>
              <a:srgbClr val="00E5A0"/>
            </a:solidFill>
            <a:prstDash val="solid"/>
          </a:ln>
          <a:effectLst>
            <a:outerShdw blurRad="101600" dist="38100" dir="8100000" algn="bl" rotWithShape="0">
              <a:srgbClr val="000000">
                <a:alpha val="28000"/>
              </a:srgbClr>
            </a:outerShdw>
          </a:effectLst>
        </p:spPr>
      </p:sp>
      <p:sp>
        <p:nvSpPr>
          <p:cNvPr id="39" name="Text 37"/>
          <p:cNvSpPr/>
          <p:nvPr/>
        </p:nvSpPr>
        <p:spPr>
          <a:xfrm>
            <a:off x="2688336" y="3090672"/>
            <a:ext cx="1874520" cy="292608"/>
          </a:xfrm>
          <a:prstGeom prst="rect">
            <a:avLst/>
          </a:prstGeom>
          <a:noFill/>
          <a:ln/>
        </p:spPr>
        <p:txBody>
          <a:bodyPr wrap="square" lIns="0" tIns="0" rIns="0" bIns="0" rtlCol="0" anchor="ctr"/>
          <a:lstStyle/>
          <a:p>
            <a:pPr marL="0" indent="0">
              <a:buNone/>
            </a:pPr>
            <a:r>
              <a:rPr lang="en-US" sz="1000" b="1" dirty="0">
                <a:solidFill>
                  <a:srgbClr val="00E5A0"/>
                </a:solidFill>
              </a:rPr>
              <a:t>Feature Extraction</a:t>
            </a:r>
            <a:endParaRPr lang="en-US" sz="1000" dirty="0"/>
          </a:p>
        </p:txBody>
      </p:sp>
      <p:sp>
        <p:nvSpPr>
          <p:cNvPr id="40" name="Text 38"/>
          <p:cNvSpPr/>
          <p:nvPr/>
        </p:nvSpPr>
        <p:spPr>
          <a:xfrm>
            <a:off x="2688336" y="3419856"/>
            <a:ext cx="1874520" cy="1325880"/>
          </a:xfrm>
          <a:prstGeom prst="rect">
            <a:avLst/>
          </a:prstGeom>
          <a:noFill/>
          <a:ln/>
        </p:spPr>
        <p:txBody>
          <a:bodyPr wrap="square" lIns="0" tIns="0" rIns="0" bIns="0" rtlCol="0" anchor="ctr"/>
          <a:lstStyle/>
          <a:p>
            <a:pPr marL="0" indent="0">
              <a:buNone/>
            </a:pPr>
            <a:r>
              <a:rPr lang="en-US" sz="950" dirty="0">
                <a:solidFill>
                  <a:srgbClr val="D6E4F7"/>
                </a:solidFill>
              </a:rPr>
              <a:t>Multi-scale CNN extracts spatial artifacts; BiLSTM encodes temporal sequences of T=16 frames</a:t>
            </a:r>
            <a:endParaRPr lang="en-US" sz="950" dirty="0"/>
          </a:p>
        </p:txBody>
      </p:sp>
      <p:sp>
        <p:nvSpPr>
          <p:cNvPr id="41" name="Shape 39"/>
          <p:cNvSpPr/>
          <p:nvPr/>
        </p:nvSpPr>
        <p:spPr>
          <a:xfrm>
            <a:off x="4809744" y="2999232"/>
            <a:ext cx="2057400" cy="1828800"/>
          </a:xfrm>
          <a:prstGeom prst="rect">
            <a:avLst/>
          </a:prstGeom>
          <a:solidFill>
            <a:srgbClr val="152B55"/>
          </a:solidFill>
          <a:ln w="8890">
            <a:solidFill>
              <a:srgbClr val="FFD166"/>
            </a:solidFill>
            <a:prstDash val="solid"/>
          </a:ln>
          <a:effectLst>
            <a:outerShdw blurRad="101600" dist="38100" dir="8100000" algn="bl" rotWithShape="0">
              <a:srgbClr val="000000">
                <a:alpha val="28000"/>
              </a:srgbClr>
            </a:outerShdw>
          </a:effectLst>
        </p:spPr>
      </p:sp>
      <p:sp>
        <p:nvSpPr>
          <p:cNvPr id="42" name="Text 40"/>
          <p:cNvSpPr/>
          <p:nvPr/>
        </p:nvSpPr>
        <p:spPr>
          <a:xfrm>
            <a:off x="4901184" y="3090672"/>
            <a:ext cx="1874520" cy="292608"/>
          </a:xfrm>
          <a:prstGeom prst="rect">
            <a:avLst/>
          </a:prstGeom>
          <a:noFill/>
          <a:ln/>
        </p:spPr>
        <p:txBody>
          <a:bodyPr wrap="square" lIns="0" tIns="0" rIns="0" bIns="0" rtlCol="0" anchor="ctr"/>
          <a:lstStyle/>
          <a:p>
            <a:pPr marL="0" indent="0">
              <a:buNone/>
            </a:pPr>
            <a:r>
              <a:rPr lang="en-US" sz="1000" b="1" dirty="0">
                <a:solidFill>
                  <a:srgbClr val="FFD166"/>
                </a:solidFill>
              </a:rPr>
              <a:t>ViT Attention</a:t>
            </a:r>
            <a:endParaRPr lang="en-US" sz="1000" dirty="0"/>
          </a:p>
        </p:txBody>
      </p:sp>
      <p:sp>
        <p:nvSpPr>
          <p:cNvPr id="43" name="Text 41"/>
          <p:cNvSpPr/>
          <p:nvPr/>
        </p:nvSpPr>
        <p:spPr>
          <a:xfrm>
            <a:off x="4901184" y="3419856"/>
            <a:ext cx="1874520" cy="1325880"/>
          </a:xfrm>
          <a:prstGeom prst="rect">
            <a:avLst/>
          </a:prstGeom>
          <a:noFill/>
          <a:ln/>
        </p:spPr>
        <p:txBody>
          <a:bodyPr wrap="square" lIns="0" tIns="0" rIns="0" bIns="0" rtlCol="0" anchor="ctr"/>
          <a:lstStyle/>
          <a:p>
            <a:pPr marL="0" indent="0">
              <a:buNone/>
            </a:pPr>
            <a:r>
              <a:rPr lang="en-US" sz="950" dirty="0">
                <a:solidFill>
                  <a:srgbClr val="D6E4F7"/>
                </a:solidFill>
              </a:rPr>
              <a:t>Image split into 16×16 patches; multi-head self-attention across patch tokens for global context</a:t>
            </a:r>
            <a:endParaRPr lang="en-US" sz="950" dirty="0"/>
          </a:p>
        </p:txBody>
      </p:sp>
      <p:sp>
        <p:nvSpPr>
          <p:cNvPr id="44" name="Shape 42"/>
          <p:cNvSpPr/>
          <p:nvPr/>
        </p:nvSpPr>
        <p:spPr>
          <a:xfrm>
            <a:off x="7022592" y="2999232"/>
            <a:ext cx="2057400" cy="1828800"/>
          </a:xfrm>
          <a:prstGeom prst="rect">
            <a:avLst/>
          </a:prstGeom>
          <a:solidFill>
            <a:srgbClr val="152B55"/>
          </a:solidFill>
          <a:ln w="8890">
            <a:solidFill>
              <a:srgbClr val="7B61FF"/>
            </a:solidFill>
            <a:prstDash val="solid"/>
          </a:ln>
          <a:effectLst>
            <a:outerShdw blurRad="101600" dist="38100" dir="8100000" algn="bl" rotWithShape="0">
              <a:srgbClr val="000000">
                <a:alpha val="28000"/>
              </a:srgbClr>
            </a:outerShdw>
          </a:effectLst>
        </p:spPr>
      </p:sp>
      <p:sp>
        <p:nvSpPr>
          <p:cNvPr id="45" name="Text 43"/>
          <p:cNvSpPr/>
          <p:nvPr/>
        </p:nvSpPr>
        <p:spPr>
          <a:xfrm>
            <a:off x="7114032" y="3090672"/>
            <a:ext cx="1874520" cy="292608"/>
          </a:xfrm>
          <a:prstGeom prst="rect">
            <a:avLst/>
          </a:prstGeom>
          <a:noFill/>
          <a:ln/>
        </p:spPr>
        <p:txBody>
          <a:bodyPr wrap="square" lIns="0" tIns="0" rIns="0" bIns="0" rtlCol="0" anchor="ctr"/>
          <a:lstStyle/>
          <a:p>
            <a:pPr marL="0" indent="0">
              <a:buNone/>
            </a:pPr>
            <a:r>
              <a:rPr lang="en-US" sz="1000" b="1" dirty="0">
                <a:solidFill>
                  <a:srgbClr val="7B61FF"/>
                </a:solidFill>
              </a:rPr>
              <a:t>XAI Output</a:t>
            </a:r>
            <a:endParaRPr lang="en-US" sz="1000" dirty="0"/>
          </a:p>
        </p:txBody>
      </p:sp>
      <p:sp>
        <p:nvSpPr>
          <p:cNvPr id="46" name="Text 44"/>
          <p:cNvSpPr/>
          <p:nvPr/>
        </p:nvSpPr>
        <p:spPr>
          <a:xfrm>
            <a:off x="7114032" y="3419856"/>
            <a:ext cx="1874520" cy="1325880"/>
          </a:xfrm>
          <a:prstGeom prst="rect">
            <a:avLst/>
          </a:prstGeom>
          <a:noFill/>
          <a:ln/>
        </p:spPr>
        <p:txBody>
          <a:bodyPr wrap="square" lIns="0" tIns="0" rIns="0" bIns="0" rtlCol="0" anchor="ctr"/>
          <a:lstStyle/>
          <a:p>
            <a:pPr marL="0" indent="0">
              <a:buNone/>
            </a:pPr>
            <a:r>
              <a:rPr lang="en-US" sz="950" dirty="0">
                <a:solidFill>
                  <a:srgbClr val="D6E4F7"/>
                </a:solidFill>
              </a:rPr>
              <a:t>Grad-CAM generates class activation maps highlighting manipulated facial regions with confidence scores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C8FF"/>
          </a:solidFill>
          <a:ln w="12700">
            <a:solidFill>
              <a:srgbClr val="00C8FF"/>
            </a:solidFill>
            <a:prstDash val="solid"/>
          </a:ln>
        </p:spPr>
      </p:sp>
      <p:sp>
        <p:nvSpPr>
          <p:cNvPr id="3" name="Shape 1"/>
          <p:cNvSpPr/>
          <p:nvPr/>
        </p:nvSpPr>
        <p:spPr>
          <a:xfrm>
            <a:off x="0" y="5093208"/>
            <a:ext cx="9144000" cy="50292"/>
          </a:xfrm>
          <a:prstGeom prst="rect">
            <a:avLst/>
          </a:prstGeom>
          <a:solidFill>
            <a:srgbClr val="7B61FF"/>
          </a:solidFill>
          <a:ln w="12700">
            <a:solidFill>
              <a:srgbClr val="7B61FF"/>
            </a:solidFill>
            <a:prstDash val="solid"/>
          </a:ln>
        </p:spPr>
      </p:sp>
      <p:sp>
        <p:nvSpPr>
          <p:cNvPr id="4" name="Shape 2"/>
          <p:cNvSpPr/>
          <p:nvPr/>
        </p:nvSpPr>
        <p:spPr>
          <a:xfrm>
            <a:off x="384048" y="146304"/>
            <a:ext cx="1371600" cy="246888"/>
          </a:xfrm>
          <a:prstGeom prst="rect">
            <a:avLst/>
          </a:prstGeom>
          <a:solidFill>
            <a:srgbClr val="7B61FF"/>
          </a:solidFill>
          <a:ln w="12700">
            <a:solidFill>
              <a:srgbClr val="7B61FF"/>
            </a:solidFill>
            <a:prstDash val="solid"/>
          </a:ln>
        </p:spPr>
      </p:sp>
      <p:sp>
        <p:nvSpPr>
          <p:cNvPr id="5" name="Text 3"/>
          <p:cNvSpPr/>
          <p:nvPr/>
        </p:nvSpPr>
        <p:spPr>
          <a:xfrm>
            <a:off x="384048" y="146304"/>
            <a:ext cx="1371600" cy="246888"/>
          </a:xfrm>
          <a:prstGeom prst="rect">
            <a:avLst/>
          </a:prstGeom>
          <a:noFill/>
          <a:ln/>
        </p:spPr>
        <p:txBody>
          <a:bodyPr wrap="square" lIns="0" tIns="0" rIns="0" bIns="0" rtlCol="0" anchor="ctr"/>
          <a:lstStyle/>
          <a:p>
            <a:pPr marL="0" indent="0" algn="ctr">
              <a:buNone/>
            </a:pPr>
            <a:r>
              <a:rPr lang="en-US" sz="750" b="1" kern="0" spc="150" dirty="0">
                <a:solidFill>
                  <a:srgbClr val="FFFFFF"/>
                </a:solidFill>
              </a:rPr>
              <a:t>SYSTEM TESTING</a:t>
            </a:r>
            <a:endParaRPr lang="en-US" sz="750" dirty="0"/>
          </a:p>
        </p:txBody>
      </p:sp>
      <p:sp>
        <p:nvSpPr>
          <p:cNvPr id="6" name="Text 4"/>
          <p:cNvSpPr/>
          <p:nvPr/>
        </p:nvSpPr>
        <p:spPr>
          <a:xfrm>
            <a:off x="384048" y="475488"/>
            <a:ext cx="8412480" cy="566928"/>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System Testing</a:t>
            </a:r>
            <a:endParaRPr lang="en-US" sz="2400" dirty="0"/>
          </a:p>
        </p:txBody>
      </p:sp>
      <p:sp>
        <p:nvSpPr>
          <p:cNvPr id="7" name="Shape 5"/>
          <p:cNvSpPr/>
          <p:nvPr/>
        </p:nvSpPr>
        <p:spPr>
          <a:xfrm>
            <a:off x="384048" y="1078992"/>
            <a:ext cx="502920" cy="50292"/>
          </a:xfrm>
          <a:prstGeom prst="rect">
            <a:avLst/>
          </a:prstGeom>
          <a:solidFill>
            <a:srgbClr val="00C8FF"/>
          </a:solidFill>
          <a:ln w="12700">
            <a:solidFill>
              <a:srgbClr val="00C8FF"/>
            </a:solidFill>
            <a:prstDash val="solid"/>
          </a:ln>
        </p:spPr>
      </p:sp>
      <p:sp>
        <p:nvSpPr>
          <p:cNvPr id="8" name="Shape 6"/>
          <p:cNvSpPr/>
          <p:nvPr/>
        </p:nvSpPr>
        <p:spPr>
          <a:xfrm>
            <a:off x="932688" y="1078992"/>
            <a:ext cx="7827264" cy="50292"/>
          </a:xfrm>
          <a:prstGeom prst="rect">
            <a:avLst/>
          </a:prstGeom>
          <a:solidFill>
            <a:srgbClr val="112244"/>
          </a:solidFill>
          <a:ln w="12700">
            <a:solidFill>
              <a:srgbClr val="112244"/>
            </a:solidFill>
            <a:prstDash val="solid"/>
          </a:ln>
        </p:spPr>
      </p:sp>
      <p:sp>
        <p:nvSpPr>
          <p:cNvPr id="9" name="Text 7"/>
          <p:cNvSpPr/>
          <p:nvPr/>
        </p:nvSpPr>
        <p:spPr>
          <a:xfrm>
            <a:off x="8229600" y="4828032"/>
            <a:ext cx="731520" cy="201168"/>
          </a:xfrm>
          <a:prstGeom prst="rect">
            <a:avLst/>
          </a:prstGeom>
          <a:noFill/>
          <a:ln/>
        </p:spPr>
        <p:txBody>
          <a:bodyPr wrap="square" lIns="0" tIns="0" rIns="0" bIns="0" rtlCol="0" anchor="ctr"/>
          <a:lstStyle/>
          <a:p>
            <a:pPr marL="0" indent="0" algn="r">
              <a:buNone/>
            </a:pPr>
            <a:r>
              <a:rPr lang="en-US" sz="850" dirty="0">
                <a:solidFill>
                  <a:srgbClr val="7A96BB"/>
                </a:solidFill>
              </a:rPr>
              <a:t>7 / 11</a:t>
            </a:r>
            <a:endParaRPr lang="en-US" sz="850" dirty="0"/>
          </a:p>
        </p:txBody>
      </p:sp>
      <p:sp>
        <p:nvSpPr>
          <p:cNvPr id="10" name="Shape 8"/>
          <p:cNvSpPr/>
          <p:nvPr/>
        </p:nvSpPr>
        <p:spPr>
          <a:xfrm>
            <a:off x="384048" y="1234440"/>
            <a:ext cx="2011680" cy="1417320"/>
          </a:xfrm>
          <a:prstGeom prst="rect">
            <a:avLst/>
          </a:prstGeom>
          <a:solidFill>
            <a:srgbClr val="152B55"/>
          </a:solidFill>
          <a:ln w="8890">
            <a:solidFill>
              <a:srgbClr val="00C8FF"/>
            </a:solidFill>
            <a:prstDash val="solid"/>
          </a:ln>
          <a:effectLst>
            <a:outerShdw blurRad="101600" dist="38100" dir="8100000" algn="bl" rotWithShape="0">
              <a:srgbClr val="000000">
                <a:alpha val="28000"/>
              </a:srgbClr>
            </a:outerShdw>
          </a:effectLst>
        </p:spPr>
      </p:sp>
      <p:sp>
        <p:nvSpPr>
          <p:cNvPr id="11" name="Text 9"/>
          <p:cNvSpPr/>
          <p:nvPr/>
        </p:nvSpPr>
        <p:spPr>
          <a:xfrm>
            <a:off x="475488" y="1325880"/>
            <a:ext cx="1828800" cy="347472"/>
          </a:xfrm>
          <a:prstGeom prst="rect">
            <a:avLst/>
          </a:prstGeom>
          <a:noFill/>
          <a:ln/>
        </p:spPr>
        <p:txBody>
          <a:bodyPr wrap="square" lIns="0" tIns="0" rIns="0" bIns="0" rtlCol="0" anchor="ctr"/>
          <a:lstStyle/>
          <a:p>
            <a:pPr marL="0" indent="0">
              <a:buNone/>
            </a:pPr>
            <a:r>
              <a:rPr lang="en-US" sz="1050" b="1" dirty="0">
                <a:solidFill>
                  <a:srgbClr val="00C8FF"/>
                </a:solidFill>
              </a:rPr>
              <a:t>Unit Testing</a:t>
            </a:r>
            <a:endParaRPr lang="en-US" sz="1050" dirty="0"/>
          </a:p>
        </p:txBody>
      </p:sp>
      <p:sp>
        <p:nvSpPr>
          <p:cNvPr id="12" name="Text 10"/>
          <p:cNvSpPr/>
          <p:nvPr/>
        </p:nvSpPr>
        <p:spPr>
          <a:xfrm>
            <a:off x="475488" y="1709928"/>
            <a:ext cx="1828800" cy="868680"/>
          </a:xfrm>
          <a:prstGeom prst="rect">
            <a:avLst/>
          </a:prstGeom>
          <a:noFill/>
          <a:ln/>
        </p:spPr>
        <p:txBody>
          <a:bodyPr wrap="square" lIns="0" tIns="0" rIns="0" bIns="0" rtlCol="0" anchor="ctr"/>
          <a:lstStyle/>
          <a:p>
            <a:pPr marL="0" indent="0">
              <a:buNone/>
            </a:pPr>
            <a:r>
              <a:rPr lang="en-US" sz="950" dirty="0">
                <a:solidFill>
                  <a:srgbClr val="D6E4F7"/>
                </a:solidFill>
              </a:rPr>
              <a:t>Each module (CNN, BiLSTM, ViT, XAI) tested independently for correct output shapes and loss convergence.</a:t>
            </a:r>
            <a:endParaRPr lang="en-US" sz="950" dirty="0"/>
          </a:p>
        </p:txBody>
      </p:sp>
      <p:sp>
        <p:nvSpPr>
          <p:cNvPr id="13" name="Shape 11"/>
          <p:cNvSpPr/>
          <p:nvPr/>
        </p:nvSpPr>
        <p:spPr>
          <a:xfrm>
            <a:off x="2578608" y="1234440"/>
            <a:ext cx="2011680" cy="1417320"/>
          </a:xfrm>
          <a:prstGeom prst="rect">
            <a:avLst/>
          </a:prstGeom>
          <a:solidFill>
            <a:srgbClr val="152B55"/>
          </a:solidFill>
          <a:ln w="8890">
            <a:solidFill>
              <a:srgbClr val="00E5A0"/>
            </a:solidFill>
            <a:prstDash val="solid"/>
          </a:ln>
          <a:effectLst>
            <a:outerShdw blurRad="101600" dist="38100" dir="8100000" algn="bl" rotWithShape="0">
              <a:srgbClr val="000000">
                <a:alpha val="28000"/>
              </a:srgbClr>
            </a:outerShdw>
          </a:effectLst>
        </p:spPr>
      </p:sp>
      <p:sp>
        <p:nvSpPr>
          <p:cNvPr id="14" name="Text 12"/>
          <p:cNvSpPr/>
          <p:nvPr/>
        </p:nvSpPr>
        <p:spPr>
          <a:xfrm>
            <a:off x="2670048" y="1325880"/>
            <a:ext cx="1828800" cy="347472"/>
          </a:xfrm>
          <a:prstGeom prst="rect">
            <a:avLst/>
          </a:prstGeom>
          <a:noFill/>
          <a:ln/>
        </p:spPr>
        <p:txBody>
          <a:bodyPr wrap="square" lIns="0" tIns="0" rIns="0" bIns="0" rtlCol="0" anchor="ctr"/>
          <a:lstStyle/>
          <a:p>
            <a:pPr marL="0" indent="0">
              <a:buNone/>
            </a:pPr>
            <a:r>
              <a:rPr lang="en-US" sz="1050" b="1" dirty="0">
                <a:solidFill>
                  <a:srgbClr val="00E5A0"/>
                </a:solidFill>
              </a:rPr>
              <a:t>Integration Testing</a:t>
            </a:r>
            <a:endParaRPr lang="en-US" sz="1050" dirty="0"/>
          </a:p>
        </p:txBody>
      </p:sp>
      <p:sp>
        <p:nvSpPr>
          <p:cNvPr id="15" name="Text 13"/>
          <p:cNvSpPr/>
          <p:nvPr/>
        </p:nvSpPr>
        <p:spPr>
          <a:xfrm>
            <a:off x="2670048" y="1709928"/>
            <a:ext cx="1828800" cy="868680"/>
          </a:xfrm>
          <a:prstGeom prst="rect">
            <a:avLst/>
          </a:prstGeom>
          <a:noFill/>
          <a:ln/>
        </p:spPr>
        <p:txBody>
          <a:bodyPr wrap="square" lIns="0" tIns="0" rIns="0" bIns="0" rtlCol="0" anchor="ctr"/>
          <a:lstStyle/>
          <a:p>
            <a:pPr marL="0" indent="0">
              <a:buNone/>
            </a:pPr>
            <a:r>
              <a:rPr lang="en-US" sz="950" dirty="0">
                <a:solidFill>
                  <a:srgbClr val="D6E4F7"/>
                </a:solidFill>
              </a:rPr>
              <a:t>All modules combined and tested as end-to-end pipeline. Verified feature fusion and correct gradient flow.</a:t>
            </a:r>
            <a:endParaRPr lang="en-US" sz="950" dirty="0"/>
          </a:p>
        </p:txBody>
      </p:sp>
      <p:sp>
        <p:nvSpPr>
          <p:cNvPr id="16" name="Shape 14"/>
          <p:cNvSpPr/>
          <p:nvPr/>
        </p:nvSpPr>
        <p:spPr>
          <a:xfrm>
            <a:off x="4773168" y="1234440"/>
            <a:ext cx="2011680" cy="1417320"/>
          </a:xfrm>
          <a:prstGeom prst="rect">
            <a:avLst/>
          </a:prstGeom>
          <a:solidFill>
            <a:srgbClr val="152B55"/>
          </a:solidFill>
          <a:ln w="8890">
            <a:solidFill>
              <a:srgbClr val="FFD166"/>
            </a:solidFill>
            <a:prstDash val="solid"/>
          </a:ln>
          <a:effectLst>
            <a:outerShdw blurRad="101600" dist="38100" dir="8100000" algn="bl" rotWithShape="0">
              <a:srgbClr val="000000">
                <a:alpha val="28000"/>
              </a:srgbClr>
            </a:outerShdw>
          </a:effectLst>
        </p:spPr>
      </p:sp>
      <p:sp>
        <p:nvSpPr>
          <p:cNvPr id="17" name="Text 15"/>
          <p:cNvSpPr/>
          <p:nvPr/>
        </p:nvSpPr>
        <p:spPr>
          <a:xfrm>
            <a:off x="4864608" y="1325880"/>
            <a:ext cx="1828800" cy="347472"/>
          </a:xfrm>
          <a:prstGeom prst="rect">
            <a:avLst/>
          </a:prstGeom>
          <a:noFill/>
          <a:ln/>
        </p:spPr>
        <p:txBody>
          <a:bodyPr wrap="square" lIns="0" tIns="0" rIns="0" bIns="0" rtlCol="0" anchor="ctr"/>
          <a:lstStyle/>
          <a:p>
            <a:pPr marL="0" indent="0">
              <a:buNone/>
            </a:pPr>
            <a:r>
              <a:rPr lang="en-US" sz="1050" b="1" dirty="0">
                <a:solidFill>
                  <a:srgbClr val="FFD166"/>
                </a:solidFill>
              </a:rPr>
              <a:t>System Testing</a:t>
            </a:r>
            <a:endParaRPr lang="en-US" sz="1050" dirty="0"/>
          </a:p>
        </p:txBody>
      </p:sp>
      <p:sp>
        <p:nvSpPr>
          <p:cNvPr id="18" name="Text 16"/>
          <p:cNvSpPr/>
          <p:nvPr/>
        </p:nvSpPr>
        <p:spPr>
          <a:xfrm>
            <a:off x="4864608" y="1709928"/>
            <a:ext cx="1828800" cy="868680"/>
          </a:xfrm>
          <a:prstGeom prst="rect">
            <a:avLst/>
          </a:prstGeom>
          <a:noFill/>
          <a:ln/>
        </p:spPr>
        <p:txBody>
          <a:bodyPr wrap="square" lIns="0" tIns="0" rIns="0" bIns="0" rtlCol="0" anchor="ctr"/>
          <a:lstStyle/>
          <a:p>
            <a:pPr marL="0" indent="0">
              <a:buNone/>
            </a:pPr>
            <a:r>
              <a:rPr lang="en-US" sz="950" dirty="0">
                <a:solidFill>
                  <a:srgbClr val="D6E4F7"/>
                </a:solidFill>
              </a:rPr>
              <a:t>Full system validated on FaceForensics++, Celeb-DF &amp; DFDC datasets for accuracy, AUC, F1 and FPR.</a:t>
            </a:r>
            <a:endParaRPr lang="en-US" sz="950" dirty="0"/>
          </a:p>
        </p:txBody>
      </p:sp>
      <p:sp>
        <p:nvSpPr>
          <p:cNvPr id="19" name="Shape 17"/>
          <p:cNvSpPr/>
          <p:nvPr/>
        </p:nvSpPr>
        <p:spPr>
          <a:xfrm>
            <a:off x="6967728" y="1234440"/>
            <a:ext cx="2011680" cy="1417320"/>
          </a:xfrm>
          <a:prstGeom prst="rect">
            <a:avLst/>
          </a:prstGeom>
          <a:solidFill>
            <a:srgbClr val="152B55"/>
          </a:solidFill>
          <a:ln w="8890">
            <a:solidFill>
              <a:srgbClr val="7B61FF"/>
            </a:solidFill>
            <a:prstDash val="solid"/>
          </a:ln>
          <a:effectLst>
            <a:outerShdw blurRad="101600" dist="38100" dir="8100000" algn="bl" rotWithShape="0">
              <a:srgbClr val="000000">
                <a:alpha val="28000"/>
              </a:srgbClr>
            </a:outerShdw>
          </a:effectLst>
        </p:spPr>
      </p:sp>
      <p:sp>
        <p:nvSpPr>
          <p:cNvPr id="20" name="Text 18"/>
          <p:cNvSpPr/>
          <p:nvPr/>
        </p:nvSpPr>
        <p:spPr>
          <a:xfrm>
            <a:off x="7059168" y="1325880"/>
            <a:ext cx="1828800" cy="347472"/>
          </a:xfrm>
          <a:prstGeom prst="rect">
            <a:avLst/>
          </a:prstGeom>
          <a:noFill/>
          <a:ln/>
        </p:spPr>
        <p:txBody>
          <a:bodyPr wrap="square" lIns="0" tIns="0" rIns="0" bIns="0" rtlCol="0" anchor="ctr"/>
          <a:lstStyle/>
          <a:p>
            <a:pPr marL="0" indent="0">
              <a:buNone/>
            </a:pPr>
            <a:r>
              <a:rPr lang="en-US" sz="1050" b="1" dirty="0">
                <a:solidFill>
                  <a:srgbClr val="7B61FF"/>
                </a:solidFill>
              </a:rPr>
              <a:t>User Acceptance</a:t>
            </a:r>
            <a:endParaRPr lang="en-US" sz="1050" dirty="0"/>
          </a:p>
        </p:txBody>
      </p:sp>
      <p:sp>
        <p:nvSpPr>
          <p:cNvPr id="21" name="Text 19"/>
          <p:cNvSpPr/>
          <p:nvPr/>
        </p:nvSpPr>
        <p:spPr>
          <a:xfrm>
            <a:off x="7059168" y="1709928"/>
            <a:ext cx="1828800" cy="868680"/>
          </a:xfrm>
          <a:prstGeom prst="rect">
            <a:avLst/>
          </a:prstGeom>
          <a:noFill/>
          <a:ln/>
        </p:spPr>
        <p:txBody>
          <a:bodyPr wrap="square" lIns="0" tIns="0" rIns="0" bIns="0" rtlCol="0" anchor="ctr"/>
          <a:lstStyle/>
          <a:p>
            <a:pPr marL="0" indent="0">
              <a:buNone/>
            </a:pPr>
            <a:r>
              <a:rPr lang="en-US" sz="950" dirty="0">
                <a:solidFill>
                  <a:srgbClr val="D6E4F7"/>
                </a:solidFill>
              </a:rPr>
              <a:t>Output visualizations (Grad-CAM maps) reviewed by domain experts to validate interpretability quality.</a:t>
            </a:r>
            <a:endParaRPr lang="en-US" sz="950" dirty="0"/>
          </a:p>
        </p:txBody>
      </p:sp>
      <p:sp>
        <p:nvSpPr>
          <p:cNvPr id="22" name="Text 20"/>
          <p:cNvSpPr/>
          <p:nvPr/>
        </p:nvSpPr>
        <p:spPr>
          <a:xfrm>
            <a:off x="384048" y="2798064"/>
            <a:ext cx="8375904" cy="274320"/>
          </a:xfrm>
          <a:prstGeom prst="rect">
            <a:avLst/>
          </a:prstGeom>
          <a:noFill/>
          <a:ln/>
        </p:spPr>
        <p:txBody>
          <a:bodyPr wrap="square" lIns="0" tIns="0" rIns="0" bIns="0" rtlCol="0" anchor="ctr"/>
          <a:lstStyle/>
          <a:p>
            <a:pPr marL="0" indent="0">
              <a:buNone/>
            </a:pPr>
            <a:r>
              <a:rPr lang="en-US" sz="1200" b="1" dirty="0">
                <a:solidFill>
                  <a:srgbClr val="00C8FF"/>
                </a:solidFill>
              </a:rPr>
              <a:t>Test Results Summary</a:t>
            </a:r>
            <a:endParaRPr lang="en-US" sz="1200" dirty="0"/>
          </a:p>
        </p:txBody>
      </p:sp>
      <p:sp>
        <p:nvSpPr>
          <p:cNvPr id="23" name="Shape 21"/>
          <p:cNvSpPr/>
          <p:nvPr/>
        </p:nvSpPr>
        <p:spPr>
          <a:xfrm>
            <a:off x="384048" y="3127248"/>
            <a:ext cx="8375904" cy="329184"/>
          </a:xfrm>
          <a:prstGeom prst="rect">
            <a:avLst/>
          </a:prstGeom>
          <a:solidFill>
            <a:srgbClr val="7B61FF"/>
          </a:solidFill>
          <a:ln w="12700">
            <a:solidFill>
              <a:srgbClr val="7B61FF"/>
            </a:solidFill>
            <a:prstDash val="solid"/>
          </a:ln>
        </p:spPr>
      </p:sp>
      <p:sp>
        <p:nvSpPr>
          <p:cNvPr id="24" name="Text 22"/>
          <p:cNvSpPr/>
          <p:nvPr/>
        </p:nvSpPr>
        <p:spPr>
          <a:xfrm>
            <a:off x="384048" y="3127248"/>
            <a:ext cx="2139696" cy="329184"/>
          </a:xfrm>
          <a:prstGeom prst="rect">
            <a:avLst/>
          </a:prstGeom>
          <a:noFill/>
          <a:ln/>
        </p:spPr>
        <p:txBody>
          <a:bodyPr wrap="square" lIns="38100" tIns="38100" rIns="38100" bIns="38100" rtlCol="0" anchor="ctr"/>
          <a:lstStyle/>
          <a:p>
            <a:pPr marL="0" indent="0">
              <a:buNone/>
            </a:pPr>
            <a:r>
              <a:rPr lang="en-US" sz="950" b="1" dirty="0">
                <a:solidFill>
                  <a:srgbClr val="FFFFFF"/>
                </a:solidFill>
              </a:rPr>
              <a:t>Test Case</a:t>
            </a:r>
            <a:endParaRPr lang="en-US" sz="950" dirty="0"/>
          </a:p>
        </p:txBody>
      </p:sp>
      <p:sp>
        <p:nvSpPr>
          <p:cNvPr id="25" name="Text 23"/>
          <p:cNvSpPr/>
          <p:nvPr/>
        </p:nvSpPr>
        <p:spPr>
          <a:xfrm>
            <a:off x="2560320" y="3127248"/>
            <a:ext cx="1335024" cy="329184"/>
          </a:xfrm>
          <a:prstGeom prst="rect">
            <a:avLst/>
          </a:prstGeom>
          <a:noFill/>
          <a:ln/>
        </p:spPr>
        <p:txBody>
          <a:bodyPr wrap="square" lIns="38100" tIns="38100" rIns="38100" bIns="38100" rtlCol="0" anchor="ctr"/>
          <a:lstStyle/>
          <a:p>
            <a:pPr marL="0" indent="0">
              <a:buNone/>
            </a:pPr>
            <a:r>
              <a:rPr lang="en-US" sz="950" b="1" dirty="0">
                <a:solidFill>
                  <a:srgbClr val="FFFFFF"/>
                </a:solidFill>
              </a:rPr>
              <a:t>Dataset</a:t>
            </a:r>
            <a:endParaRPr lang="en-US" sz="950" dirty="0"/>
          </a:p>
        </p:txBody>
      </p:sp>
      <p:sp>
        <p:nvSpPr>
          <p:cNvPr id="26" name="Text 24"/>
          <p:cNvSpPr/>
          <p:nvPr/>
        </p:nvSpPr>
        <p:spPr>
          <a:xfrm>
            <a:off x="3931920" y="3127248"/>
            <a:ext cx="1243584" cy="329184"/>
          </a:xfrm>
          <a:prstGeom prst="rect">
            <a:avLst/>
          </a:prstGeom>
          <a:noFill/>
          <a:ln/>
        </p:spPr>
        <p:txBody>
          <a:bodyPr wrap="square" lIns="38100" tIns="38100" rIns="38100" bIns="38100" rtlCol="0" anchor="ctr"/>
          <a:lstStyle/>
          <a:p>
            <a:pPr marL="0" indent="0">
              <a:buNone/>
            </a:pPr>
            <a:r>
              <a:rPr lang="en-US" sz="950" b="1" dirty="0">
                <a:solidFill>
                  <a:srgbClr val="FFFFFF"/>
                </a:solidFill>
              </a:rPr>
              <a:t>Input</a:t>
            </a:r>
            <a:endParaRPr lang="en-US" sz="950" dirty="0"/>
          </a:p>
        </p:txBody>
      </p:sp>
      <p:sp>
        <p:nvSpPr>
          <p:cNvPr id="27" name="Text 25"/>
          <p:cNvSpPr/>
          <p:nvPr/>
        </p:nvSpPr>
        <p:spPr>
          <a:xfrm>
            <a:off x="5212080" y="3127248"/>
            <a:ext cx="1152144" cy="329184"/>
          </a:xfrm>
          <a:prstGeom prst="rect">
            <a:avLst/>
          </a:prstGeom>
          <a:noFill/>
          <a:ln/>
        </p:spPr>
        <p:txBody>
          <a:bodyPr wrap="square" lIns="38100" tIns="38100" rIns="38100" bIns="38100" rtlCol="0" anchor="ctr"/>
          <a:lstStyle/>
          <a:p>
            <a:pPr marL="0" indent="0">
              <a:buNone/>
            </a:pPr>
            <a:r>
              <a:rPr lang="en-US" sz="950" b="1" dirty="0">
                <a:solidFill>
                  <a:srgbClr val="FFFFFF"/>
                </a:solidFill>
              </a:rPr>
              <a:t>Expected</a:t>
            </a:r>
            <a:endParaRPr lang="en-US" sz="950" dirty="0"/>
          </a:p>
        </p:txBody>
      </p:sp>
      <p:sp>
        <p:nvSpPr>
          <p:cNvPr id="28" name="Text 26"/>
          <p:cNvSpPr/>
          <p:nvPr/>
        </p:nvSpPr>
        <p:spPr>
          <a:xfrm>
            <a:off x="6400800" y="3127248"/>
            <a:ext cx="1197864" cy="329184"/>
          </a:xfrm>
          <a:prstGeom prst="rect">
            <a:avLst/>
          </a:prstGeom>
          <a:noFill/>
          <a:ln/>
        </p:spPr>
        <p:txBody>
          <a:bodyPr wrap="square" lIns="38100" tIns="38100" rIns="38100" bIns="38100" rtlCol="0" anchor="ctr"/>
          <a:lstStyle/>
          <a:p>
            <a:pPr marL="0" indent="0">
              <a:buNone/>
            </a:pPr>
            <a:r>
              <a:rPr lang="en-US" sz="950" b="1" dirty="0">
                <a:solidFill>
                  <a:srgbClr val="FFFFFF"/>
                </a:solidFill>
              </a:rPr>
              <a:t>Actual</a:t>
            </a:r>
            <a:endParaRPr lang="en-US" sz="950" dirty="0"/>
          </a:p>
        </p:txBody>
      </p:sp>
      <p:sp>
        <p:nvSpPr>
          <p:cNvPr id="29" name="Text 27"/>
          <p:cNvSpPr/>
          <p:nvPr/>
        </p:nvSpPr>
        <p:spPr>
          <a:xfrm>
            <a:off x="7635240" y="3127248"/>
            <a:ext cx="1106424" cy="329184"/>
          </a:xfrm>
          <a:prstGeom prst="rect">
            <a:avLst/>
          </a:prstGeom>
          <a:noFill/>
          <a:ln/>
        </p:spPr>
        <p:txBody>
          <a:bodyPr wrap="square" lIns="38100" tIns="38100" rIns="38100" bIns="38100" rtlCol="0" anchor="ctr"/>
          <a:lstStyle/>
          <a:p>
            <a:pPr marL="0" indent="0">
              <a:buNone/>
            </a:pPr>
            <a:r>
              <a:rPr lang="en-US" sz="950" b="1" dirty="0">
                <a:solidFill>
                  <a:srgbClr val="FFFFFF"/>
                </a:solidFill>
              </a:rPr>
              <a:t>Status</a:t>
            </a:r>
            <a:endParaRPr lang="en-US" sz="950" dirty="0"/>
          </a:p>
        </p:txBody>
      </p:sp>
      <p:sp>
        <p:nvSpPr>
          <p:cNvPr id="30" name="Shape 28"/>
          <p:cNvSpPr/>
          <p:nvPr/>
        </p:nvSpPr>
        <p:spPr>
          <a:xfrm>
            <a:off x="384048" y="3493008"/>
            <a:ext cx="8375904" cy="283464"/>
          </a:xfrm>
          <a:prstGeom prst="rect">
            <a:avLst/>
          </a:prstGeom>
          <a:solidFill>
            <a:srgbClr val="152B55"/>
          </a:solidFill>
          <a:ln w="12700">
            <a:solidFill>
              <a:srgbClr val="152B55"/>
            </a:solidFill>
            <a:prstDash val="solid"/>
          </a:ln>
        </p:spPr>
      </p:sp>
      <p:sp>
        <p:nvSpPr>
          <p:cNvPr id="31" name="Text 29"/>
          <p:cNvSpPr/>
          <p:nvPr/>
        </p:nvSpPr>
        <p:spPr>
          <a:xfrm>
            <a:off x="384048" y="3493008"/>
            <a:ext cx="2139696" cy="283464"/>
          </a:xfrm>
          <a:prstGeom prst="rect">
            <a:avLst/>
          </a:prstGeom>
          <a:noFill/>
          <a:ln/>
        </p:spPr>
        <p:txBody>
          <a:bodyPr wrap="square" lIns="38100" tIns="38100" rIns="38100" bIns="38100" rtlCol="0" anchor="ctr"/>
          <a:lstStyle/>
          <a:p>
            <a:pPr marL="0" indent="0">
              <a:buNone/>
            </a:pPr>
            <a:r>
              <a:rPr lang="en-US" sz="950" dirty="0">
                <a:solidFill>
                  <a:srgbClr val="D6E4F7"/>
                </a:solidFill>
              </a:rPr>
              <a:t>TC-01</a:t>
            </a:r>
            <a:endParaRPr lang="en-US" sz="950" dirty="0"/>
          </a:p>
        </p:txBody>
      </p:sp>
      <p:sp>
        <p:nvSpPr>
          <p:cNvPr id="32" name="Text 30"/>
          <p:cNvSpPr/>
          <p:nvPr/>
        </p:nvSpPr>
        <p:spPr>
          <a:xfrm>
            <a:off x="2560320" y="3493008"/>
            <a:ext cx="1335024" cy="283464"/>
          </a:xfrm>
          <a:prstGeom prst="rect">
            <a:avLst/>
          </a:prstGeom>
          <a:noFill/>
          <a:ln/>
        </p:spPr>
        <p:txBody>
          <a:bodyPr wrap="square" lIns="38100" tIns="38100" rIns="38100" bIns="38100" rtlCol="0" anchor="ctr"/>
          <a:lstStyle/>
          <a:p>
            <a:pPr marL="0" indent="0">
              <a:buNone/>
            </a:pPr>
            <a:r>
              <a:rPr lang="en-US" sz="950" dirty="0">
                <a:solidFill>
                  <a:srgbClr val="D6E4F7"/>
                </a:solidFill>
              </a:rPr>
              <a:t>FF++</a:t>
            </a:r>
            <a:endParaRPr lang="en-US" sz="950" dirty="0"/>
          </a:p>
        </p:txBody>
      </p:sp>
      <p:sp>
        <p:nvSpPr>
          <p:cNvPr id="33" name="Text 31"/>
          <p:cNvSpPr/>
          <p:nvPr/>
        </p:nvSpPr>
        <p:spPr>
          <a:xfrm>
            <a:off x="3931920" y="3493008"/>
            <a:ext cx="1243584" cy="283464"/>
          </a:xfrm>
          <a:prstGeom prst="rect">
            <a:avLst/>
          </a:prstGeom>
          <a:noFill/>
          <a:ln/>
        </p:spPr>
        <p:txBody>
          <a:bodyPr wrap="square" lIns="38100" tIns="38100" rIns="38100" bIns="38100" rtlCol="0" anchor="ctr"/>
          <a:lstStyle/>
          <a:p>
            <a:pPr marL="0" indent="0">
              <a:buNone/>
            </a:pPr>
            <a:r>
              <a:rPr lang="en-US" sz="950" dirty="0">
                <a:solidFill>
                  <a:srgbClr val="D6E4F7"/>
                </a:solidFill>
              </a:rPr>
              <a:t>Real Video</a:t>
            </a:r>
            <a:endParaRPr lang="en-US" sz="950" dirty="0"/>
          </a:p>
        </p:txBody>
      </p:sp>
      <p:sp>
        <p:nvSpPr>
          <p:cNvPr id="34" name="Text 32"/>
          <p:cNvSpPr/>
          <p:nvPr/>
        </p:nvSpPr>
        <p:spPr>
          <a:xfrm>
            <a:off x="5212080" y="3493008"/>
            <a:ext cx="1152144" cy="283464"/>
          </a:xfrm>
          <a:prstGeom prst="rect">
            <a:avLst/>
          </a:prstGeom>
          <a:noFill/>
          <a:ln/>
        </p:spPr>
        <p:txBody>
          <a:bodyPr wrap="square" lIns="38100" tIns="38100" rIns="38100" bIns="38100" rtlCol="0" anchor="ctr"/>
          <a:lstStyle/>
          <a:p>
            <a:pPr marL="0" indent="0">
              <a:buNone/>
            </a:pPr>
            <a:r>
              <a:rPr lang="en-US" sz="950" dirty="0">
                <a:solidFill>
                  <a:srgbClr val="D6E4F7"/>
                </a:solidFill>
              </a:rPr>
              <a:t>Real</a:t>
            </a:r>
            <a:endParaRPr lang="en-US" sz="950" dirty="0"/>
          </a:p>
        </p:txBody>
      </p:sp>
      <p:sp>
        <p:nvSpPr>
          <p:cNvPr id="35" name="Text 33"/>
          <p:cNvSpPr/>
          <p:nvPr/>
        </p:nvSpPr>
        <p:spPr>
          <a:xfrm>
            <a:off x="6400800" y="3493008"/>
            <a:ext cx="1197864" cy="283464"/>
          </a:xfrm>
          <a:prstGeom prst="rect">
            <a:avLst/>
          </a:prstGeom>
          <a:noFill/>
          <a:ln/>
        </p:spPr>
        <p:txBody>
          <a:bodyPr wrap="square" lIns="38100" tIns="38100" rIns="38100" bIns="38100" rtlCol="0" anchor="ctr"/>
          <a:lstStyle/>
          <a:p>
            <a:pPr marL="0" indent="0">
              <a:buNone/>
            </a:pPr>
            <a:r>
              <a:rPr lang="en-US" sz="950" dirty="0">
                <a:solidFill>
                  <a:srgbClr val="D6E4F7"/>
                </a:solidFill>
              </a:rPr>
              <a:t>Real</a:t>
            </a:r>
            <a:endParaRPr lang="en-US" sz="950" dirty="0"/>
          </a:p>
        </p:txBody>
      </p:sp>
      <p:sp>
        <p:nvSpPr>
          <p:cNvPr id="36" name="Text 34"/>
          <p:cNvSpPr/>
          <p:nvPr/>
        </p:nvSpPr>
        <p:spPr>
          <a:xfrm>
            <a:off x="7635240" y="3493008"/>
            <a:ext cx="1106424" cy="283464"/>
          </a:xfrm>
          <a:prstGeom prst="rect">
            <a:avLst/>
          </a:prstGeom>
          <a:noFill/>
          <a:ln/>
        </p:spPr>
        <p:txBody>
          <a:bodyPr wrap="square" lIns="38100" tIns="38100" rIns="38100" bIns="38100" rtlCol="0" anchor="ctr"/>
          <a:lstStyle/>
          <a:p>
            <a:pPr marL="0" indent="0">
              <a:buNone/>
            </a:pPr>
            <a:r>
              <a:rPr lang="en-US" sz="950" b="1" dirty="0">
                <a:solidFill>
                  <a:srgbClr val="00E5A0"/>
                </a:solidFill>
              </a:rPr>
              <a:t>✓ Pass</a:t>
            </a:r>
            <a:endParaRPr lang="en-US" sz="950" dirty="0"/>
          </a:p>
        </p:txBody>
      </p:sp>
      <p:sp>
        <p:nvSpPr>
          <p:cNvPr id="37" name="Shape 35"/>
          <p:cNvSpPr/>
          <p:nvPr/>
        </p:nvSpPr>
        <p:spPr>
          <a:xfrm>
            <a:off x="384048" y="3803904"/>
            <a:ext cx="8375904" cy="283464"/>
          </a:xfrm>
          <a:prstGeom prst="rect">
            <a:avLst/>
          </a:prstGeom>
          <a:solidFill>
            <a:srgbClr val="112244"/>
          </a:solidFill>
          <a:ln w="12700">
            <a:solidFill>
              <a:srgbClr val="112244"/>
            </a:solidFill>
            <a:prstDash val="solid"/>
          </a:ln>
        </p:spPr>
      </p:sp>
      <p:sp>
        <p:nvSpPr>
          <p:cNvPr id="38" name="Text 36"/>
          <p:cNvSpPr/>
          <p:nvPr/>
        </p:nvSpPr>
        <p:spPr>
          <a:xfrm>
            <a:off x="384048" y="3803904"/>
            <a:ext cx="2139696" cy="283464"/>
          </a:xfrm>
          <a:prstGeom prst="rect">
            <a:avLst/>
          </a:prstGeom>
          <a:noFill/>
          <a:ln/>
        </p:spPr>
        <p:txBody>
          <a:bodyPr wrap="square" lIns="38100" tIns="38100" rIns="38100" bIns="38100" rtlCol="0" anchor="ctr"/>
          <a:lstStyle/>
          <a:p>
            <a:pPr marL="0" indent="0">
              <a:buNone/>
            </a:pPr>
            <a:r>
              <a:rPr lang="en-US" sz="950" dirty="0">
                <a:solidFill>
                  <a:srgbClr val="D6E4F7"/>
                </a:solidFill>
              </a:rPr>
              <a:t>TC-02</a:t>
            </a:r>
            <a:endParaRPr lang="en-US" sz="950" dirty="0"/>
          </a:p>
        </p:txBody>
      </p:sp>
      <p:sp>
        <p:nvSpPr>
          <p:cNvPr id="39" name="Text 37"/>
          <p:cNvSpPr/>
          <p:nvPr/>
        </p:nvSpPr>
        <p:spPr>
          <a:xfrm>
            <a:off x="2560320" y="3803904"/>
            <a:ext cx="1335024" cy="283464"/>
          </a:xfrm>
          <a:prstGeom prst="rect">
            <a:avLst/>
          </a:prstGeom>
          <a:noFill/>
          <a:ln/>
        </p:spPr>
        <p:txBody>
          <a:bodyPr wrap="square" lIns="38100" tIns="38100" rIns="38100" bIns="38100" rtlCol="0" anchor="ctr"/>
          <a:lstStyle/>
          <a:p>
            <a:pPr marL="0" indent="0">
              <a:buNone/>
            </a:pPr>
            <a:r>
              <a:rPr lang="en-US" sz="950" dirty="0">
                <a:solidFill>
                  <a:srgbClr val="D6E4F7"/>
                </a:solidFill>
              </a:rPr>
              <a:t>FF++</a:t>
            </a:r>
            <a:endParaRPr lang="en-US" sz="950" dirty="0"/>
          </a:p>
        </p:txBody>
      </p:sp>
      <p:sp>
        <p:nvSpPr>
          <p:cNvPr id="40" name="Text 38"/>
          <p:cNvSpPr/>
          <p:nvPr/>
        </p:nvSpPr>
        <p:spPr>
          <a:xfrm>
            <a:off x="3931920" y="3803904"/>
            <a:ext cx="1243584" cy="283464"/>
          </a:xfrm>
          <a:prstGeom prst="rect">
            <a:avLst/>
          </a:prstGeom>
          <a:noFill/>
          <a:ln/>
        </p:spPr>
        <p:txBody>
          <a:bodyPr wrap="square" lIns="38100" tIns="38100" rIns="38100" bIns="38100" rtlCol="0" anchor="ctr"/>
          <a:lstStyle/>
          <a:p>
            <a:pPr marL="0" indent="0">
              <a:buNone/>
            </a:pPr>
            <a:r>
              <a:rPr lang="en-US" sz="950" dirty="0">
                <a:solidFill>
                  <a:srgbClr val="D6E4F7"/>
                </a:solidFill>
              </a:rPr>
              <a:t>Fake (DeepFake)</a:t>
            </a:r>
            <a:endParaRPr lang="en-US" sz="950" dirty="0"/>
          </a:p>
        </p:txBody>
      </p:sp>
      <p:sp>
        <p:nvSpPr>
          <p:cNvPr id="41" name="Text 39"/>
          <p:cNvSpPr/>
          <p:nvPr/>
        </p:nvSpPr>
        <p:spPr>
          <a:xfrm>
            <a:off x="5212080" y="3803904"/>
            <a:ext cx="1152144" cy="283464"/>
          </a:xfrm>
          <a:prstGeom prst="rect">
            <a:avLst/>
          </a:prstGeom>
          <a:noFill/>
          <a:ln/>
        </p:spPr>
        <p:txBody>
          <a:bodyPr wrap="square" lIns="38100" tIns="38100" rIns="38100" bIns="38100" rtlCol="0" anchor="ctr"/>
          <a:lstStyle/>
          <a:p>
            <a:pPr marL="0" indent="0">
              <a:buNone/>
            </a:pPr>
            <a:r>
              <a:rPr lang="en-US" sz="950" dirty="0">
                <a:solidFill>
                  <a:srgbClr val="D6E4F7"/>
                </a:solidFill>
              </a:rPr>
              <a:t>Fake</a:t>
            </a:r>
            <a:endParaRPr lang="en-US" sz="950" dirty="0"/>
          </a:p>
        </p:txBody>
      </p:sp>
      <p:sp>
        <p:nvSpPr>
          <p:cNvPr id="42" name="Text 40"/>
          <p:cNvSpPr/>
          <p:nvPr/>
        </p:nvSpPr>
        <p:spPr>
          <a:xfrm>
            <a:off x="6400800" y="3803904"/>
            <a:ext cx="1197864" cy="283464"/>
          </a:xfrm>
          <a:prstGeom prst="rect">
            <a:avLst/>
          </a:prstGeom>
          <a:noFill/>
          <a:ln/>
        </p:spPr>
        <p:txBody>
          <a:bodyPr wrap="square" lIns="38100" tIns="38100" rIns="38100" bIns="38100" rtlCol="0" anchor="ctr"/>
          <a:lstStyle/>
          <a:p>
            <a:pPr marL="0" indent="0">
              <a:buNone/>
            </a:pPr>
            <a:r>
              <a:rPr lang="en-US" sz="950" dirty="0">
                <a:solidFill>
                  <a:srgbClr val="D6E4F7"/>
                </a:solidFill>
              </a:rPr>
              <a:t>Fake</a:t>
            </a:r>
            <a:endParaRPr lang="en-US" sz="950" dirty="0"/>
          </a:p>
        </p:txBody>
      </p:sp>
      <p:sp>
        <p:nvSpPr>
          <p:cNvPr id="43" name="Text 41"/>
          <p:cNvSpPr/>
          <p:nvPr/>
        </p:nvSpPr>
        <p:spPr>
          <a:xfrm>
            <a:off x="7635240" y="3803904"/>
            <a:ext cx="1106424" cy="283464"/>
          </a:xfrm>
          <a:prstGeom prst="rect">
            <a:avLst/>
          </a:prstGeom>
          <a:noFill/>
          <a:ln/>
        </p:spPr>
        <p:txBody>
          <a:bodyPr wrap="square" lIns="38100" tIns="38100" rIns="38100" bIns="38100" rtlCol="0" anchor="ctr"/>
          <a:lstStyle/>
          <a:p>
            <a:pPr marL="0" indent="0">
              <a:buNone/>
            </a:pPr>
            <a:r>
              <a:rPr lang="en-US" sz="950" b="1" dirty="0">
                <a:solidFill>
                  <a:srgbClr val="00E5A0"/>
                </a:solidFill>
              </a:rPr>
              <a:t>✓ Pass</a:t>
            </a:r>
            <a:endParaRPr lang="en-US" sz="950" dirty="0"/>
          </a:p>
        </p:txBody>
      </p:sp>
      <p:sp>
        <p:nvSpPr>
          <p:cNvPr id="44" name="Shape 42"/>
          <p:cNvSpPr/>
          <p:nvPr/>
        </p:nvSpPr>
        <p:spPr>
          <a:xfrm>
            <a:off x="384048" y="4114800"/>
            <a:ext cx="8375904" cy="283464"/>
          </a:xfrm>
          <a:prstGeom prst="rect">
            <a:avLst/>
          </a:prstGeom>
          <a:solidFill>
            <a:srgbClr val="152B55"/>
          </a:solidFill>
          <a:ln w="12700">
            <a:solidFill>
              <a:srgbClr val="152B55"/>
            </a:solidFill>
            <a:prstDash val="solid"/>
          </a:ln>
        </p:spPr>
      </p:sp>
      <p:sp>
        <p:nvSpPr>
          <p:cNvPr id="45" name="Text 43"/>
          <p:cNvSpPr/>
          <p:nvPr/>
        </p:nvSpPr>
        <p:spPr>
          <a:xfrm>
            <a:off x="384048" y="4114800"/>
            <a:ext cx="2139696" cy="283464"/>
          </a:xfrm>
          <a:prstGeom prst="rect">
            <a:avLst/>
          </a:prstGeom>
          <a:noFill/>
          <a:ln/>
        </p:spPr>
        <p:txBody>
          <a:bodyPr wrap="square" lIns="38100" tIns="38100" rIns="38100" bIns="38100" rtlCol="0" anchor="ctr"/>
          <a:lstStyle/>
          <a:p>
            <a:pPr marL="0" indent="0">
              <a:buNone/>
            </a:pPr>
            <a:r>
              <a:rPr lang="en-US" sz="950" dirty="0">
                <a:solidFill>
                  <a:srgbClr val="D6E4F7"/>
                </a:solidFill>
              </a:rPr>
              <a:t>TC-03</a:t>
            </a:r>
            <a:endParaRPr lang="en-US" sz="950" dirty="0"/>
          </a:p>
        </p:txBody>
      </p:sp>
      <p:sp>
        <p:nvSpPr>
          <p:cNvPr id="46" name="Text 44"/>
          <p:cNvSpPr/>
          <p:nvPr/>
        </p:nvSpPr>
        <p:spPr>
          <a:xfrm>
            <a:off x="2560320" y="4114800"/>
            <a:ext cx="1335024" cy="283464"/>
          </a:xfrm>
          <a:prstGeom prst="rect">
            <a:avLst/>
          </a:prstGeom>
          <a:noFill/>
          <a:ln/>
        </p:spPr>
        <p:txBody>
          <a:bodyPr wrap="square" lIns="38100" tIns="38100" rIns="38100" bIns="38100" rtlCol="0" anchor="ctr"/>
          <a:lstStyle/>
          <a:p>
            <a:pPr marL="0" indent="0">
              <a:buNone/>
            </a:pPr>
            <a:r>
              <a:rPr lang="en-US" sz="950" dirty="0">
                <a:solidFill>
                  <a:srgbClr val="D6E4F7"/>
                </a:solidFill>
              </a:rPr>
              <a:t>Celeb-DF</a:t>
            </a:r>
            <a:endParaRPr lang="en-US" sz="950" dirty="0"/>
          </a:p>
        </p:txBody>
      </p:sp>
      <p:sp>
        <p:nvSpPr>
          <p:cNvPr id="47" name="Text 45"/>
          <p:cNvSpPr/>
          <p:nvPr/>
        </p:nvSpPr>
        <p:spPr>
          <a:xfrm>
            <a:off x="3931920" y="4114800"/>
            <a:ext cx="1243584" cy="283464"/>
          </a:xfrm>
          <a:prstGeom prst="rect">
            <a:avLst/>
          </a:prstGeom>
          <a:noFill/>
          <a:ln/>
        </p:spPr>
        <p:txBody>
          <a:bodyPr wrap="square" lIns="38100" tIns="38100" rIns="38100" bIns="38100" rtlCol="0" anchor="ctr"/>
          <a:lstStyle/>
          <a:p>
            <a:pPr marL="0" indent="0">
              <a:buNone/>
            </a:pPr>
            <a:r>
              <a:rPr lang="en-US" sz="950" dirty="0">
                <a:solidFill>
                  <a:srgbClr val="D6E4F7"/>
                </a:solidFill>
              </a:rPr>
              <a:t>Fake (FaceSwap)</a:t>
            </a:r>
            <a:endParaRPr lang="en-US" sz="950" dirty="0"/>
          </a:p>
        </p:txBody>
      </p:sp>
      <p:sp>
        <p:nvSpPr>
          <p:cNvPr id="48" name="Text 46"/>
          <p:cNvSpPr/>
          <p:nvPr/>
        </p:nvSpPr>
        <p:spPr>
          <a:xfrm>
            <a:off x="5212080" y="4114800"/>
            <a:ext cx="1152144" cy="283464"/>
          </a:xfrm>
          <a:prstGeom prst="rect">
            <a:avLst/>
          </a:prstGeom>
          <a:noFill/>
          <a:ln/>
        </p:spPr>
        <p:txBody>
          <a:bodyPr wrap="square" lIns="38100" tIns="38100" rIns="38100" bIns="38100" rtlCol="0" anchor="ctr"/>
          <a:lstStyle/>
          <a:p>
            <a:pPr marL="0" indent="0">
              <a:buNone/>
            </a:pPr>
            <a:r>
              <a:rPr lang="en-US" sz="950" dirty="0">
                <a:solidFill>
                  <a:srgbClr val="D6E4F7"/>
                </a:solidFill>
              </a:rPr>
              <a:t>Fake</a:t>
            </a:r>
            <a:endParaRPr lang="en-US" sz="950" dirty="0"/>
          </a:p>
        </p:txBody>
      </p:sp>
      <p:sp>
        <p:nvSpPr>
          <p:cNvPr id="49" name="Text 47"/>
          <p:cNvSpPr/>
          <p:nvPr/>
        </p:nvSpPr>
        <p:spPr>
          <a:xfrm>
            <a:off x="6400800" y="4114800"/>
            <a:ext cx="1197864" cy="283464"/>
          </a:xfrm>
          <a:prstGeom prst="rect">
            <a:avLst/>
          </a:prstGeom>
          <a:noFill/>
          <a:ln/>
        </p:spPr>
        <p:txBody>
          <a:bodyPr wrap="square" lIns="38100" tIns="38100" rIns="38100" bIns="38100" rtlCol="0" anchor="ctr"/>
          <a:lstStyle/>
          <a:p>
            <a:pPr marL="0" indent="0">
              <a:buNone/>
            </a:pPr>
            <a:r>
              <a:rPr lang="en-US" sz="950" dirty="0">
                <a:solidFill>
                  <a:srgbClr val="D6E4F7"/>
                </a:solidFill>
              </a:rPr>
              <a:t>Fake</a:t>
            </a:r>
            <a:endParaRPr lang="en-US" sz="950" dirty="0"/>
          </a:p>
        </p:txBody>
      </p:sp>
      <p:sp>
        <p:nvSpPr>
          <p:cNvPr id="50" name="Text 48"/>
          <p:cNvSpPr/>
          <p:nvPr/>
        </p:nvSpPr>
        <p:spPr>
          <a:xfrm>
            <a:off x="7635240" y="4114800"/>
            <a:ext cx="1106424" cy="283464"/>
          </a:xfrm>
          <a:prstGeom prst="rect">
            <a:avLst/>
          </a:prstGeom>
          <a:noFill/>
          <a:ln/>
        </p:spPr>
        <p:txBody>
          <a:bodyPr wrap="square" lIns="38100" tIns="38100" rIns="38100" bIns="38100" rtlCol="0" anchor="ctr"/>
          <a:lstStyle/>
          <a:p>
            <a:pPr marL="0" indent="0">
              <a:buNone/>
            </a:pPr>
            <a:r>
              <a:rPr lang="en-US" sz="950" b="1" dirty="0">
                <a:solidFill>
                  <a:srgbClr val="00E5A0"/>
                </a:solidFill>
              </a:rPr>
              <a:t>✓ Pass</a:t>
            </a:r>
            <a:endParaRPr lang="en-US" sz="950" dirty="0"/>
          </a:p>
        </p:txBody>
      </p:sp>
      <p:sp>
        <p:nvSpPr>
          <p:cNvPr id="51" name="Shape 49"/>
          <p:cNvSpPr/>
          <p:nvPr/>
        </p:nvSpPr>
        <p:spPr>
          <a:xfrm>
            <a:off x="384048" y="4425696"/>
            <a:ext cx="8375904" cy="283464"/>
          </a:xfrm>
          <a:prstGeom prst="rect">
            <a:avLst/>
          </a:prstGeom>
          <a:solidFill>
            <a:srgbClr val="112244"/>
          </a:solidFill>
          <a:ln w="12700">
            <a:solidFill>
              <a:srgbClr val="112244"/>
            </a:solidFill>
            <a:prstDash val="solid"/>
          </a:ln>
        </p:spPr>
      </p:sp>
      <p:sp>
        <p:nvSpPr>
          <p:cNvPr id="52" name="Text 50"/>
          <p:cNvSpPr/>
          <p:nvPr/>
        </p:nvSpPr>
        <p:spPr>
          <a:xfrm>
            <a:off x="384048" y="4425696"/>
            <a:ext cx="2139696" cy="283464"/>
          </a:xfrm>
          <a:prstGeom prst="rect">
            <a:avLst/>
          </a:prstGeom>
          <a:noFill/>
          <a:ln/>
        </p:spPr>
        <p:txBody>
          <a:bodyPr wrap="square" lIns="38100" tIns="38100" rIns="38100" bIns="38100" rtlCol="0" anchor="ctr"/>
          <a:lstStyle/>
          <a:p>
            <a:pPr marL="0" indent="0">
              <a:buNone/>
            </a:pPr>
            <a:r>
              <a:rPr lang="en-US" sz="950" dirty="0">
                <a:solidFill>
                  <a:srgbClr val="D6E4F7"/>
                </a:solidFill>
              </a:rPr>
              <a:t>TC-04</a:t>
            </a:r>
            <a:endParaRPr lang="en-US" sz="950" dirty="0"/>
          </a:p>
        </p:txBody>
      </p:sp>
      <p:sp>
        <p:nvSpPr>
          <p:cNvPr id="53" name="Text 51"/>
          <p:cNvSpPr/>
          <p:nvPr/>
        </p:nvSpPr>
        <p:spPr>
          <a:xfrm>
            <a:off x="2560320" y="4425696"/>
            <a:ext cx="1335024" cy="283464"/>
          </a:xfrm>
          <a:prstGeom prst="rect">
            <a:avLst/>
          </a:prstGeom>
          <a:noFill/>
          <a:ln/>
        </p:spPr>
        <p:txBody>
          <a:bodyPr wrap="square" lIns="38100" tIns="38100" rIns="38100" bIns="38100" rtlCol="0" anchor="ctr"/>
          <a:lstStyle/>
          <a:p>
            <a:pPr marL="0" indent="0">
              <a:buNone/>
            </a:pPr>
            <a:r>
              <a:rPr lang="en-US" sz="950" dirty="0">
                <a:solidFill>
                  <a:srgbClr val="D6E4F7"/>
                </a:solidFill>
              </a:rPr>
              <a:t>DFDC</a:t>
            </a:r>
            <a:endParaRPr lang="en-US" sz="950" dirty="0"/>
          </a:p>
        </p:txBody>
      </p:sp>
      <p:sp>
        <p:nvSpPr>
          <p:cNvPr id="54" name="Text 52"/>
          <p:cNvSpPr/>
          <p:nvPr/>
        </p:nvSpPr>
        <p:spPr>
          <a:xfrm>
            <a:off x="3931920" y="4425696"/>
            <a:ext cx="1243584" cy="283464"/>
          </a:xfrm>
          <a:prstGeom prst="rect">
            <a:avLst/>
          </a:prstGeom>
          <a:noFill/>
          <a:ln/>
        </p:spPr>
        <p:txBody>
          <a:bodyPr wrap="square" lIns="38100" tIns="38100" rIns="38100" bIns="38100" rtlCol="0" anchor="ctr"/>
          <a:lstStyle/>
          <a:p>
            <a:pPr marL="0" indent="0">
              <a:buNone/>
            </a:pPr>
            <a:r>
              <a:rPr lang="en-US" sz="950" dirty="0">
                <a:solidFill>
                  <a:srgbClr val="D6E4F7"/>
                </a:solidFill>
              </a:rPr>
              <a:t>Real Image</a:t>
            </a:r>
            <a:endParaRPr lang="en-US" sz="950" dirty="0"/>
          </a:p>
        </p:txBody>
      </p:sp>
      <p:sp>
        <p:nvSpPr>
          <p:cNvPr id="55" name="Text 53"/>
          <p:cNvSpPr/>
          <p:nvPr/>
        </p:nvSpPr>
        <p:spPr>
          <a:xfrm>
            <a:off x="5212080" y="4425696"/>
            <a:ext cx="1152144" cy="283464"/>
          </a:xfrm>
          <a:prstGeom prst="rect">
            <a:avLst/>
          </a:prstGeom>
          <a:noFill/>
          <a:ln/>
        </p:spPr>
        <p:txBody>
          <a:bodyPr wrap="square" lIns="38100" tIns="38100" rIns="38100" bIns="38100" rtlCol="0" anchor="ctr"/>
          <a:lstStyle/>
          <a:p>
            <a:pPr marL="0" indent="0">
              <a:buNone/>
            </a:pPr>
            <a:r>
              <a:rPr lang="en-US" sz="950" dirty="0">
                <a:solidFill>
                  <a:srgbClr val="D6E4F7"/>
                </a:solidFill>
              </a:rPr>
              <a:t>Real</a:t>
            </a:r>
            <a:endParaRPr lang="en-US" sz="950" dirty="0"/>
          </a:p>
        </p:txBody>
      </p:sp>
      <p:sp>
        <p:nvSpPr>
          <p:cNvPr id="56" name="Text 54"/>
          <p:cNvSpPr/>
          <p:nvPr/>
        </p:nvSpPr>
        <p:spPr>
          <a:xfrm>
            <a:off x="6400800" y="4425696"/>
            <a:ext cx="1197864" cy="283464"/>
          </a:xfrm>
          <a:prstGeom prst="rect">
            <a:avLst/>
          </a:prstGeom>
          <a:noFill/>
          <a:ln/>
        </p:spPr>
        <p:txBody>
          <a:bodyPr wrap="square" lIns="38100" tIns="38100" rIns="38100" bIns="38100" rtlCol="0" anchor="ctr"/>
          <a:lstStyle/>
          <a:p>
            <a:pPr marL="0" indent="0">
              <a:buNone/>
            </a:pPr>
            <a:r>
              <a:rPr lang="en-US" sz="950" dirty="0">
                <a:solidFill>
                  <a:srgbClr val="D6E4F7"/>
                </a:solidFill>
              </a:rPr>
              <a:t>Real</a:t>
            </a:r>
            <a:endParaRPr lang="en-US" sz="950" dirty="0"/>
          </a:p>
        </p:txBody>
      </p:sp>
      <p:sp>
        <p:nvSpPr>
          <p:cNvPr id="57" name="Text 55"/>
          <p:cNvSpPr/>
          <p:nvPr/>
        </p:nvSpPr>
        <p:spPr>
          <a:xfrm>
            <a:off x="7635240" y="4425696"/>
            <a:ext cx="1106424" cy="283464"/>
          </a:xfrm>
          <a:prstGeom prst="rect">
            <a:avLst/>
          </a:prstGeom>
          <a:noFill/>
          <a:ln/>
        </p:spPr>
        <p:txBody>
          <a:bodyPr wrap="square" lIns="38100" tIns="38100" rIns="38100" bIns="38100" rtlCol="0" anchor="ctr"/>
          <a:lstStyle/>
          <a:p>
            <a:pPr marL="0" indent="0">
              <a:buNone/>
            </a:pPr>
            <a:r>
              <a:rPr lang="en-US" sz="950" b="1" dirty="0">
                <a:solidFill>
                  <a:srgbClr val="00E5A0"/>
                </a:solidFill>
              </a:rPr>
              <a:t>✓ Pass</a:t>
            </a:r>
            <a:endParaRPr lang="en-US" sz="950" dirty="0"/>
          </a:p>
        </p:txBody>
      </p:sp>
      <p:sp>
        <p:nvSpPr>
          <p:cNvPr id="58" name="Shape 56"/>
          <p:cNvSpPr/>
          <p:nvPr/>
        </p:nvSpPr>
        <p:spPr>
          <a:xfrm>
            <a:off x="384048" y="4736592"/>
            <a:ext cx="8375904" cy="283464"/>
          </a:xfrm>
          <a:prstGeom prst="rect">
            <a:avLst/>
          </a:prstGeom>
          <a:solidFill>
            <a:srgbClr val="152B55"/>
          </a:solidFill>
          <a:ln w="12700">
            <a:solidFill>
              <a:srgbClr val="152B55"/>
            </a:solidFill>
            <a:prstDash val="solid"/>
          </a:ln>
        </p:spPr>
      </p:sp>
      <p:sp>
        <p:nvSpPr>
          <p:cNvPr id="59" name="Text 57"/>
          <p:cNvSpPr/>
          <p:nvPr/>
        </p:nvSpPr>
        <p:spPr>
          <a:xfrm>
            <a:off x="384048" y="4736592"/>
            <a:ext cx="2139696" cy="283464"/>
          </a:xfrm>
          <a:prstGeom prst="rect">
            <a:avLst/>
          </a:prstGeom>
          <a:noFill/>
          <a:ln/>
        </p:spPr>
        <p:txBody>
          <a:bodyPr wrap="square" lIns="38100" tIns="38100" rIns="38100" bIns="38100" rtlCol="0" anchor="ctr"/>
          <a:lstStyle/>
          <a:p>
            <a:pPr marL="0" indent="0">
              <a:buNone/>
            </a:pPr>
            <a:r>
              <a:rPr lang="en-US" sz="950" dirty="0">
                <a:solidFill>
                  <a:srgbClr val="D6E4F7"/>
                </a:solidFill>
              </a:rPr>
              <a:t>TC-05</a:t>
            </a:r>
            <a:endParaRPr lang="en-US" sz="950" dirty="0"/>
          </a:p>
        </p:txBody>
      </p:sp>
      <p:sp>
        <p:nvSpPr>
          <p:cNvPr id="60" name="Text 58"/>
          <p:cNvSpPr/>
          <p:nvPr/>
        </p:nvSpPr>
        <p:spPr>
          <a:xfrm>
            <a:off x="2560320" y="4736592"/>
            <a:ext cx="1335024" cy="283464"/>
          </a:xfrm>
          <a:prstGeom prst="rect">
            <a:avLst/>
          </a:prstGeom>
          <a:noFill/>
          <a:ln/>
        </p:spPr>
        <p:txBody>
          <a:bodyPr wrap="square" lIns="38100" tIns="38100" rIns="38100" bIns="38100" rtlCol="0" anchor="ctr"/>
          <a:lstStyle/>
          <a:p>
            <a:pPr marL="0" indent="0">
              <a:buNone/>
            </a:pPr>
            <a:r>
              <a:rPr lang="en-US" sz="950" dirty="0">
                <a:solidFill>
                  <a:srgbClr val="D6E4F7"/>
                </a:solidFill>
              </a:rPr>
              <a:t>140k Faces</a:t>
            </a:r>
            <a:endParaRPr lang="en-US" sz="950" dirty="0"/>
          </a:p>
        </p:txBody>
      </p:sp>
      <p:sp>
        <p:nvSpPr>
          <p:cNvPr id="61" name="Text 59"/>
          <p:cNvSpPr/>
          <p:nvPr/>
        </p:nvSpPr>
        <p:spPr>
          <a:xfrm>
            <a:off x="3931920" y="4736592"/>
            <a:ext cx="1243584" cy="283464"/>
          </a:xfrm>
          <a:prstGeom prst="rect">
            <a:avLst/>
          </a:prstGeom>
          <a:noFill/>
          <a:ln/>
        </p:spPr>
        <p:txBody>
          <a:bodyPr wrap="square" lIns="38100" tIns="38100" rIns="38100" bIns="38100" rtlCol="0" anchor="ctr"/>
          <a:lstStyle/>
          <a:p>
            <a:pPr marL="0" indent="0">
              <a:buNone/>
            </a:pPr>
            <a:r>
              <a:rPr lang="en-US" sz="950" dirty="0">
                <a:solidFill>
                  <a:srgbClr val="D6E4F7"/>
                </a:solidFill>
              </a:rPr>
              <a:t>Fake (StyleGAN)</a:t>
            </a:r>
            <a:endParaRPr lang="en-US" sz="950" dirty="0"/>
          </a:p>
        </p:txBody>
      </p:sp>
      <p:sp>
        <p:nvSpPr>
          <p:cNvPr id="62" name="Text 60"/>
          <p:cNvSpPr/>
          <p:nvPr/>
        </p:nvSpPr>
        <p:spPr>
          <a:xfrm>
            <a:off x="5212080" y="4736592"/>
            <a:ext cx="1152144" cy="283464"/>
          </a:xfrm>
          <a:prstGeom prst="rect">
            <a:avLst/>
          </a:prstGeom>
          <a:noFill/>
          <a:ln/>
        </p:spPr>
        <p:txBody>
          <a:bodyPr wrap="square" lIns="38100" tIns="38100" rIns="38100" bIns="38100" rtlCol="0" anchor="ctr"/>
          <a:lstStyle/>
          <a:p>
            <a:pPr marL="0" indent="0">
              <a:buNone/>
            </a:pPr>
            <a:r>
              <a:rPr lang="en-US" sz="950" dirty="0">
                <a:solidFill>
                  <a:srgbClr val="D6E4F7"/>
                </a:solidFill>
              </a:rPr>
              <a:t>Fake</a:t>
            </a:r>
            <a:endParaRPr lang="en-US" sz="950" dirty="0"/>
          </a:p>
        </p:txBody>
      </p:sp>
      <p:sp>
        <p:nvSpPr>
          <p:cNvPr id="63" name="Text 61"/>
          <p:cNvSpPr/>
          <p:nvPr/>
        </p:nvSpPr>
        <p:spPr>
          <a:xfrm>
            <a:off x="6400800" y="4736592"/>
            <a:ext cx="1197864" cy="283464"/>
          </a:xfrm>
          <a:prstGeom prst="rect">
            <a:avLst/>
          </a:prstGeom>
          <a:noFill/>
          <a:ln/>
        </p:spPr>
        <p:txBody>
          <a:bodyPr wrap="square" lIns="38100" tIns="38100" rIns="38100" bIns="38100" rtlCol="0" anchor="ctr"/>
          <a:lstStyle/>
          <a:p>
            <a:pPr marL="0" indent="0">
              <a:buNone/>
            </a:pPr>
            <a:r>
              <a:rPr lang="en-US" sz="950" dirty="0">
                <a:solidFill>
                  <a:srgbClr val="D6E4F7"/>
                </a:solidFill>
              </a:rPr>
              <a:t>Fake</a:t>
            </a:r>
            <a:endParaRPr lang="en-US" sz="950" dirty="0"/>
          </a:p>
        </p:txBody>
      </p:sp>
      <p:sp>
        <p:nvSpPr>
          <p:cNvPr id="64" name="Text 62"/>
          <p:cNvSpPr/>
          <p:nvPr/>
        </p:nvSpPr>
        <p:spPr>
          <a:xfrm>
            <a:off x="7635240" y="4736592"/>
            <a:ext cx="1106424" cy="283464"/>
          </a:xfrm>
          <a:prstGeom prst="rect">
            <a:avLst/>
          </a:prstGeom>
          <a:noFill/>
          <a:ln/>
        </p:spPr>
        <p:txBody>
          <a:bodyPr wrap="square" lIns="38100" tIns="38100" rIns="38100" bIns="38100" rtlCol="0" anchor="ctr"/>
          <a:lstStyle/>
          <a:p>
            <a:pPr marL="0" indent="0">
              <a:buNone/>
            </a:pPr>
            <a:r>
              <a:rPr lang="en-US" sz="950" b="1" dirty="0">
                <a:solidFill>
                  <a:srgbClr val="00E5A0"/>
                </a:solidFill>
              </a:rPr>
              <a:t>✓ Pass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C8FF"/>
          </a:solidFill>
          <a:ln w="12700">
            <a:solidFill>
              <a:srgbClr val="00C8FF"/>
            </a:solidFill>
            <a:prstDash val="solid"/>
          </a:ln>
        </p:spPr>
      </p:sp>
      <p:sp>
        <p:nvSpPr>
          <p:cNvPr id="3" name="Shape 1"/>
          <p:cNvSpPr/>
          <p:nvPr/>
        </p:nvSpPr>
        <p:spPr>
          <a:xfrm>
            <a:off x="0" y="5093208"/>
            <a:ext cx="9144000" cy="50292"/>
          </a:xfrm>
          <a:prstGeom prst="rect">
            <a:avLst/>
          </a:prstGeom>
          <a:solidFill>
            <a:srgbClr val="7B61FF"/>
          </a:solidFill>
          <a:ln w="12700">
            <a:solidFill>
              <a:srgbClr val="7B61FF"/>
            </a:solidFill>
            <a:prstDash val="solid"/>
          </a:ln>
        </p:spPr>
      </p:sp>
      <p:sp>
        <p:nvSpPr>
          <p:cNvPr id="4" name="Shape 2"/>
          <p:cNvSpPr/>
          <p:nvPr/>
        </p:nvSpPr>
        <p:spPr>
          <a:xfrm>
            <a:off x="384048" y="146304"/>
            <a:ext cx="1371600" cy="246888"/>
          </a:xfrm>
          <a:prstGeom prst="rect">
            <a:avLst/>
          </a:prstGeom>
          <a:solidFill>
            <a:srgbClr val="7B61FF"/>
          </a:solidFill>
          <a:ln w="12700">
            <a:solidFill>
              <a:srgbClr val="7B61FF"/>
            </a:solidFill>
            <a:prstDash val="solid"/>
          </a:ln>
        </p:spPr>
      </p:sp>
      <p:sp>
        <p:nvSpPr>
          <p:cNvPr id="5" name="Text 3"/>
          <p:cNvSpPr/>
          <p:nvPr/>
        </p:nvSpPr>
        <p:spPr>
          <a:xfrm>
            <a:off x="384048" y="146304"/>
            <a:ext cx="1371600" cy="246888"/>
          </a:xfrm>
          <a:prstGeom prst="rect">
            <a:avLst/>
          </a:prstGeom>
          <a:noFill/>
          <a:ln/>
        </p:spPr>
        <p:txBody>
          <a:bodyPr wrap="square" lIns="0" tIns="0" rIns="0" bIns="0" rtlCol="0" anchor="ctr"/>
          <a:lstStyle/>
          <a:p>
            <a:pPr marL="0" indent="0" algn="ctr">
              <a:buNone/>
            </a:pPr>
            <a:r>
              <a:rPr lang="en-US" sz="750" b="1" kern="0" spc="150" dirty="0">
                <a:solidFill>
                  <a:srgbClr val="FFFFFF"/>
                </a:solidFill>
              </a:rPr>
              <a:t>IMPLEMENTATION</a:t>
            </a:r>
            <a:endParaRPr lang="en-US" sz="750" dirty="0"/>
          </a:p>
        </p:txBody>
      </p:sp>
      <p:sp>
        <p:nvSpPr>
          <p:cNvPr id="6" name="Text 4"/>
          <p:cNvSpPr/>
          <p:nvPr/>
        </p:nvSpPr>
        <p:spPr>
          <a:xfrm>
            <a:off x="384048" y="475488"/>
            <a:ext cx="8412480" cy="566928"/>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System Implementation</a:t>
            </a:r>
            <a:endParaRPr lang="en-US" sz="2400" dirty="0"/>
          </a:p>
        </p:txBody>
      </p:sp>
      <p:sp>
        <p:nvSpPr>
          <p:cNvPr id="7" name="Shape 5"/>
          <p:cNvSpPr/>
          <p:nvPr/>
        </p:nvSpPr>
        <p:spPr>
          <a:xfrm>
            <a:off x="384048" y="1078992"/>
            <a:ext cx="502920" cy="50292"/>
          </a:xfrm>
          <a:prstGeom prst="rect">
            <a:avLst/>
          </a:prstGeom>
          <a:solidFill>
            <a:srgbClr val="00C8FF"/>
          </a:solidFill>
          <a:ln w="12700">
            <a:solidFill>
              <a:srgbClr val="00C8FF"/>
            </a:solidFill>
            <a:prstDash val="solid"/>
          </a:ln>
        </p:spPr>
      </p:sp>
      <p:sp>
        <p:nvSpPr>
          <p:cNvPr id="8" name="Shape 6"/>
          <p:cNvSpPr/>
          <p:nvPr/>
        </p:nvSpPr>
        <p:spPr>
          <a:xfrm>
            <a:off x="932688" y="1078992"/>
            <a:ext cx="7827264" cy="50292"/>
          </a:xfrm>
          <a:prstGeom prst="rect">
            <a:avLst/>
          </a:prstGeom>
          <a:solidFill>
            <a:srgbClr val="112244"/>
          </a:solidFill>
          <a:ln w="12700">
            <a:solidFill>
              <a:srgbClr val="112244"/>
            </a:solidFill>
            <a:prstDash val="solid"/>
          </a:ln>
        </p:spPr>
      </p:sp>
      <p:sp>
        <p:nvSpPr>
          <p:cNvPr id="9" name="Text 7"/>
          <p:cNvSpPr/>
          <p:nvPr/>
        </p:nvSpPr>
        <p:spPr>
          <a:xfrm>
            <a:off x="8229600" y="4828032"/>
            <a:ext cx="731520" cy="201168"/>
          </a:xfrm>
          <a:prstGeom prst="rect">
            <a:avLst/>
          </a:prstGeom>
          <a:noFill/>
          <a:ln/>
        </p:spPr>
        <p:txBody>
          <a:bodyPr wrap="square" lIns="0" tIns="0" rIns="0" bIns="0" rtlCol="0" anchor="ctr"/>
          <a:lstStyle/>
          <a:p>
            <a:pPr marL="0" indent="0" algn="r">
              <a:buNone/>
            </a:pPr>
            <a:r>
              <a:rPr lang="en-US" sz="850" dirty="0">
                <a:solidFill>
                  <a:srgbClr val="7A96BB"/>
                </a:solidFill>
              </a:rPr>
              <a:t>8 / 11</a:t>
            </a:r>
            <a:endParaRPr lang="en-US" sz="850" dirty="0"/>
          </a:p>
        </p:txBody>
      </p:sp>
      <p:sp>
        <p:nvSpPr>
          <p:cNvPr id="10" name="Shape 8"/>
          <p:cNvSpPr/>
          <p:nvPr/>
        </p:nvSpPr>
        <p:spPr>
          <a:xfrm>
            <a:off x="384048" y="1234440"/>
            <a:ext cx="8375904" cy="822960"/>
          </a:xfrm>
          <a:prstGeom prst="rect">
            <a:avLst/>
          </a:prstGeom>
          <a:solidFill>
            <a:srgbClr val="152B55"/>
          </a:solidFill>
          <a:ln w="8890">
            <a:solidFill>
              <a:srgbClr val="00C8FF"/>
            </a:solidFill>
            <a:prstDash val="solid"/>
          </a:ln>
          <a:effectLst>
            <a:outerShdw blurRad="101600" dist="38100" dir="8100000" algn="bl" rotWithShape="0">
              <a:srgbClr val="000000">
                <a:alpha val="28000"/>
              </a:srgbClr>
            </a:outerShdw>
          </a:effectLst>
        </p:spPr>
      </p:sp>
      <p:sp>
        <p:nvSpPr>
          <p:cNvPr id="11" name="Text 9"/>
          <p:cNvSpPr/>
          <p:nvPr/>
        </p:nvSpPr>
        <p:spPr>
          <a:xfrm>
            <a:off x="566928" y="1298448"/>
            <a:ext cx="1828800" cy="274320"/>
          </a:xfrm>
          <a:prstGeom prst="rect">
            <a:avLst/>
          </a:prstGeom>
          <a:noFill/>
          <a:ln/>
        </p:spPr>
        <p:txBody>
          <a:bodyPr wrap="square" lIns="0" tIns="0" rIns="0" bIns="0" rtlCol="0" anchor="ctr"/>
          <a:lstStyle/>
          <a:p>
            <a:pPr marL="0" indent="0">
              <a:buNone/>
            </a:pPr>
            <a:r>
              <a:rPr lang="en-US" sz="1100" b="1" dirty="0">
                <a:solidFill>
                  <a:srgbClr val="00C8FF"/>
                </a:solidFill>
              </a:rPr>
              <a:t>Technology Stack</a:t>
            </a:r>
            <a:endParaRPr lang="en-US" sz="1100" dirty="0"/>
          </a:p>
        </p:txBody>
      </p:sp>
      <p:sp>
        <p:nvSpPr>
          <p:cNvPr id="12" name="Shape 10"/>
          <p:cNvSpPr/>
          <p:nvPr/>
        </p:nvSpPr>
        <p:spPr>
          <a:xfrm>
            <a:off x="2468880" y="1316736"/>
            <a:ext cx="768096" cy="256032"/>
          </a:xfrm>
          <a:prstGeom prst="rect">
            <a:avLst/>
          </a:prstGeom>
          <a:solidFill>
            <a:srgbClr val="7B61FF"/>
          </a:solidFill>
          <a:ln w="12700">
            <a:solidFill>
              <a:srgbClr val="7B61FF"/>
            </a:solidFill>
            <a:prstDash val="solid"/>
          </a:ln>
        </p:spPr>
      </p:sp>
      <p:sp>
        <p:nvSpPr>
          <p:cNvPr id="13" name="Text 11"/>
          <p:cNvSpPr/>
          <p:nvPr/>
        </p:nvSpPr>
        <p:spPr>
          <a:xfrm>
            <a:off x="2468880" y="1316736"/>
            <a:ext cx="768096" cy="256032"/>
          </a:xfrm>
          <a:prstGeom prst="rect">
            <a:avLst/>
          </a:prstGeom>
          <a:noFill/>
          <a:ln/>
        </p:spPr>
        <p:txBody>
          <a:bodyPr wrap="square" lIns="0" tIns="0" rIns="0" bIns="0" rtlCol="0" anchor="ctr"/>
          <a:lstStyle/>
          <a:p>
            <a:pPr marL="0" indent="0" algn="ctr">
              <a:buNone/>
            </a:pPr>
            <a:r>
              <a:rPr lang="en-US" sz="800" b="1" dirty="0">
                <a:solidFill>
                  <a:srgbClr val="FFFFFF"/>
                </a:solidFill>
              </a:rPr>
              <a:t>Python 3.9</a:t>
            </a:r>
            <a:endParaRPr lang="en-US" sz="800" dirty="0"/>
          </a:p>
        </p:txBody>
      </p:sp>
      <p:sp>
        <p:nvSpPr>
          <p:cNvPr id="14" name="Shape 12"/>
          <p:cNvSpPr/>
          <p:nvPr/>
        </p:nvSpPr>
        <p:spPr>
          <a:xfrm>
            <a:off x="3310128" y="1316736"/>
            <a:ext cx="768096" cy="256032"/>
          </a:xfrm>
          <a:prstGeom prst="rect">
            <a:avLst/>
          </a:prstGeom>
          <a:solidFill>
            <a:srgbClr val="7B61FF"/>
          </a:solidFill>
          <a:ln w="12700">
            <a:solidFill>
              <a:srgbClr val="7B61FF"/>
            </a:solidFill>
            <a:prstDash val="solid"/>
          </a:ln>
        </p:spPr>
      </p:sp>
      <p:sp>
        <p:nvSpPr>
          <p:cNvPr id="15" name="Text 13"/>
          <p:cNvSpPr/>
          <p:nvPr/>
        </p:nvSpPr>
        <p:spPr>
          <a:xfrm>
            <a:off x="3310128" y="1316736"/>
            <a:ext cx="768096" cy="256032"/>
          </a:xfrm>
          <a:prstGeom prst="rect">
            <a:avLst/>
          </a:prstGeom>
          <a:noFill/>
          <a:ln/>
        </p:spPr>
        <p:txBody>
          <a:bodyPr wrap="square" lIns="0" tIns="0" rIns="0" bIns="0" rtlCol="0" anchor="ctr"/>
          <a:lstStyle/>
          <a:p>
            <a:pPr marL="0" indent="0" algn="ctr">
              <a:buNone/>
            </a:pPr>
            <a:r>
              <a:rPr lang="en-US" sz="800" b="1" dirty="0">
                <a:solidFill>
                  <a:srgbClr val="FFFFFF"/>
                </a:solidFill>
              </a:rPr>
              <a:t>PyTorch 2.0</a:t>
            </a:r>
            <a:endParaRPr lang="en-US" sz="800" dirty="0"/>
          </a:p>
        </p:txBody>
      </p:sp>
      <p:sp>
        <p:nvSpPr>
          <p:cNvPr id="16" name="Shape 14"/>
          <p:cNvSpPr/>
          <p:nvPr/>
        </p:nvSpPr>
        <p:spPr>
          <a:xfrm>
            <a:off x="4151376" y="1316736"/>
            <a:ext cx="768096" cy="256032"/>
          </a:xfrm>
          <a:prstGeom prst="rect">
            <a:avLst/>
          </a:prstGeom>
          <a:solidFill>
            <a:srgbClr val="7B61FF"/>
          </a:solidFill>
          <a:ln w="12700">
            <a:solidFill>
              <a:srgbClr val="7B61FF"/>
            </a:solidFill>
            <a:prstDash val="solid"/>
          </a:ln>
        </p:spPr>
      </p:sp>
      <p:sp>
        <p:nvSpPr>
          <p:cNvPr id="17" name="Text 15"/>
          <p:cNvSpPr/>
          <p:nvPr/>
        </p:nvSpPr>
        <p:spPr>
          <a:xfrm>
            <a:off x="4151376" y="1316736"/>
            <a:ext cx="768096" cy="256032"/>
          </a:xfrm>
          <a:prstGeom prst="rect">
            <a:avLst/>
          </a:prstGeom>
          <a:noFill/>
          <a:ln/>
        </p:spPr>
        <p:txBody>
          <a:bodyPr wrap="square" lIns="0" tIns="0" rIns="0" bIns="0" rtlCol="0" anchor="ctr"/>
          <a:lstStyle/>
          <a:p>
            <a:pPr marL="0" indent="0" algn="ctr">
              <a:buNone/>
            </a:pPr>
            <a:r>
              <a:rPr lang="en-US" sz="800" b="1" dirty="0">
                <a:solidFill>
                  <a:srgbClr val="FFFFFF"/>
                </a:solidFill>
              </a:rPr>
              <a:t>HuggingFace ViT</a:t>
            </a:r>
            <a:endParaRPr lang="en-US" sz="800" dirty="0"/>
          </a:p>
        </p:txBody>
      </p:sp>
      <p:sp>
        <p:nvSpPr>
          <p:cNvPr id="18" name="Shape 16"/>
          <p:cNvSpPr/>
          <p:nvPr/>
        </p:nvSpPr>
        <p:spPr>
          <a:xfrm>
            <a:off x="4992624" y="1316736"/>
            <a:ext cx="768096" cy="256032"/>
          </a:xfrm>
          <a:prstGeom prst="rect">
            <a:avLst/>
          </a:prstGeom>
          <a:solidFill>
            <a:srgbClr val="7B61FF"/>
          </a:solidFill>
          <a:ln w="12700">
            <a:solidFill>
              <a:srgbClr val="7B61FF"/>
            </a:solidFill>
            <a:prstDash val="solid"/>
          </a:ln>
        </p:spPr>
      </p:sp>
      <p:sp>
        <p:nvSpPr>
          <p:cNvPr id="19" name="Text 17"/>
          <p:cNvSpPr/>
          <p:nvPr/>
        </p:nvSpPr>
        <p:spPr>
          <a:xfrm>
            <a:off x="4992624" y="1316736"/>
            <a:ext cx="768096" cy="256032"/>
          </a:xfrm>
          <a:prstGeom prst="rect">
            <a:avLst/>
          </a:prstGeom>
          <a:noFill/>
          <a:ln/>
        </p:spPr>
        <p:txBody>
          <a:bodyPr wrap="square" lIns="0" tIns="0" rIns="0" bIns="0" rtlCol="0" anchor="ctr"/>
          <a:lstStyle/>
          <a:p>
            <a:pPr marL="0" indent="0" algn="ctr">
              <a:buNone/>
            </a:pPr>
            <a:r>
              <a:rPr lang="en-US" sz="800" b="1" dirty="0">
                <a:solidFill>
                  <a:srgbClr val="FFFFFF"/>
                </a:solidFill>
              </a:rPr>
              <a:t>OpenCV</a:t>
            </a:r>
            <a:endParaRPr lang="en-US" sz="800" dirty="0"/>
          </a:p>
        </p:txBody>
      </p:sp>
      <p:sp>
        <p:nvSpPr>
          <p:cNvPr id="20" name="Shape 18"/>
          <p:cNvSpPr/>
          <p:nvPr/>
        </p:nvSpPr>
        <p:spPr>
          <a:xfrm>
            <a:off x="5833872" y="1316736"/>
            <a:ext cx="768096" cy="256032"/>
          </a:xfrm>
          <a:prstGeom prst="rect">
            <a:avLst/>
          </a:prstGeom>
          <a:solidFill>
            <a:srgbClr val="7B61FF"/>
          </a:solidFill>
          <a:ln w="12700">
            <a:solidFill>
              <a:srgbClr val="7B61FF"/>
            </a:solidFill>
            <a:prstDash val="solid"/>
          </a:ln>
        </p:spPr>
      </p:sp>
      <p:sp>
        <p:nvSpPr>
          <p:cNvPr id="21" name="Text 19"/>
          <p:cNvSpPr/>
          <p:nvPr/>
        </p:nvSpPr>
        <p:spPr>
          <a:xfrm>
            <a:off x="5833872" y="1316736"/>
            <a:ext cx="768096" cy="256032"/>
          </a:xfrm>
          <a:prstGeom prst="rect">
            <a:avLst/>
          </a:prstGeom>
          <a:noFill/>
          <a:ln/>
        </p:spPr>
        <p:txBody>
          <a:bodyPr wrap="square" lIns="0" tIns="0" rIns="0" bIns="0" rtlCol="0" anchor="ctr"/>
          <a:lstStyle/>
          <a:p>
            <a:pPr marL="0" indent="0" algn="ctr">
              <a:buNone/>
            </a:pPr>
            <a:r>
              <a:rPr lang="en-US" sz="800" b="1" dirty="0">
                <a:solidFill>
                  <a:srgbClr val="FFFFFF"/>
                </a:solidFill>
              </a:rPr>
              <a:t>MTCNN</a:t>
            </a:r>
            <a:endParaRPr lang="en-US" sz="800" dirty="0"/>
          </a:p>
        </p:txBody>
      </p:sp>
      <p:sp>
        <p:nvSpPr>
          <p:cNvPr id="22" name="Shape 20"/>
          <p:cNvSpPr/>
          <p:nvPr/>
        </p:nvSpPr>
        <p:spPr>
          <a:xfrm>
            <a:off x="6675120" y="1316736"/>
            <a:ext cx="768096" cy="256032"/>
          </a:xfrm>
          <a:prstGeom prst="rect">
            <a:avLst/>
          </a:prstGeom>
          <a:solidFill>
            <a:srgbClr val="7B61FF"/>
          </a:solidFill>
          <a:ln w="12700">
            <a:solidFill>
              <a:srgbClr val="7B61FF"/>
            </a:solidFill>
            <a:prstDash val="solid"/>
          </a:ln>
        </p:spPr>
      </p:sp>
      <p:sp>
        <p:nvSpPr>
          <p:cNvPr id="23" name="Text 21"/>
          <p:cNvSpPr/>
          <p:nvPr/>
        </p:nvSpPr>
        <p:spPr>
          <a:xfrm>
            <a:off x="6675120" y="1316736"/>
            <a:ext cx="768096" cy="256032"/>
          </a:xfrm>
          <a:prstGeom prst="rect">
            <a:avLst/>
          </a:prstGeom>
          <a:noFill/>
          <a:ln/>
        </p:spPr>
        <p:txBody>
          <a:bodyPr wrap="square" lIns="0" tIns="0" rIns="0" bIns="0" rtlCol="0" anchor="ctr"/>
          <a:lstStyle/>
          <a:p>
            <a:pPr marL="0" indent="0" algn="ctr">
              <a:buNone/>
            </a:pPr>
            <a:r>
              <a:rPr lang="en-US" sz="800" b="1" dirty="0">
                <a:solidFill>
                  <a:srgbClr val="FFFFFF"/>
                </a:solidFill>
              </a:rPr>
              <a:t>Grad-CAM</a:t>
            </a:r>
            <a:endParaRPr lang="en-US" sz="800" dirty="0"/>
          </a:p>
        </p:txBody>
      </p:sp>
      <p:sp>
        <p:nvSpPr>
          <p:cNvPr id="24" name="Shape 22"/>
          <p:cNvSpPr/>
          <p:nvPr/>
        </p:nvSpPr>
        <p:spPr>
          <a:xfrm>
            <a:off x="7516368" y="1316736"/>
            <a:ext cx="768096" cy="256032"/>
          </a:xfrm>
          <a:prstGeom prst="rect">
            <a:avLst/>
          </a:prstGeom>
          <a:solidFill>
            <a:srgbClr val="7B61FF"/>
          </a:solidFill>
          <a:ln w="12700">
            <a:solidFill>
              <a:srgbClr val="7B61FF"/>
            </a:solidFill>
            <a:prstDash val="solid"/>
          </a:ln>
        </p:spPr>
      </p:sp>
      <p:sp>
        <p:nvSpPr>
          <p:cNvPr id="25" name="Text 23"/>
          <p:cNvSpPr/>
          <p:nvPr/>
        </p:nvSpPr>
        <p:spPr>
          <a:xfrm>
            <a:off x="7516368" y="1316736"/>
            <a:ext cx="768096" cy="256032"/>
          </a:xfrm>
          <a:prstGeom prst="rect">
            <a:avLst/>
          </a:prstGeom>
          <a:noFill/>
          <a:ln/>
        </p:spPr>
        <p:txBody>
          <a:bodyPr wrap="square" lIns="0" tIns="0" rIns="0" bIns="0" rtlCol="0" anchor="ctr"/>
          <a:lstStyle/>
          <a:p>
            <a:pPr marL="0" indent="0" algn="ctr">
              <a:buNone/>
            </a:pPr>
            <a:r>
              <a:rPr lang="en-US" sz="800" b="1" dirty="0">
                <a:solidFill>
                  <a:srgbClr val="FFFFFF"/>
                </a:solidFill>
              </a:rPr>
              <a:t>NumPy / Pandas</a:t>
            </a:r>
            <a:endParaRPr lang="en-US" sz="800" dirty="0"/>
          </a:p>
        </p:txBody>
      </p:sp>
      <p:sp>
        <p:nvSpPr>
          <p:cNvPr id="26" name="Shape 24"/>
          <p:cNvSpPr/>
          <p:nvPr/>
        </p:nvSpPr>
        <p:spPr>
          <a:xfrm>
            <a:off x="8357616" y="1316736"/>
            <a:ext cx="768096" cy="256032"/>
          </a:xfrm>
          <a:prstGeom prst="rect">
            <a:avLst/>
          </a:prstGeom>
          <a:solidFill>
            <a:srgbClr val="7B61FF"/>
          </a:solidFill>
          <a:ln w="12700">
            <a:solidFill>
              <a:srgbClr val="7B61FF"/>
            </a:solidFill>
            <a:prstDash val="solid"/>
          </a:ln>
        </p:spPr>
      </p:sp>
      <p:sp>
        <p:nvSpPr>
          <p:cNvPr id="27" name="Text 25"/>
          <p:cNvSpPr/>
          <p:nvPr/>
        </p:nvSpPr>
        <p:spPr>
          <a:xfrm>
            <a:off x="8357616" y="1316736"/>
            <a:ext cx="768096" cy="256032"/>
          </a:xfrm>
          <a:prstGeom prst="rect">
            <a:avLst/>
          </a:prstGeom>
          <a:noFill/>
          <a:ln/>
        </p:spPr>
        <p:txBody>
          <a:bodyPr wrap="square" lIns="0" tIns="0" rIns="0" bIns="0" rtlCol="0" anchor="ctr"/>
          <a:lstStyle/>
          <a:p>
            <a:pPr marL="0" indent="0" algn="ctr">
              <a:buNone/>
            </a:pPr>
            <a:r>
              <a:rPr lang="en-US" sz="800" b="1" dirty="0">
                <a:solidFill>
                  <a:srgbClr val="FFFFFF"/>
                </a:solidFill>
              </a:rPr>
              <a:t>Flask (Web App)</a:t>
            </a:r>
            <a:endParaRPr lang="en-US" sz="800" dirty="0"/>
          </a:p>
        </p:txBody>
      </p:sp>
      <p:sp>
        <p:nvSpPr>
          <p:cNvPr id="28" name="Shape 26"/>
          <p:cNvSpPr/>
          <p:nvPr/>
        </p:nvSpPr>
        <p:spPr>
          <a:xfrm>
            <a:off x="384048" y="2176272"/>
            <a:ext cx="2057400" cy="2651760"/>
          </a:xfrm>
          <a:prstGeom prst="rect">
            <a:avLst/>
          </a:prstGeom>
          <a:solidFill>
            <a:srgbClr val="152B55"/>
          </a:solidFill>
          <a:ln w="8890">
            <a:solidFill>
              <a:srgbClr val="00C8FF"/>
            </a:solidFill>
            <a:prstDash val="solid"/>
          </a:ln>
          <a:effectLst>
            <a:outerShdw blurRad="101600" dist="38100" dir="8100000" algn="bl" rotWithShape="0">
              <a:srgbClr val="000000">
                <a:alpha val="28000"/>
              </a:srgbClr>
            </a:outerShdw>
          </a:effectLst>
        </p:spPr>
      </p:sp>
      <p:sp>
        <p:nvSpPr>
          <p:cNvPr id="29" name="Shape 27"/>
          <p:cNvSpPr/>
          <p:nvPr/>
        </p:nvSpPr>
        <p:spPr>
          <a:xfrm>
            <a:off x="384048" y="2176272"/>
            <a:ext cx="502920" cy="384048"/>
          </a:xfrm>
          <a:prstGeom prst="rect">
            <a:avLst/>
          </a:prstGeom>
          <a:solidFill>
            <a:srgbClr val="00C8FF"/>
          </a:solidFill>
          <a:ln w="12700">
            <a:solidFill>
              <a:srgbClr val="00C8FF"/>
            </a:solidFill>
            <a:prstDash val="solid"/>
          </a:ln>
        </p:spPr>
      </p:sp>
      <p:sp>
        <p:nvSpPr>
          <p:cNvPr id="30" name="Text 28"/>
          <p:cNvSpPr/>
          <p:nvPr/>
        </p:nvSpPr>
        <p:spPr>
          <a:xfrm>
            <a:off x="384048" y="2176272"/>
            <a:ext cx="502920" cy="384048"/>
          </a:xfrm>
          <a:prstGeom prst="rect">
            <a:avLst/>
          </a:prstGeom>
          <a:noFill/>
          <a:ln/>
        </p:spPr>
        <p:txBody>
          <a:bodyPr wrap="square" lIns="0" tIns="0" rIns="0" bIns="0" rtlCol="0" anchor="ctr"/>
          <a:lstStyle/>
          <a:p>
            <a:pPr marL="0" indent="0" algn="ctr">
              <a:buNone/>
            </a:pPr>
            <a:r>
              <a:rPr lang="en-US" sz="1400" b="1" dirty="0">
                <a:solidFill>
                  <a:srgbClr val="0A0E1A"/>
                </a:solidFill>
              </a:rPr>
              <a:t>01</a:t>
            </a:r>
            <a:endParaRPr lang="en-US" sz="1400" dirty="0"/>
          </a:p>
        </p:txBody>
      </p:sp>
      <p:sp>
        <p:nvSpPr>
          <p:cNvPr id="31" name="Text 29"/>
          <p:cNvSpPr/>
          <p:nvPr/>
        </p:nvSpPr>
        <p:spPr>
          <a:xfrm>
            <a:off x="932688" y="2221992"/>
            <a:ext cx="1417320" cy="310896"/>
          </a:xfrm>
          <a:prstGeom prst="rect">
            <a:avLst/>
          </a:prstGeom>
          <a:noFill/>
          <a:ln/>
        </p:spPr>
        <p:txBody>
          <a:bodyPr wrap="square" lIns="0" tIns="0" rIns="0" bIns="0" rtlCol="0" anchor="ctr"/>
          <a:lstStyle/>
          <a:p>
            <a:pPr marL="0" indent="0">
              <a:buNone/>
            </a:pPr>
            <a:r>
              <a:rPr lang="en-US" sz="1050" b="1" dirty="0">
                <a:solidFill>
                  <a:srgbClr val="00C8FF"/>
                </a:solidFill>
              </a:rPr>
              <a:t>Data Preparation</a:t>
            </a:r>
            <a:endParaRPr lang="en-US" sz="1050" dirty="0"/>
          </a:p>
        </p:txBody>
      </p:sp>
      <p:sp>
        <p:nvSpPr>
          <p:cNvPr id="32" name="Text 30"/>
          <p:cNvSpPr/>
          <p:nvPr/>
        </p:nvSpPr>
        <p:spPr>
          <a:xfrm>
            <a:off x="475488" y="2633472"/>
            <a:ext cx="1874520" cy="246888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D6E4F7"/>
                </a:solidFill>
              </a:rPr>
              <a:t>Downloaded FF++, Celeb-DF, DFDC datasets</a:t>
            </a:r>
            <a:endParaRPr lang="en-US" sz="950" dirty="0"/>
          </a:p>
          <a:p>
            <a:pPr marL="342900" indent="-342900">
              <a:spcAft>
                <a:spcPts val="400"/>
              </a:spcAft>
              <a:buSzPct val="100000"/>
              <a:buChar char="•"/>
            </a:pPr>
            <a:r>
              <a:rPr lang="en-US" sz="950" dirty="0">
                <a:solidFill>
                  <a:srgbClr val="D6E4F7"/>
                </a:solidFill>
              </a:rPr>
              <a:t>Applied MTCNN face detection &amp; cropping</a:t>
            </a:r>
            <a:endParaRPr lang="en-US" sz="950" dirty="0"/>
          </a:p>
          <a:p>
            <a:pPr marL="342900" indent="-342900">
              <a:spcAft>
                <a:spcPts val="400"/>
              </a:spcAft>
              <a:buSzPct val="100000"/>
              <a:buChar char="•"/>
            </a:pPr>
            <a:r>
              <a:rPr lang="en-US" sz="950" dirty="0">
                <a:solidFill>
                  <a:srgbClr val="D6E4F7"/>
                </a:solidFill>
              </a:rPr>
              <a:t>Frame extraction at 10 FPS for video inputs</a:t>
            </a:r>
            <a:endParaRPr lang="en-US" sz="950" dirty="0"/>
          </a:p>
          <a:p>
            <a:pPr marL="342900" indent="-342900">
              <a:spcAft>
                <a:spcPts val="400"/>
              </a:spcAft>
              <a:buSzPct val="100000"/>
              <a:buChar char="•"/>
            </a:pPr>
            <a:r>
              <a:rPr lang="en-US" sz="950" dirty="0">
                <a:solidFill>
                  <a:srgbClr val="D6E4F7"/>
                </a:solidFill>
              </a:rPr>
              <a:t>80/10/10 train/val/test split</a:t>
            </a:r>
            <a:endParaRPr lang="en-US" sz="950" dirty="0"/>
          </a:p>
        </p:txBody>
      </p:sp>
      <p:sp>
        <p:nvSpPr>
          <p:cNvPr id="33" name="Shape 31"/>
          <p:cNvSpPr/>
          <p:nvPr/>
        </p:nvSpPr>
        <p:spPr>
          <a:xfrm>
            <a:off x="2596896" y="2176272"/>
            <a:ext cx="2057400" cy="2651760"/>
          </a:xfrm>
          <a:prstGeom prst="rect">
            <a:avLst/>
          </a:prstGeom>
          <a:solidFill>
            <a:srgbClr val="152B55"/>
          </a:solidFill>
          <a:ln w="8890">
            <a:solidFill>
              <a:srgbClr val="00E5A0"/>
            </a:solidFill>
            <a:prstDash val="solid"/>
          </a:ln>
          <a:effectLst>
            <a:outerShdw blurRad="101600" dist="38100" dir="8100000" algn="bl" rotWithShape="0">
              <a:srgbClr val="000000">
                <a:alpha val="28000"/>
              </a:srgbClr>
            </a:outerShdw>
          </a:effectLst>
        </p:spPr>
      </p:sp>
      <p:sp>
        <p:nvSpPr>
          <p:cNvPr id="34" name="Shape 32"/>
          <p:cNvSpPr/>
          <p:nvPr/>
        </p:nvSpPr>
        <p:spPr>
          <a:xfrm>
            <a:off x="2596896" y="2176272"/>
            <a:ext cx="502920" cy="384048"/>
          </a:xfrm>
          <a:prstGeom prst="rect">
            <a:avLst/>
          </a:prstGeom>
          <a:solidFill>
            <a:srgbClr val="00E5A0"/>
          </a:solidFill>
          <a:ln w="12700">
            <a:solidFill>
              <a:srgbClr val="00E5A0"/>
            </a:solidFill>
            <a:prstDash val="solid"/>
          </a:ln>
        </p:spPr>
      </p:sp>
      <p:sp>
        <p:nvSpPr>
          <p:cNvPr id="35" name="Text 33"/>
          <p:cNvSpPr/>
          <p:nvPr/>
        </p:nvSpPr>
        <p:spPr>
          <a:xfrm>
            <a:off x="2596896" y="2176272"/>
            <a:ext cx="502920" cy="384048"/>
          </a:xfrm>
          <a:prstGeom prst="rect">
            <a:avLst/>
          </a:prstGeom>
          <a:noFill/>
          <a:ln/>
        </p:spPr>
        <p:txBody>
          <a:bodyPr wrap="square" lIns="0" tIns="0" rIns="0" bIns="0" rtlCol="0" anchor="ctr"/>
          <a:lstStyle/>
          <a:p>
            <a:pPr marL="0" indent="0" algn="ctr">
              <a:buNone/>
            </a:pPr>
            <a:r>
              <a:rPr lang="en-US" sz="1400" b="1" dirty="0">
                <a:solidFill>
                  <a:srgbClr val="0A0E1A"/>
                </a:solidFill>
              </a:rPr>
              <a:t>02</a:t>
            </a:r>
            <a:endParaRPr lang="en-US" sz="1400" dirty="0"/>
          </a:p>
        </p:txBody>
      </p:sp>
      <p:sp>
        <p:nvSpPr>
          <p:cNvPr id="36" name="Text 34"/>
          <p:cNvSpPr/>
          <p:nvPr/>
        </p:nvSpPr>
        <p:spPr>
          <a:xfrm>
            <a:off x="3145536" y="2221992"/>
            <a:ext cx="1417320" cy="310896"/>
          </a:xfrm>
          <a:prstGeom prst="rect">
            <a:avLst/>
          </a:prstGeom>
          <a:noFill/>
          <a:ln/>
        </p:spPr>
        <p:txBody>
          <a:bodyPr wrap="square" lIns="0" tIns="0" rIns="0" bIns="0" rtlCol="0" anchor="ctr"/>
          <a:lstStyle/>
          <a:p>
            <a:pPr marL="0" indent="0">
              <a:buNone/>
            </a:pPr>
            <a:r>
              <a:rPr lang="en-US" sz="1050" b="1" dirty="0">
                <a:solidFill>
                  <a:srgbClr val="00E5A0"/>
                </a:solidFill>
              </a:rPr>
              <a:t>Model Training</a:t>
            </a:r>
            <a:endParaRPr lang="en-US" sz="1050" dirty="0"/>
          </a:p>
        </p:txBody>
      </p:sp>
      <p:sp>
        <p:nvSpPr>
          <p:cNvPr id="37" name="Text 35"/>
          <p:cNvSpPr/>
          <p:nvPr/>
        </p:nvSpPr>
        <p:spPr>
          <a:xfrm>
            <a:off x="2688336" y="2633472"/>
            <a:ext cx="1874520" cy="246888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D6E4F7"/>
                </a:solidFill>
              </a:rPr>
              <a:t>EfficientNet-B4 pre-trained on ImageNet</a:t>
            </a:r>
            <a:endParaRPr lang="en-US" sz="950" dirty="0"/>
          </a:p>
          <a:p>
            <a:pPr marL="342900" indent="-342900">
              <a:spcAft>
                <a:spcPts val="400"/>
              </a:spcAft>
              <a:buSzPct val="100000"/>
              <a:buChar char="•"/>
            </a:pPr>
            <a:r>
              <a:rPr lang="en-US" sz="950" dirty="0">
                <a:solidFill>
                  <a:srgbClr val="D6E4F7"/>
                </a:solidFill>
              </a:rPr>
              <a:t>BiLSTM: 2-layer, hidden size 512, dropout 0.3</a:t>
            </a:r>
            <a:endParaRPr lang="en-US" sz="950" dirty="0"/>
          </a:p>
          <a:p>
            <a:pPr marL="342900" indent="-342900">
              <a:spcAft>
                <a:spcPts val="400"/>
              </a:spcAft>
              <a:buSzPct val="100000"/>
              <a:buChar char="•"/>
            </a:pPr>
            <a:r>
              <a:rPr lang="en-US" sz="950" dirty="0">
                <a:solidFill>
                  <a:srgbClr val="D6E4F7"/>
                </a:solidFill>
              </a:rPr>
              <a:t>ViT-B/16 with 12 attention heads</a:t>
            </a:r>
            <a:endParaRPr lang="en-US" sz="950" dirty="0"/>
          </a:p>
          <a:p>
            <a:pPr marL="342900" indent="-342900">
              <a:spcAft>
                <a:spcPts val="400"/>
              </a:spcAft>
              <a:buSzPct val="100000"/>
              <a:buChar char="•"/>
            </a:pPr>
            <a:r>
              <a:rPr lang="en-US" sz="950" dirty="0">
                <a:solidFill>
                  <a:srgbClr val="D6E4F7"/>
                </a:solidFill>
              </a:rPr>
              <a:t>AdamW optimizer, LR=1e-4, 50 epochs</a:t>
            </a:r>
            <a:endParaRPr lang="en-US" sz="950" dirty="0"/>
          </a:p>
        </p:txBody>
      </p:sp>
      <p:sp>
        <p:nvSpPr>
          <p:cNvPr id="38" name="Shape 36"/>
          <p:cNvSpPr/>
          <p:nvPr/>
        </p:nvSpPr>
        <p:spPr>
          <a:xfrm>
            <a:off x="4809744" y="2176272"/>
            <a:ext cx="2057400" cy="2651760"/>
          </a:xfrm>
          <a:prstGeom prst="rect">
            <a:avLst/>
          </a:prstGeom>
          <a:solidFill>
            <a:srgbClr val="152B55"/>
          </a:solidFill>
          <a:ln w="8890">
            <a:solidFill>
              <a:srgbClr val="FFD166"/>
            </a:solidFill>
            <a:prstDash val="solid"/>
          </a:ln>
          <a:effectLst>
            <a:outerShdw blurRad="101600" dist="38100" dir="8100000" algn="bl" rotWithShape="0">
              <a:srgbClr val="000000">
                <a:alpha val="28000"/>
              </a:srgbClr>
            </a:outerShdw>
          </a:effectLst>
        </p:spPr>
      </p:sp>
      <p:sp>
        <p:nvSpPr>
          <p:cNvPr id="39" name="Shape 37"/>
          <p:cNvSpPr/>
          <p:nvPr/>
        </p:nvSpPr>
        <p:spPr>
          <a:xfrm>
            <a:off x="4809744" y="2176272"/>
            <a:ext cx="502920" cy="384048"/>
          </a:xfrm>
          <a:prstGeom prst="rect">
            <a:avLst/>
          </a:prstGeom>
          <a:solidFill>
            <a:srgbClr val="FFD166"/>
          </a:solidFill>
          <a:ln w="12700">
            <a:solidFill>
              <a:srgbClr val="FFD166"/>
            </a:solidFill>
            <a:prstDash val="solid"/>
          </a:ln>
        </p:spPr>
      </p:sp>
      <p:sp>
        <p:nvSpPr>
          <p:cNvPr id="40" name="Text 38"/>
          <p:cNvSpPr/>
          <p:nvPr/>
        </p:nvSpPr>
        <p:spPr>
          <a:xfrm>
            <a:off x="4809744" y="2176272"/>
            <a:ext cx="502920" cy="384048"/>
          </a:xfrm>
          <a:prstGeom prst="rect">
            <a:avLst/>
          </a:prstGeom>
          <a:noFill/>
          <a:ln/>
        </p:spPr>
        <p:txBody>
          <a:bodyPr wrap="square" lIns="0" tIns="0" rIns="0" bIns="0" rtlCol="0" anchor="ctr"/>
          <a:lstStyle/>
          <a:p>
            <a:pPr marL="0" indent="0" algn="ctr">
              <a:buNone/>
            </a:pPr>
            <a:r>
              <a:rPr lang="en-US" sz="1400" b="1" dirty="0">
                <a:solidFill>
                  <a:srgbClr val="0A0E1A"/>
                </a:solidFill>
              </a:rPr>
              <a:t>03</a:t>
            </a:r>
            <a:endParaRPr lang="en-US" sz="1400" dirty="0"/>
          </a:p>
        </p:txBody>
      </p:sp>
      <p:sp>
        <p:nvSpPr>
          <p:cNvPr id="41" name="Text 39"/>
          <p:cNvSpPr/>
          <p:nvPr/>
        </p:nvSpPr>
        <p:spPr>
          <a:xfrm>
            <a:off x="5358384" y="2221992"/>
            <a:ext cx="1417320" cy="310896"/>
          </a:xfrm>
          <a:prstGeom prst="rect">
            <a:avLst/>
          </a:prstGeom>
          <a:noFill/>
          <a:ln/>
        </p:spPr>
        <p:txBody>
          <a:bodyPr wrap="square" lIns="0" tIns="0" rIns="0" bIns="0" rtlCol="0" anchor="ctr"/>
          <a:lstStyle/>
          <a:p>
            <a:pPr marL="0" indent="0">
              <a:buNone/>
            </a:pPr>
            <a:r>
              <a:rPr lang="en-US" sz="1050" b="1" dirty="0">
                <a:solidFill>
                  <a:srgbClr val="FFD166"/>
                </a:solidFill>
              </a:rPr>
              <a:t>XAI Integration</a:t>
            </a:r>
            <a:endParaRPr lang="en-US" sz="1050" dirty="0"/>
          </a:p>
        </p:txBody>
      </p:sp>
      <p:sp>
        <p:nvSpPr>
          <p:cNvPr id="42" name="Text 40"/>
          <p:cNvSpPr/>
          <p:nvPr/>
        </p:nvSpPr>
        <p:spPr>
          <a:xfrm>
            <a:off x="4901184" y="2633472"/>
            <a:ext cx="1874520" cy="246888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D6E4F7"/>
                </a:solidFill>
              </a:rPr>
              <a:t>Grad-CAM applied to CNN final conv layer</a:t>
            </a:r>
            <a:endParaRPr lang="en-US" sz="950" dirty="0"/>
          </a:p>
          <a:p>
            <a:pPr marL="342900" indent="-342900">
              <a:spcAft>
                <a:spcPts val="400"/>
              </a:spcAft>
              <a:buSzPct val="100000"/>
              <a:buChar char="•"/>
            </a:pPr>
            <a:r>
              <a:rPr lang="en-US" sz="950" dirty="0">
                <a:solidFill>
                  <a:srgbClr val="D6E4F7"/>
                </a:solidFill>
              </a:rPr>
              <a:t>Attention rollout for ViT layer visualization</a:t>
            </a:r>
            <a:endParaRPr lang="en-US" sz="950" dirty="0"/>
          </a:p>
          <a:p>
            <a:pPr marL="342900" indent="-342900">
              <a:spcAft>
                <a:spcPts val="400"/>
              </a:spcAft>
              <a:buSzPct val="100000"/>
              <a:buChar char="•"/>
            </a:pPr>
            <a:r>
              <a:rPr lang="en-US" sz="950" dirty="0">
                <a:solidFill>
                  <a:srgbClr val="D6E4F7"/>
                </a:solidFill>
              </a:rPr>
              <a:t>SHAP values for feature importance scoring</a:t>
            </a:r>
            <a:endParaRPr lang="en-US" sz="950" dirty="0"/>
          </a:p>
          <a:p>
            <a:pPr marL="342900" indent="-342900">
              <a:spcAft>
                <a:spcPts val="400"/>
              </a:spcAft>
              <a:buSzPct val="100000"/>
              <a:buChar char="•"/>
            </a:pPr>
            <a:r>
              <a:rPr lang="en-US" sz="950" dirty="0">
                <a:solidFill>
                  <a:srgbClr val="D6E4F7"/>
                </a:solidFill>
              </a:rPr>
              <a:t>Saliency overlaid on original face frames</a:t>
            </a:r>
            <a:endParaRPr lang="en-US" sz="950" dirty="0"/>
          </a:p>
        </p:txBody>
      </p:sp>
      <p:sp>
        <p:nvSpPr>
          <p:cNvPr id="43" name="Shape 41"/>
          <p:cNvSpPr/>
          <p:nvPr/>
        </p:nvSpPr>
        <p:spPr>
          <a:xfrm>
            <a:off x="7022592" y="2176272"/>
            <a:ext cx="2057400" cy="2651760"/>
          </a:xfrm>
          <a:prstGeom prst="rect">
            <a:avLst/>
          </a:prstGeom>
          <a:solidFill>
            <a:srgbClr val="152B55"/>
          </a:solidFill>
          <a:ln w="8890">
            <a:solidFill>
              <a:srgbClr val="7B61FF"/>
            </a:solidFill>
            <a:prstDash val="solid"/>
          </a:ln>
          <a:effectLst>
            <a:outerShdw blurRad="101600" dist="38100" dir="8100000" algn="bl" rotWithShape="0">
              <a:srgbClr val="000000">
                <a:alpha val="28000"/>
              </a:srgbClr>
            </a:outerShdw>
          </a:effectLst>
        </p:spPr>
      </p:sp>
      <p:sp>
        <p:nvSpPr>
          <p:cNvPr id="44" name="Shape 42"/>
          <p:cNvSpPr/>
          <p:nvPr/>
        </p:nvSpPr>
        <p:spPr>
          <a:xfrm>
            <a:off x="7022592" y="2176272"/>
            <a:ext cx="502920" cy="384048"/>
          </a:xfrm>
          <a:prstGeom prst="rect">
            <a:avLst/>
          </a:prstGeom>
          <a:solidFill>
            <a:srgbClr val="7B61FF"/>
          </a:solidFill>
          <a:ln w="12700">
            <a:solidFill>
              <a:srgbClr val="7B61FF"/>
            </a:solidFill>
            <a:prstDash val="solid"/>
          </a:ln>
        </p:spPr>
      </p:sp>
      <p:sp>
        <p:nvSpPr>
          <p:cNvPr id="45" name="Text 43"/>
          <p:cNvSpPr/>
          <p:nvPr/>
        </p:nvSpPr>
        <p:spPr>
          <a:xfrm>
            <a:off x="7022592" y="2176272"/>
            <a:ext cx="502920" cy="384048"/>
          </a:xfrm>
          <a:prstGeom prst="rect">
            <a:avLst/>
          </a:prstGeom>
          <a:noFill/>
          <a:ln/>
        </p:spPr>
        <p:txBody>
          <a:bodyPr wrap="square" lIns="0" tIns="0" rIns="0" bIns="0" rtlCol="0" anchor="ctr"/>
          <a:lstStyle/>
          <a:p>
            <a:pPr marL="0" indent="0" algn="ctr">
              <a:buNone/>
            </a:pPr>
            <a:r>
              <a:rPr lang="en-US" sz="1400" b="1" dirty="0">
                <a:solidFill>
                  <a:srgbClr val="0A0E1A"/>
                </a:solidFill>
              </a:rPr>
              <a:t>04</a:t>
            </a:r>
            <a:endParaRPr lang="en-US" sz="1400" dirty="0"/>
          </a:p>
        </p:txBody>
      </p:sp>
      <p:sp>
        <p:nvSpPr>
          <p:cNvPr id="46" name="Text 44"/>
          <p:cNvSpPr/>
          <p:nvPr/>
        </p:nvSpPr>
        <p:spPr>
          <a:xfrm>
            <a:off x="7571232" y="2221992"/>
            <a:ext cx="1417320" cy="310896"/>
          </a:xfrm>
          <a:prstGeom prst="rect">
            <a:avLst/>
          </a:prstGeom>
          <a:noFill/>
          <a:ln/>
        </p:spPr>
        <p:txBody>
          <a:bodyPr wrap="square" lIns="0" tIns="0" rIns="0" bIns="0" rtlCol="0" anchor="ctr"/>
          <a:lstStyle/>
          <a:p>
            <a:pPr marL="0" indent="0">
              <a:buNone/>
            </a:pPr>
            <a:r>
              <a:rPr lang="en-US" sz="1050" b="1" dirty="0">
                <a:solidFill>
                  <a:srgbClr val="7B61FF"/>
                </a:solidFill>
              </a:rPr>
              <a:t>Deployment</a:t>
            </a:r>
            <a:endParaRPr lang="en-US" sz="1050" dirty="0"/>
          </a:p>
        </p:txBody>
      </p:sp>
      <p:sp>
        <p:nvSpPr>
          <p:cNvPr id="47" name="Text 45"/>
          <p:cNvSpPr/>
          <p:nvPr/>
        </p:nvSpPr>
        <p:spPr>
          <a:xfrm>
            <a:off x="7114032" y="2633472"/>
            <a:ext cx="1874520" cy="246888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D6E4F7"/>
                </a:solidFill>
              </a:rPr>
              <a:t>Flask REST API for image/video upload</a:t>
            </a:r>
            <a:endParaRPr lang="en-US" sz="950" dirty="0"/>
          </a:p>
          <a:p>
            <a:pPr marL="342900" indent="-342900">
              <a:spcAft>
                <a:spcPts val="400"/>
              </a:spcAft>
              <a:buSzPct val="100000"/>
              <a:buChar char="•"/>
            </a:pPr>
            <a:r>
              <a:rPr lang="en-US" sz="950" dirty="0">
                <a:solidFill>
                  <a:srgbClr val="D6E4F7"/>
                </a:solidFill>
              </a:rPr>
              <a:t>Real-time inference at 12ms/frame on GPU</a:t>
            </a:r>
            <a:endParaRPr lang="en-US" sz="950" dirty="0"/>
          </a:p>
          <a:p>
            <a:pPr marL="342900" indent="-342900">
              <a:spcAft>
                <a:spcPts val="400"/>
              </a:spcAft>
              <a:buSzPct val="100000"/>
              <a:buChar char="•"/>
            </a:pPr>
            <a:r>
              <a:rPr lang="en-US" sz="950" dirty="0">
                <a:solidFill>
                  <a:srgbClr val="D6E4F7"/>
                </a:solidFill>
              </a:rPr>
              <a:t>Web interface with Grad-CAM visualization</a:t>
            </a:r>
            <a:endParaRPr lang="en-US" sz="950" dirty="0"/>
          </a:p>
          <a:p>
            <a:pPr marL="342900" indent="-342900">
              <a:spcAft>
                <a:spcPts val="400"/>
              </a:spcAft>
              <a:buSzPct val="100000"/>
              <a:buChar char="•"/>
            </a:pPr>
            <a:r>
              <a:rPr lang="en-US" sz="950" dirty="0">
                <a:solidFill>
                  <a:srgbClr val="D6E4F7"/>
                </a:solidFill>
              </a:rPr>
              <a:t>Docker containerized for portability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C8FF"/>
          </a:solidFill>
          <a:ln w="12700">
            <a:solidFill>
              <a:srgbClr val="00C8FF"/>
            </a:solidFill>
            <a:prstDash val="solid"/>
          </a:ln>
        </p:spPr>
      </p:sp>
      <p:sp>
        <p:nvSpPr>
          <p:cNvPr id="3" name="Shape 1"/>
          <p:cNvSpPr/>
          <p:nvPr/>
        </p:nvSpPr>
        <p:spPr>
          <a:xfrm>
            <a:off x="0" y="5093208"/>
            <a:ext cx="9144000" cy="50292"/>
          </a:xfrm>
          <a:prstGeom prst="rect">
            <a:avLst/>
          </a:prstGeom>
          <a:solidFill>
            <a:srgbClr val="7B61FF"/>
          </a:solidFill>
          <a:ln w="12700">
            <a:solidFill>
              <a:srgbClr val="7B61FF"/>
            </a:solidFill>
            <a:prstDash val="solid"/>
          </a:ln>
        </p:spPr>
      </p:sp>
      <p:sp>
        <p:nvSpPr>
          <p:cNvPr id="4" name="Shape 2"/>
          <p:cNvSpPr/>
          <p:nvPr/>
        </p:nvSpPr>
        <p:spPr>
          <a:xfrm>
            <a:off x="384048" y="146304"/>
            <a:ext cx="1371600" cy="246888"/>
          </a:xfrm>
          <a:prstGeom prst="rect">
            <a:avLst/>
          </a:prstGeom>
          <a:solidFill>
            <a:srgbClr val="7B61FF"/>
          </a:solidFill>
          <a:ln w="12700">
            <a:solidFill>
              <a:srgbClr val="7B61FF"/>
            </a:solidFill>
            <a:prstDash val="solid"/>
          </a:ln>
        </p:spPr>
      </p:sp>
      <p:sp>
        <p:nvSpPr>
          <p:cNvPr id="5" name="Text 3"/>
          <p:cNvSpPr/>
          <p:nvPr/>
        </p:nvSpPr>
        <p:spPr>
          <a:xfrm>
            <a:off x="384048" y="146304"/>
            <a:ext cx="1371600" cy="246888"/>
          </a:xfrm>
          <a:prstGeom prst="rect">
            <a:avLst/>
          </a:prstGeom>
          <a:noFill/>
          <a:ln/>
        </p:spPr>
        <p:txBody>
          <a:bodyPr wrap="square" lIns="0" tIns="0" rIns="0" bIns="0" rtlCol="0" anchor="ctr"/>
          <a:lstStyle/>
          <a:p>
            <a:pPr marL="0" indent="0" algn="ctr">
              <a:buNone/>
            </a:pPr>
            <a:r>
              <a:rPr lang="en-US" sz="750" b="1" kern="0" spc="150" dirty="0">
                <a:solidFill>
                  <a:srgbClr val="FFFFFF"/>
                </a:solidFill>
              </a:rPr>
              <a:t>SCREENSHOTS</a:t>
            </a:r>
            <a:endParaRPr lang="en-US" sz="750" dirty="0"/>
          </a:p>
        </p:txBody>
      </p:sp>
      <p:sp>
        <p:nvSpPr>
          <p:cNvPr id="6" name="Text 4"/>
          <p:cNvSpPr/>
          <p:nvPr/>
        </p:nvSpPr>
        <p:spPr>
          <a:xfrm>
            <a:off x="384048" y="475488"/>
            <a:ext cx="8412480" cy="566928"/>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Screenshots — System Output</a:t>
            </a:r>
            <a:endParaRPr lang="en-US" sz="2400" dirty="0"/>
          </a:p>
        </p:txBody>
      </p:sp>
      <p:sp>
        <p:nvSpPr>
          <p:cNvPr id="7" name="Shape 5"/>
          <p:cNvSpPr/>
          <p:nvPr/>
        </p:nvSpPr>
        <p:spPr>
          <a:xfrm>
            <a:off x="384048" y="1078992"/>
            <a:ext cx="502920" cy="50292"/>
          </a:xfrm>
          <a:prstGeom prst="rect">
            <a:avLst/>
          </a:prstGeom>
          <a:solidFill>
            <a:srgbClr val="00C8FF"/>
          </a:solidFill>
          <a:ln w="12700">
            <a:solidFill>
              <a:srgbClr val="00C8FF"/>
            </a:solidFill>
            <a:prstDash val="solid"/>
          </a:ln>
        </p:spPr>
      </p:sp>
      <p:sp>
        <p:nvSpPr>
          <p:cNvPr id="8" name="Shape 6"/>
          <p:cNvSpPr/>
          <p:nvPr/>
        </p:nvSpPr>
        <p:spPr>
          <a:xfrm>
            <a:off x="932688" y="1078992"/>
            <a:ext cx="7827264" cy="50292"/>
          </a:xfrm>
          <a:prstGeom prst="rect">
            <a:avLst/>
          </a:prstGeom>
          <a:solidFill>
            <a:srgbClr val="112244"/>
          </a:solidFill>
          <a:ln w="12700">
            <a:solidFill>
              <a:srgbClr val="112244"/>
            </a:solidFill>
            <a:prstDash val="solid"/>
          </a:ln>
        </p:spPr>
      </p:sp>
      <p:sp>
        <p:nvSpPr>
          <p:cNvPr id="9" name="Text 7"/>
          <p:cNvSpPr/>
          <p:nvPr/>
        </p:nvSpPr>
        <p:spPr>
          <a:xfrm>
            <a:off x="8229600" y="4828032"/>
            <a:ext cx="731520" cy="201168"/>
          </a:xfrm>
          <a:prstGeom prst="rect">
            <a:avLst/>
          </a:prstGeom>
          <a:noFill/>
          <a:ln/>
        </p:spPr>
        <p:txBody>
          <a:bodyPr wrap="square" lIns="0" tIns="0" rIns="0" bIns="0" rtlCol="0" anchor="ctr"/>
          <a:lstStyle/>
          <a:p>
            <a:pPr marL="0" indent="0" algn="r">
              <a:buNone/>
            </a:pPr>
            <a:r>
              <a:rPr lang="en-US" sz="850" dirty="0">
                <a:solidFill>
                  <a:srgbClr val="7A96BB"/>
                </a:solidFill>
              </a:rPr>
              <a:t>9 / 11</a:t>
            </a:r>
            <a:endParaRPr lang="en-US" sz="850" dirty="0"/>
          </a:p>
        </p:txBody>
      </p:sp>
      <p:sp>
        <p:nvSpPr>
          <p:cNvPr id="10" name="Shape 8"/>
          <p:cNvSpPr/>
          <p:nvPr/>
        </p:nvSpPr>
        <p:spPr>
          <a:xfrm>
            <a:off x="384048" y="1234440"/>
            <a:ext cx="4160520" cy="1874520"/>
          </a:xfrm>
          <a:prstGeom prst="rect">
            <a:avLst/>
          </a:prstGeom>
          <a:solidFill>
            <a:srgbClr val="112244"/>
          </a:solidFill>
          <a:ln w="8890">
            <a:solidFill>
              <a:srgbClr val="00C8FF"/>
            </a:solidFill>
            <a:prstDash val="solid"/>
          </a:ln>
          <a:effectLst>
            <a:outerShdw blurRad="101600" dist="38100" dir="8100000" algn="bl" rotWithShape="0">
              <a:srgbClr val="000000">
                <a:alpha val="28000"/>
              </a:srgbClr>
            </a:outerShdw>
          </a:effectLst>
        </p:spPr>
      </p:sp>
      <p:sp>
        <p:nvSpPr>
          <p:cNvPr id="11" name="Shape 9"/>
          <p:cNvSpPr/>
          <p:nvPr/>
        </p:nvSpPr>
        <p:spPr>
          <a:xfrm>
            <a:off x="475488" y="1618488"/>
            <a:ext cx="3977640" cy="1307592"/>
          </a:xfrm>
          <a:prstGeom prst="rect">
            <a:avLst/>
          </a:prstGeom>
          <a:solidFill>
            <a:srgbClr val="152B55"/>
          </a:solidFill>
          <a:ln w="6350">
            <a:solidFill>
              <a:srgbClr val="7B61FF"/>
            </a:solidFill>
            <a:prstDash val="solid"/>
          </a:ln>
        </p:spPr>
      </p:sp>
      <p:sp>
        <p:nvSpPr>
          <p:cNvPr id="12" name="Text 10"/>
          <p:cNvSpPr/>
          <p:nvPr/>
        </p:nvSpPr>
        <p:spPr>
          <a:xfrm>
            <a:off x="475488" y="1618488"/>
            <a:ext cx="3977640" cy="1307592"/>
          </a:xfrm>
          <a:prstGeom prst="rect">
            <a:avLst/>
          </a:prstGeom>
          <a:noFill/>
          <a:ln/>
        </p:spPr>
        <p:txBody>
          <a:bodyPr wrap="square" lIns="0" tIns="0" rIns="0" bIns="0" rtlCol="0" anchor="ctr"/>
          <a:lstStyle/>
          <a:p>
            <a:pPr marL="0" indent="0" algn="ctr">
              <a:buNone/>
            </a:pPr>
            <a:r>
              <a:rPr lang="en-US" sz="1050" i="1" dirty="0">
                <a:solidFill>
                  <a:srgbClr val="7A96BB"/>
                </a:solidFill>
              </a:rPr>
              <a:t>[  Screenshot Placeholder  ]</a:t>
            </a:r>
            <a:endParaRPr lang="en-US" sz="1050" dirty="0"/>
          </a:p>
        </p:txBody>
      </p:sp>
      <p:sp>
        <p:nvSpPr>
          <p:cNvPr id="13" name="Text 11"/>
          <p:cNvSpPr/>
          <p:nvPr/>
        </p:nvSpPr>
        <p:spPr>
          <a:xfrm>
            <a:off x="475488" y="1289304"/>
            <a:ext cx="3977640" cy="274320"/>
          </a:xfrm>
          <a:prstGeom prst="rect">
            <a:avLst/>
          </a:prstGeom>
          <a:noFill/>
          <a:ln/>
        </p:spPr>
        <p:txBody>
          <a:bodyPr wrap="square" lIns="0" tIns="0" rIns="0" bIns="0" rtlCol="0" anchor="ctr"/>
          <a:lstStyle/>
          <a:p>
            <a:pPr marL="0" indent="0">
              <a:buNone/>
            </a:pPr>
            <a:r>
              <a:rPr lang="en-US" sz="1050" b="1" dirty="0">
                <a:solidFill>
                  <a:srgbClr val="00C8FF"/>
                </a:solidFill>
              </a:rPr>
              <a:t>Upload Interface</a:t>
            </a:r>
            <a:endParaRPr lang="en-US" sz="1050" dirty="0"/>
          </a:p>
        </p:txBody>
      </p:sp>
      <p:sp>
        <p:nvSpPr>
          <p:cNvPr id="14" name="Text 12"/>
          <p:cNvSpPr/>
          <p:nvPr/>
        </p:nvSpPr>
        <p:spPr>
          <a:xfrm>
            <a:off x="475488" y="2871216"/>
            <a:ext cx="3977640" cy="201168"/>
          </a:xfrm>
          <a:prstGeom prst="rect">
            <a:avLst/>
          </a:prstGeom>
          <a:noFill/>
          <a:ln/>
        </p:spPr>
        <p:txBody>
          <a:bodyPr wrap="square" lIns="0" tIns="0" rIns="0" bIns="0" rtlCol="0" anchor="ctr"/>
          <a:lstStyle/>
          <a:p>
            <a:r>
              <a:rPr lang="en-US" sz="900" dirty="0">
                <a:solidFill>
                  <a:schemeClr val="bg1"/>
                </a:solidFill>
              </a:rPr>
              <a:t>(This figure as interface of the Deep Guardian AI Assistant)</a:t>
            </a:r>
            <a:endParaRPr lang="en-US" sz="850" dirty="0"/>
          </a:p>
        </p:txBody>
      </p:sp>
      <p:sp>
        <p:nvSpPr>
          <p:cNvPr id="15" name="Shape 13"/>
          <p:cNvSpPr/>
          <p:nvPr/>
        </p:nvSpPr>
        <p:spPr>
          <a:xfrm>
            <a:off x="4791456" y="1204722"/>
            <a:ext cx="4005072" cy="1874520"/>
          </a:xfrm>
          <a:prstGeom prst="rect">
            <a:avLst/>
          </a:prstGeom>
          <a:solidFill>
            <a:srgbClr val="112244"/>
          </a:solidFill>
          <a:ln w="8890">
            <a:solidFill>
              <a:srgbClr val="00C8FF"/>
            </a:solidFill>
            <a:prstDash val="solid"/>
          </a:ln>
          <a:effectLst>
            <a:outerShdw blurRad="101600" dist="38100" dir="8100000" algn="bl" rotWithShape="0">
              <a:srgbClr val="000000">
                <a:alpha val="28000"/>
              </a:srgbClr>
            </a:outerShdw>
          </a:effectLst>
        </p:spPr>
      </p:sp>
      <p:sp>
        <p:nvSpPr>
          <p:cNvPr id="16" name="Shape 14"/>
          <p:cNvSpPr/>
          <p:nvPr/>
        </p:nvSpPr>
        <p:spPr>
          <a:xfrm>
            <a:off x="4846320" y="1618488"/>
            <a:ext cx="3822192" cy="1307592"/>
          </a:xfrm>
          <a:prstGeom prst="rect">
            <a:avLst/>
          </a:prstGeom>
          <a:solidFill>
            <a:srgbClr val="152B55"/>
          </a:solidFill>
          <a:ln w="6350">
            <a:solidFill>
              <a:srgbClr val="7B61FF"/>
            </a:solidFill>
            <a:prstDash val="solid"/>
          </a:ln>
        </p:spPr>
      </p:sp>
      <p:sp>
        <p:nvSpPr>
          <p:cNvPr id="17" name="Text 15"/>
          <p:cNvSpPr/>
          <p:nvPr/>
        </p:nvSpPr>
        <p:spPr>
          <a:xfrm>
            <a:off x="4846320" y="1618488"/>
            <a:ext cx="3822192" cy="1307592"/>
          </a:xfrm>
          <a:prstGeom prst="rect">
            <a:avLst/>
          </a:prstGeom>
          <a:noFill/>
          <a:ln/>
        </p:spPr>
        <p:txBody>
          <a:bodyPr wrap="square" lIns="0" tIns="0" rIns="0" bIns="0" rtlCol="0" anchor="ctr"/>
          <a:lstStyle/>
          <a:p>
            <a:pPr marL="0" indent="0" algn="ctr">
              <a:buNone/>
            </a:pPr>
            <a:r>
              <a:rPr lang="en-US" sz="1050" i="1" dirty="0">
                <a:solidFill>
                  <a:srgbClr val="7A96BB"/>
                </a:solidFill>
              </a:rPr>
              <a:t>[  Screenshot Placeholder  ]</a:t>
            </a:r>
            <a:endParaRPr lang="en-US" sz="1050" dirty="0"/>
          </a:p>
        </p:txBody>
      </p:sp>
      <p:sp>
        <p:nvSpPr>
          <p:cNvPr id="18" name="Text 16"/>
          <p:cNvSpPr/>
          <p:nvPr/>
        </p:nvSpPr>
        <p:spPr>
          <a:xfrm>
            <a:off x="4846320" y="1289304"/>
            <a:ext cx="3822192" cy="274320"/>
          </a:xfrm>
          <a:prstGeom prst="rect">
            <a:avLst/>
          </a:prstGeom>
          <a:noFill/>
          <a:ln/>
        </p:spPr>
        <p:txBody>
          <a:bodyPr wrap="square" lIns="0" tIns="0" rIns="0" bIns="0" rtlCol="0" anchor="ctr"/>
          <a:lstStyle/>
          <a:p>
            <a:pPr marL="0" indent="0">
              <a:buNone/>
            </a:pPr>
            <a:r>
              <a:rPr lang="en-US" sz="1050" b="1" dirty="0">
                <a:solidFill>
                  <a:srgbClr val="00C8FF"/>
                </a:solidFill>
              </a:rPr>
              <a:t>Detection Result</a:t>
            </a:r>
            <a:endParaRPr lang="en-US" sz="1050" dirty="0"/>
          </a:p>
        </p:txBody>
      </p:sp>
      <p:sp>
        <p:nvSpPr>
          <p:cNvPr id="19" name="Text 17"/>
          <p:cNvSpPr/>
          <p:nvPr/>
        </p:nvSpPr>
        <p:spPr>
          <a:xfrm>
            <a:off x="4846320" y="2878074"/>
            <a:ext cx="3822192" cy="171450"/>
          </a:xfrm>
          <a:prstGeom prst="rect">
            <a:avLst/>
          </a:prstGeom>
          <a:noFill/>
          <a:ln/>
        </p:spPr>
        <p:txBody>
          <a:bodyPr wrap="square" lIns="0" tIns="0" rIns="0" bIns="0" rtlCol="0" anchor="ctr"/>
          <a:lstStyle/>
          <a:p>
            <a:r>
              <a:rPr lang="en-US" sz="900" dirty="0"/>
              <a:t>(</a:t>
            </a:r>
            <a:r>
              <a:rPr lang="en-US" sz="900" dirty="0">
                <a:solidFill>
                  <a:schemeClr val="bg1"/>
                </a:solidFill>
              </a:rPr>
              <a:t>(</a:t>
            </a:r>
            <a:r>
              <a:rPr lang="en-US" sz="900" dirty="0">
                <a:solidFill>
                  <a:schemeClr val="bg1"/>
                </a:solidFill>
                <a:latin typeface="Times New Roman" panose="02020603050405020304" pitchFamily="18" charset="0"/>
                <a:cs typeface="Times New Roman" panose="02020603050405020304" pitchFamily="18" charset="0"/>
              </a:rPr>
              <a:t>This figure was explaining the how to upload the images and videos. Then using the left side icon click it and upload the files) </a:t>
            </a:r>
            <a:endParaRPr lang="en-US" sz="850" dirty="0">
              <a:solidFill>
                <a:schemeClr val="bg1"/>
              </a:solidFill>
              <a:latin typeface="Times New Roman" panose="02020603050405020304" pitchFamily="18" charset="0"/>
              <a:cs typeface="Times New Roman" panose="02020603050405020304" pitchFamily="18" charset="0"/>
            </a:endParaRPr>
          </a:p>
        </p:txBody>
      </p:sp>
      <p:sp>
        <p:nvSpPr>
          <p:cNvPr id="20" name="Shape 18"/>
          <p:cNvSpPr/>
          <p:nvPr/>
        </p:nvSpPr>
        <p:spPr>
          <a:xfrm>
            <a:off x="384048" y="3273552"/>
            <a:ext cx="4160520" cy="1591056"/>
          </a:xfrm>
          <a:prstGeom prst="rect">
            <a:avLst/>
          </a:prstGeom>
          <a:solidFill>
            <a:srgbClr val="112244"/>
          </a:solidFill>
          <a:ln w="8890">
            <a:solidFill>
              <a:srgbClr val="00C8FF"/>
            </a:solidFill>
            <a:prstDash val="solid"/>
          </a:ln>
          <a:effectLst>
            <a:outerShdw blurRad="101600" dist="38100" dir="8100000" algn="bl" rotWithShape="0">
              <a:srgbClr val="000000">
                <a:alpha val="28000"/>
              </a:srgbClr>
            </a:outerShdw>
          </a:effectLst>
        </p:spPr>
      </p:sp>
      <p:sp>
        <p:nvSpPr>
          <p:cNvPr id="21" name="Shape 19"/>
          <p:cNvSpPr/>
          <p:nvPr/>
        </p:nvSpPr>
        <p:spPr>
          <a:xfrm>
            <a:off x="475488" y="3657600"/>
            <a:ext cx="3977640" cy="1060704"/>
          </a:xfrm>
          <a:prstGeom prst="rect">
            <a:avLst/>
          </a:prstGeom>
          <a:solidFill>
            <a:srgbClr val="152B55"/>
          </a:solidFill>
          <a:ln w="6350">
            <a:solidFill>
              <a:srgbClr val="7B61FF"/>
            </a:solidFill>
            <a:prstDash val="solid"/>
          </a:ln>
        </p:spPr>
      </p:sp>
      <p:sp>
        <p:nvSpPr>
          <p:cNvPr id="22" name="Text 20"/>
          <p:cNvSpPr/>
          <p:nvPr/>
        </p:nvSpPr>
        <p:spPr>
          <a:xfrm>
            <a:off x="475488" y="3657600"/>
            <a:ext cx="3977640" cy="1060704"/>
          </a:xfrm>
          <a:prstGeom prst="rect">
            <a:avLst/>
          </a:prstGeom>
          <a:noFill/>
          <a:ln/>
        </p:spPr>
        <p:txBody>
          <a:bodyPr wrap="square" lIns="0" tIns="0" rIns="0" bIns="0" rtlCol="0" anchor="ctr"/>
          <a:lstStyle/>
          <a:p>
            <a:pPr marL="0" indent="0" algn="ctr">
              <a:buNone/>
            </a:pPr>
            <a:r>
              <a:rPr lang="en-US" sz="1050" i="1" dirty="0">
                <a:solidFill>
                  <a:srgbClr val="7A96BB"/>
                </a:solidFill>
              </a:rPr>
              <a:t>[  Screenshot Placeholder  ]</a:t>
            </a:r>
            <a:endParaRPr lang="en-US" sz="1050" dirty="0"/>
          </a:p>
        </p:txBody>
      </p:sp>
      <p:sp>
        <p:nvSpPr>
          <p:cNvPr id="23" name="Text 21"/>
          <p:cNvSpPr/>
          <p:nvPr/>
        </p:nvSpPr>
        <p:spPr>
          <a:xfrm>
            <a:off x="475488" y="3328416"/>
            <a:ext cx="3977640" cy="274320"/>
          </a:xfrm>
          <a:prstGeom prst="rect">
            <a:avLst/>
          </a:prstGeom>
          <a:noFill/>
          <a:ln/>
        </p:spPr>
        <p:txBody>
          <a:bodyPr wrap="square" lIns="0" tIns="0" rIns="0" bIns="0" rtlCol="0" anchor="ctr"/>
          <a:lstStyle/>
          <a:p>
            <a:pPr marL="0" indent="0">
              <a:buNone/>
            </a:pPr>
            <a:r>
              <a:rPr lang="en-US" sz="1050" b="1" dirty="0">
                <a:solidFill>
                  <a:srgbClr val="00C8FF"/>
                </a:solidFill>
              </a:rPr>
              <a:t>Grad-CAM Saliency Map</a:t>
            </a:r>
            <a:endParaRPr lang="en-US" sz="1050" dirty="0"/>
          </a:p>
        </p:txBody>
      </p:sp>
      <p:sp>
        <p:nvSpPr>
          <p:cNvPr id="24" name="Text 22"/>
          <p:cNvSpPr/>
          <p:nvPr/>
        </p:nvSpPr>
        <p:spPr>
          <a:xfrm>
            <a:off x="475488" y="4663440"/>
            <a:ext cx="3977640" cy="201168"/>
          </a:xfrm>
          <a:prstGeom prst="rect">
            <a:avLst/>
          </a:prstGeom>
          <a:noFill/>
          <a:ln/>
        </p:spPr>
        <p:txBody>
          <a:bodyPr wrap="square" lIns="0" tIns="0" rIns="0" bIns="0" rtlCol="0" anchor="ctr"/>
          <a:lstStyle/>
          <a:p>
            <a:r>
              <a:rPr lang="en-US" sz="900" dirty="0">
                <a:solidFill>
                  <a:schemeClr val="bg1"/>
                </a:solidFill>
                <a:latin typeface="Times New Roman" panose="02020603050405020304" pitchFamily="18" charset="0"/>
                <a:cs typeface="Times New Roman" panose="02020603050405020304" pitchFamily="18" charset="0"/>
              </a:rPr>
              <a:t>(The  figure was go for file manger folder and upload the files in that files) </a:t>
            </a:r>
            <a:endParaRPr lang="en-US" sz="850" dirty="0">
              <a:solidFill>
                <a:schemeClr val="bg1"/>
              </a:solidFill>
              <a:latin typeface="Times New Roman" panose="02020603050405020304" pitchFamily="18" charset="0"/>
              <a:cs typeface="Times New Roman" panose="02020603050405020304" pitchFamily="18" charset="0"/>
            </a:endParaRPr>
          </a:p>
        </p:txBody>
      </p:sp>
      <p:sp>
        <p:nvSpPr>
          <p:cNvPr id="25" name="Shape 23"/>
          <p:cNvSpPr/>
          <p:nvPr/>
        </p:nvSpPr>
        <p:spPr>
          <a:xfrm>
            <a:off x="4754880" y="3273552"/>
            <a:ext cx="4005072" cy="1627632"/>
          </a:xfrm>
          <a:prstGeom prst="rect">
            <a:avLst/>
          </a:prstGeom>
          <a:solidFill>
            <a:srgbClr val="112244"/>
          </a:solidFill>
          <a:ln w="8890">
            <a:solidFill>
              <a:srgbClr val="00C8FF"/>
            </a:solidFill>
            <a:prstDash val="solid"/>
          </a:ln>
          <a:effectLst>
            <a:outerShdw blurRad="101600" dist="38100" dir="8100000" algn="bl" rotWithShape="0">
              <a:srgbClr val="000000">
                <a:alpha val="28000"/>
              </a:srgbClr>
            </a:outerShdw>
          </a:effectLst>
        </p:spPr>
      </p:sp>
      <p:sp>
        <p:nvSpPr>
          <p:cNvPr id="26" name="Shape 24"/>
          <p:cNvSpPr/>
          <p:nvPr/>
        </p:nvSpPr>
        <p:spPr>
          <a:xfrm>
            <a:off x="4846320" y="3657600"/>
            <a:ext cx="3822192" cy="1060704"/>
          </a:xfrm>
          <a:prstGeom prst="rect">
            <a:avLst/>
          </a:prstGeom>
          <a:solidFill>
            <a:srgbClr val="152B55"/>
          </a:solidFill>
          <a:ln w="6350">
            <a:solidFill>
              <a:srgbClr val="7B61FF"/>
            </a:solidFill>
            <a:prstDash val="solid"/>
          </a:ln>
        </p:spPr>
      </p:sp>
      <p:sp>
        <p:nvSpPr>
          <p:cNvPr id="27" name="Text 25"/>
          <p:cNvSpPr/>
          <p:nvPr/>
        </p:nvSpPr>
        <p:spPr>
          <a:xfrm>
            <a:off x="4846320" y="3657600"/>
            <a:ext cx="3822192" cy="1060704"/>
          </a:xfrm>
          <a:prstGeom prst="rect">
            <a:avLst/>
          </a:prstGeom>
          <a:noFill/>
          <a:ln/>
        </p:spPr>
        <p:txBody>
          <a:bodyPr wrap="square" lIns="0" tIns="0" rIns="0" bIns="0" rtlCol="0" anchor="ctr"/>
          <a:lstStyle/>
          <a:p>
            <a:pPr marL="0" indent="0" algn="ctr">
              <a:buNone/>
            </a:pPr>
            <a:r>
              <a:rPr lang="en-US" sz="1050" i="1" dirty="0">
                <a:solidFill>
                  <a:srgbClr val="7A96BB"/>
                </a:solidFill>
              </a:rPr>
              <a:t>[  Screenshot Placeholder  ]</a:t>
            </a:r>
            <a:endParaRPr lang="en-US" sz="1050" dirty="0"/>
          </a:p>
        </p:txBody>
      </p:sp>
      <p:sp>
        <p:nvSpPr>
          <p:cNvPr id="28" name="Text 26"/>
          <p:cNvSpPr/>
          <p:nvPr/>
        </p:nvSpPr>
        <p:spPr>
          <a:xfrm>
            <a:off x="4846320" y="3328416"/>
            <a:ext cx="3822192" cy="274320"/>
          </a:xfrm>
          <a:prstGeom prst="rect">
            <a:avLst/>
          </a:prstGeom>
          <a:noFill/>
          <a:ln/>
        </p:spPr>
        <p:txBody>
          <a:bodyPr wrap="square" lIns="0" tIns="0" rIns="0" bIns="0" rtlCol="0" anchor="ctr"/>
          <a:lstStyle/>
          <a:p>
            <a:pPr marL="0" indent="0">
              <a:buNone/>
            </a:pPr>
            <a:r>
              <a:rPr lang="en-US" sz="1050" b="1" dirty="0">
                <a:solidFill>
                  <a:srgbClr val="00C8FF"/>
                </a:solidFill>
              </a:rPr>
              <a:t>Performance Dashboard</a:t>
            </a:r>
            <a:endParaRPr lang="en-US" sz="1050" dirty="0"/>
          </a:p>
        </p:txBody>
      </p:sp>
      <p:sp>
        <p:nvSpPr>
          <p:cNvPr id="29" name="Text 27"/>
          <p:cNvSpPr/>
          <p:nvPr/>
        </p:nvSpPr>
        <p:spPr>
          <a:xfrm>
            <a:off x="4846320" y="4663440"/>
            <a:ext cx="3822192" cy="201168"/>
          </a:xfrm>
          <a:prstGeom prst="rect">
            <a:avLst/>
          </a:prstGeom>
          <a:noFill/>
          <a:ln/>
        </p:spPr>
        <p:txBody>
          <a:bodyPr wrap="square" lIns="0" tIns="0" rIns="0" bIns="0" rtlCol="0" anchor="ctr"/>
          <a:lstStyle/>
          <a:p>
            <a:r>
              <a:rPr lang="en-US" sz="900" dirty="0"/>
              <a:t>(</a:t>
            </a:r>
            <a:r>
              <a:rPr lang="en-US" sz="900" dirty="0">
                <a:solidFill>
                  <a:schemeClr val="bg1"/>
                </a:solidFill>
              </a:rPr>
              <a:t>(</a:t>
            </a:r>
            <a:r>
              <a:rPr lang="en-US" sz="900" dirty="0">
                <a:solidFill>
                  <a:schemeClr val="bg1"/>
                </a:solidFill>
                <a:latin typeface="Times New Roman" panose="02020603050405020304" pitchFamily="18" charset="0"/>
                <a:cs typeface="Times New Roman" panose="02020603050405020304" pitchFamily="18" charset="0"/>
              </a:rPr>
              <a:t>This  the uploading video analysis report has been true)</a:t>
            </a:r>
            <a:endParaRPr lang="en-US" sz="850" dirty="0">
              <a:solidFill>
                <a:schemeClr val="bg1"/>
              </a:solidFill>
              <a:latin typeface="Times New Roman" panose="02020603050405020304" pitchFamily="18" charset="0"/>
              <a:cs typeface="Times New Roman" panose="02020603050405020304" pitchFamily="18" charset="0"/>
            </a:endParaRPr>
          </a:p>
        </p:txBody>
      </p:sp>
      <p:sp>
        <p:nvSpPr>
          <p:cNvPr id="30" name="Text 28"/>
          <p:cNvSpPr/>
          <p:nvPr/>
        </p:nvSpPr>
        <p:spPr>
          <a:xfrm>
            <a:off x="384048" y="4846320"/>
            <a:ext cx="8375904" cy="201168"/>
          </a:xfrm>
          <a:prstGeom prst="rect">
            <a:avLst/>
          </a:prstGeom>
          <a:noFill/>
          <a:ln/>
        </p:spPr>
        <p:txBody>
          <a:bodyPr wrap="square" lIns="0" tIns="0" rIns="0" bIns="0" rtlCol="0" anchor="ctr"/>
          <a:lstStyle/>
          <a:p>
            <a:pPr marL="0" indent="0">
              <a:buNone/>
            </a:pPr>
            <a:endParaRPr lang="en-US" sz="900" dirty="0"/>
          </a:p>
        </p:txBody>
      </p:sp>
      <p:pic>
        <p:nvPicPr>
          <p:cNvPr id="32" name="Picture 31">
            <a:extLst>
              <a:ext uri="{FF2B5EF4-FFF2-40B4-BE49-F238E27FC236}">
                <a16:creationId xmlns:a16="http://schemas.microsoft.com/office/drawing/2014/main" id="{C7A721DA-01E0-EB43-317A-66D0D4A17F93}"/>
              </a:ext>
            </a:extLst>
          </p:cNvPr>
          <p:cNvPicPr>
            <a:picLocks noChangeAspect="1"/>
          </p:cNvPicPr>
          <p:nvPr/>
        </p:nvPicPr>
        <p:blipFill>
          <a:blip r:embed="rId3"/>
          <a:srcRect l="19199" t="5925" r="20154" b="6138"/>
          <a:stretch>
            <a:fillRect/>
          </a:stretch>
        </p:blipFill>
        <p:spPr>
          <a:xfrm>
            <a:off x="475489" y="1321308"/>
            <a:ext cx="3977640" cy="1604772"/>
          </a:xfrm>
          <a:prstGeom prst="rect">
            <a:avLst/>
          </a:prstGeom>
        </p:spPr>
      </p:pic>
      <p:pic>
        <p:nvPicPr>
          <p:cNvPr id="34" name="Picture 33">
            <a:extLst>
              <a:ext uri="{FF2B5EF4-FFF2-40B4-BE49-F238E27FC236}">
                <a16:creationId xmlns:a16="http://schemas.microsoft.com/office/drawing/2014/main" id="{35EA965B-E829-AB46-DDE8-55292F7E888F}"/>
              </a:ext>
            </a:extLst>
          </p:cNvPr>
          <p:cNvPicPr>
            <a:picLocks noChangeAspect="1"/>
          </p:cNvPicPr>
          <p:nvPr/>
        </p:nvPicPr>
        <p:blipFill>
          <a:blip r:embed="rId4"/>
          <a:srcRect l="14699" t="544" r="11900" b="6819"/>
          <a:stretch>
            <a:fillRect/>
          </a:stretch>
        </p:blipFill>
        <p:spPr>
          <a:xfrm>
            <a:off x="4846320" y="1268730"/>
            <a:ext cx="3822191" cy="1568196"/>
          </a:xfrm>
          <a:prstGeom prst="rect">
            <a:avLst/>
          </a:prstGeom>
        </p:spPr>
      </p:pic>
      <p:pic>
        <p:nvPicPr>
          <p:cNvPr id="36" name="Picture 35">
            <a:extLst>
              <a:ext uri="{FF2B5EF4-FFF2-40B4-BE49-F238E27FC236}">
                <a16:creationId xmlns:a16="http://schemas.microsoft.com/office/drawing/2014/main" id="{E7D9F824-A0EE-992F-AE5E-A10548F96411}"/>
              </a:ext>
            </a:extLst>
          </p:cNvPr>
          <p:cNvPicPr>
            <a:picLocks noChangeAspect="1"/>
          </p:cNvPicPr>
          <p:nvPr/>
        </p:nvPicPr>
        <p:blipFill>
          <a:blip r:embed="rId5"/>
          <a:srcRect b="15077"/>
          <a:stretch>
            <a:fillRect/>
          </a:stretch>
        </p:blipFill>
        <p:spPr>
          <a:xfrm>
            <a:off x="475489" y="3300984"/>
            <a:ext cx="3977640" cy="1380744"/>
          </a:xfrm>
          <a:prstGeom prst="rect">
            <a:avLst/>
          </a:prstGeom>
        </p:spPr>
      </p:pic>
      <p:pic>
        <p:nvPicPr>
          <p:cNvPr id="38" name="Picture 37">
            <a:extLst>
              <a:ext uri="{FF2B5EF4-FFF2-40B4-BE49-F238E27FC236}">
                <a16:creationId xmlns:a16="http://schemas.microsoft.com/office/drawing/2014/main" id="{C9B00ED3-72F8-E5E6-4275-0521920885D4}"/>
              </a:ext>
            </a:extLst>
          </p:cNvPr>
          <p:cNvPicPr>
            <a:picLocks noChangeAspect="1"/>
          </p:cNvPicPr>
          <p:nvPr/>
        </p:nvPicPr>
        <p:blipFill>
          <a:blip r:embed="rId6"/>
          <a:srcRect l="16472" t="15486" r="17977" b="3131"/>
          <a:stretch>
            <a:fillRect/>
          </a:stretch>
        </p:blipFill>
        <p:spPr>
          <a:xfrm>
            <a:off x="4846320" y="3328416"/>
            <a:ext cx="3822191" cy="13898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21102"/>
            <a:ext cx="9144000" cy="50292"/>
          </a:xfrm>
          <a:prstGeom prst="rect">
            <a:avLst/>
          </a:prstGeom>
          <a:solidFill>
            <a:srgbClr val="00C8FF"/>
          </a:solidFill>
          <a:ln w="12700">
            <a:solidFill>
              <a:srgbClr val="00C8FF"/>
            </a:solidFill>
            <a:prstDash val="solid"/>
          </a:ln>
        </p:spPr>
      </p:sp>
      <p:sp>
        <p:nvSpPr>
          <p:cNvPr id="3" name="Shape 1"/>
          <p:cNvSpPr/>
          <p:nvPr/>
        </p:nvSpPr>
        <p:spPr>
          <a:xfrm>
            <a:off x="0" y="5093208"/>
            <a:ext cx="9144000" cy="50292"/>
          </a:xfrm>
          <a:prstGeom prst="rect">
            <a:avLst/>
          </a:prstGeom>
          <a:solidFill>
            <a:srgbClr val="7B61FF"/>
          </a:solidFill>
          <a:ln w="12700">
            <a:solidFill>
              <a:srgbClr val="7B61FF"/>
            </a:solidFill>
            <a:prstDash val="solid"/>
          </a:ln>
        </p:spPr>
      </p:sp>
      <p:sp>
        <p:nvSpPr>
          <p:cNvPr id="4" name="Shape 2"/>
          <p:cNvSpPr/>
          <p:nvPr/>
        </p:nvSpPr>
        <p:spPr>
          <a:xfrm>
            <a:off x="384048" y="146304"/>
            <a:ext cx="1371600" cy="246888"/>
          </a:xfrm>
          <a:prstGeom prst="rect">
            <a:avLst/>
          </a:prstGeom>
          <a:solidFill>
            <a:srgbClr val="7B61FF"/>
          </a:solidFill>
          <a:ln w="12700">
            <a:solidFill>
              <a:srgbClr val="7B61FF"/>
            </a:solidFill>
            <a:prstDash val="solid"/>
          </a:ln>
        </p:spPr>
      </p:sp>
      <p:sp>
        <p:nvSpPr>
          <p:cNvPr id="5" name="Text 3"/>
          <p:cNvSpPr/>
          <p:nvPr/>
        </p:nvSpPr>
        <p:spPr>
          <a:xfrm>
            <a:off x="384048" y="146304"/>
            <a:ext cx="1371600" cy="246888"/>
          </a:xfrm>
          <a:prstGeom prst="rect">
            <a:avLst/>
          </a:prstGeom>
          <a:noFill/>
          <a:ln/>
        </p:spPr>
        <p:txBody>
          <a:bodyPr wrap="square" lIns="0" tIns="0" rIns="0" bIns="0" rtlCol="0" anchor="ctr"/>
          <a:lstStyle/>
          <a:p>
            <a:pPr marL="0" indent="0" algn="ctr">
              <a:buNone/>
            </a:pPr>
            <a:r>
              <a:rPr lang="en-US" sz="750" b="1" kern="0" spc="150" dirty="0">
                <a:solidFill>
                  <a:srgbClr val="FFFFFF"/>
                </a:solidFill>
              </a:rPr>
              <a:t>CONCLUSION</a:t>
            </a:r>
            <a:endParaRPr lang="en-US" sz="750" dirty="0"/>
          </a:p>
        </p:txBody>
      </p:sp>
      <p:sp>
        <p:nvSpPr>
          <p:cNvPr id="6" name="Text 4"/>
          <p:cNvSpPr/>
          <p:nvPr/>
        </p:nvSpPr>
        <p:spPr>
          <a:xfrm>
            <a:off x="384048" y="475488"/>
            <a:ext cx="8412480" cy="566928"/>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Conclusion &amp; Future Enhancement</a:t>
            </a:r>
            <a:endParaRPr lang="en-US" sz="2400" dirty="0"/>
          </a:p>
        </p:txBody>
      </p:sp>
      <p:sp>
        <p:nvSpPr>
          <p:cNvPr id="7" name="Shape 5"/>
          <p:cNvSpPr/>
          <p:nvPr/>
        </p:nvSpPr>
        <p:spPr>
          <a:xfrm>
            <a:off x="384048" y="1078992"/>
            <a:ext cx="502920" cy="50292"/>
          </a:xfrm>
          <a:prstGeom prst="rect">
            <a:avLst/>
          </a:prstGeom>
          <a:solidFill>
            <a:srgbClr val="00C8FF"/>
          </a:solidFill>
          <a:ln w="12700">
            <a:solidFill>
              <a:srgbClr val="00C8FF"/>
            </a:solidFill>
            <a:prstDash val="solid"/>
          </a:ln>
        </p:spPr>
      </p:sp>
      <p:sp>
        <p:nvSpPr>
          <p:cNvPr id="8" name="Shape 6"/>
          <p:cNvSpPr/>
          <p:nvPr/>
        </p:nvSpPr>
        <p:spPr>
          <a:xfrm>
            <a:off x="932688" y="1078992"/>
            <a:ext cx="7827264" cy="50292"/>
          </a:xfrm>
          <a:prstGeom prst="rect">
            <a:avLst/>
          </a:prstGeom>
          <a:solidFill>
            <a:srgbClr val="112244"/>
          </a:solidFill>
          <a:ln w="12700">
            <a:solidFill>
              <a:srgbClr val="112244"/>
            </a:solidFill>
            <a:prstDash val="solid"/>
          </a:ln>
        </p:spPr>
      </p:sp>
      <p:sp>
        <p:nvSpPr>
          <p:cNvPr id="9" name="Text 7"/>
          <p:cNvSpPr/>
          <p:nvPr/>
        </p:nvSpPr>
        <p:spPr>
          <a:xfrm>
            <a:off x="8229600" y="4828032"/>
            <a:ext cx="731520" cy="201168"/>
          </a:xfrm>
          <a:prstGeom prst="rect">
            <a:avLst/>
          </a:prstGeom>
          <a:noFill/>
          <a:ln/>
        </p:spPr>
        <p:txBody>
          <a:bodyPr wrap="square" lIns="0" tIns="0" rIns="0" bIns="0" rtlCol="0" anchor="ctr"/>
          <a:lstStyle/>
          <a:p>
            <a:pPr marL="0" indent="0" algn="r">
              <a:buNone/>
            </a:pPr>
            <a:r>
              <a:rPr lang="en-US" sz="850" dirty="0">
                <a:solidFill>
                  <a:srgbClr val="7A96BB"/>
                </a:solidFill>
              </a:rPr>
              <a:t>10 / 11</a:t>
            </a:r>
            <a:endParaRPr lang="en-US" sz="850" dirty="0"/>
          </a:p>
        </p:txBody>
      </p:sp>
      <p:sp>
        <p:nvSpPr>
          <p:cNvPr id="10" name="Shape 8"/>
          <p:cNvSpPr/>
          <p:nvPr/>
        </p:nvSpPr>
        <p:spPr>
          <a:xfrm>
            <a:off x="384048" y="1234440"/>
            <a:ext cx="4160520" cy="3611880"/>
          </a:xfrm>
          <a:prstGeom prst="rect">
            <a:avLst/>
          </a:prstGeom>
          <a:solidFill>
            <a:srgbClr val="152B55"/>
          </a:solidFill>
          <a:ln w="8890">
            <a:solidFill>
              <a:srgbClr val="00C8FF"/>
            </a:solidFill>
            <a:prstDash val="solid"/>
          </a:ln>
          <a:effectLst>
            <a:outerShdw blurRad="101600" dist="38100" dir="8100000" algn="bl" rotWithShape="0">
              <a:srgbClr val="000000">
                <a:alpha val="28000"/>
              </a:srgbClr>
            </a:outerShdw>
          </a:effectLst>
        </p:spPr>
      </p:sp>
      <p:sp>
        <p:nvSpPr>
          <p:cNvPr id="11" name="Text 9"/>
          <p:cNvSpPr/>
          <p:nvPr/>
        </p:nvSpPr>
        <p:spPr>
          <a:xfrm>
            <a:off x="566928" y="1371600"/>
            <a:ext cx="3794760" cy="320040"/>
          </a:xfrm>
          <a:prstGeom prst="rect">
            <a:avLst/>
          </a:prstGeom>
          <a:noFill/>
          <a:ln/>
        </p:spPr>
        <p:txBody>
          <a:bodyPr wrap="square" lIns="0" tIns="0" rIns="0" bIns="0" rtlCol="0" anchor="ctr"/>
          <a:lstStyle/>
          <a:p>
            <a:pPr marL="0" indent="0">
              <a:buNone/>
            </a:pPr>
            <a:r>
              <a:rPr lang="en-US" sz="1300" b="1" dirty="0">
                <a:solidFill>
                  <a:srgbClr val="00C8FF"/>
                </a:solidFill>
              </a:rPr>
              <a:t>Conclusion</a:t>
            </a:r>
            <a:endParaRPr lang="en-US" sz="1300" dirty="0"/>
          </a:p>
        </p:txBody>
      </p:sp>
      <p:sp>
        <p:nvSpPr>
          <p:cNvPr id="12" name="Text 10"/>
          <p:cNvSpPr/>
          <p:nvPr/>
        </p:nvSpPr>
        <p:spPr>
          <a:xfrm>
            <a:off x="566928" y="1755648"/>
            <a:ext cx="3794760" cy="297180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D6E4F7"/>
                </a:solidFill>
              </a:rPr>
              <a:t>Developed a unified hybrid CNN-BiLSTM-ViT framework for image and video deepfake detection</a:t>
            </a:r>
            <a:endParaRPr lang="en-US" sz="1100" dirty="0"/>
          </a:p>
          <a:p>
            <a:pPr marL="342900" indent="-342900">
              <a:spcAft>
                <a:spcPts val="600"/>
              </a:spcAft>
              <a:buSzPct val="100000"/>
              <a:buChar char="•"/>
            </a:pPr>
            <a:r>
              <a:rPr lang="en-US" sz="1100" dirty="0">
                <a:solidFill>
                  <a:srgbClr val="D6E4F7"/>
                </a:solidFill>
              </a:rPr>
              <a:t>Integrated Explainable AI (Grad-CAM) to provide transparent, interpretable predictions</a:t>
            </a:r>
            <a:endParaRPr lang="en-US" sz="1100" dirty="0"/>
          </a:p>
          <a:p>
            <a:pPr marL="342900" indent="-342900">
              <a:spcAft>
                <a:spcPts val="600"/>
              </a:spcAft>
              <a:buSzPct val="100000"/>
              <a:buChar char="•"/>
            </a:pPr>
            <a:r>
              <a:rPr lang="en-US" sz="1100" dirty="0">
                <a:solidFill>
                  <a:srgbClr val="D6E4F7"/>
                </a:solidFill>
              </a:rPr>
              <a:t>Achieved 98.7% accuracy on FaceForensics++, 97.2% AUC on Celeb-DF v2</a:t>
            </a:r>
            <a:endParaRPr lang="en-US" sz="1100" dirty="0"/>
          </a:p>
          <a:p>
            <a:pPr marL="342900" indent="-342900">
              <a:spcAft>
                <a:spcPts val="600"/>
              </a:spcAft>
              <a:buSzPct val="100000"/>
              <a:buChar char="•"/>
            </a:pPr>
            <a:r>
              <a:rPr lang="en-US" sz="1100" dirty="0">
                <a:solidFill>
                  <a:srgbClr val="D6E4F7"/>
                </a:solidFill>
              </a:rPr>
              <a:t>Demonstrated cross-dataset generalization on DFDC and 140k Faces dataset</a:t>
            </a:r>
            <a:endParaRPr lang="en-US" sz="1100" dirty="0"/>
          </a:p>
          <a:p>
            <a:pPr marL="342900" indent="-342900">
              <a:spcAft>
                <a:spcPts val="600"/>
              </a:spcAft>
              <a:buSzPct val="100000"/>
              <a:buChar char="•"/>
            </a:pPr>
            <a:r>
              <a:rPr lang="en-US" sz="1100" dirty="0">
                <a:solidFill>
                  <a:srgbClr val="D6E4F7"/>
                </a:solidFill>
              </a:rPr>
              <a:t>Real-time inference at 12ms per frame enables practical deployment</a:t>
            </a:r>
            <a:endParaRPr lang="en-US" sz="1100" dirty="0"/>
          </a:p>
          <a:p>
            <a:pPr marL="342900" indent="-342900">
              <a:spcAft>
                <a:spcPts val="600"/>
              </a:spcAft>
              <a:buSzPct val="100000"/>
              <a:buChar char="•"/>
            </a:pPr>
            <a:r>
              <a:rPr lang="en-US" sz="1100" dirty="0">
                <a:solidFill>
                  <a:srgbClr val="D6E4F7"/>
                </a:solidFill>
              </a:rPr>
              <a:t>XAI module successfully highlights manipulated facial regions, validated by domain experts</a:t>
            </a:r>
            <a:endParaRPr lang="en-US" sz="1100" dirty="0"/>
          </a:p>
        </p:txBody>
      </p:sp>
      <p:sp>
        <p:nvSpPr>
          <p:cNvPr id="13" name="Shape 11"/>
          <p:cNvSpPr/>
          <p:nvPr/>
        </p:nvSpPr>
        <p:spPr>
          <a:xfrm>
            <a:off x="4754880" y="1234440"/>
            <a:ext cx="4005072" cy="3611880"/>
          </a:xfrm>
          <a:prstGeom prst="rect">
            <a:avLst/>
          </a:prstGeom>
          <a:solidFill>
            <a:srgbClr val="152B55"/>
          </a:solidFill>
          <a:ln w="8890">
            <a:solidFill>
              <a:srgbClr val="00E5A0"/>
            </a:solidFill>
            <a:prstDash val="solid"/>
          </a:ln>
          <a:effectLst>
            <a:outerShdw blurRad="101600" dist="38100" dir="8100000" algn="bl" rotWithShape="0">
              <a:srgbClr val="000000">
                <a:alpha val="28000"/>
              </a:srgbClr>
            </a:outerShdw>
          </a:effectLst>
        </p:spPr>
      </p:sp>
      <p:sp>
        <p:nvSpPr>
          <p:cNvPr id="14" name="Text 12"/>
          <p:cNvSpPr/>
          <p:nvPr/>
        </p:nvSpPr>
        <p:spPr>
          <a:xfrm>
            <a:off x="4937760" y="1371600"/>
            <a:ext cx="3657600" cy="320040"/>
          </a:xfrm>
          <a:prstGeom prst="rect">
            <a:avLst/>
          </a:prstGeom>
          <a:noFill/>
          <a:ln/>
        </p:spPr>
        <p:txBody>
          <a:bodyPr wrap="square" lIns="0" tIns="0" rIns="0" bIns="0" rtlCol="0" anchor="ctr"/>
          <a:lstStyle/>
          <a:p>
            <a:pPr marL="0" indent="0">
              <a:buNone/>
            </a:pPr>
            <a:r>
              <a:rPr lang="en-US" sz="1300" b="1" dirty="0">
                <a:solidFill>
                  <a:srgbClr val="00E5A0"/>
                </a:solidFill>
              </a:rPr>
              <a:t>Future Enhancement</a:t>
            </a:r>
            <a:endParaRPr lang="en-US" sz="1300" dirty="0"/>
          </a:p>
        </p:txBody>
      </p:sp>
      <p:sp>
        <p:nvSpPr>
          <p:cNvPr id="15" name="Text 13"/>
          <p:cNvSpPr/>
          <p:nvPr/>
        </p:nvSpPr>
        <p:spPr>
          <a:xfrm>
            <a:off x="4937760" y="1755648"/>
            <a:ext cx="3657600" cy="297180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D6E4F7"/>
                </a:solidFill>
              </a:rPr>
              <a:t>Extend to audio-visual deepfake detection using multimodal fusion</a:t>
            </a:r>
            <a:endParaRPr lang="en-US" sz="1100" dirty="0"/>
          </a:p>
          <a:p>
            <a:pPr marL="342900" indent="-342900">
              <a:spcAft>
                <a:spcPts val="600"/>
              </a:spcAft>
              <a:buSzPct val="100000"/>
              <a:buChar char="•"/>
            </a:pPr>
            <a:r>
              <a:rPr lang="en-US" sz="1100" dirty="0">
                <a:solidFill>
                  <a:srgbClr val="D6E4F7"/>
                </a:solidFill>
              </a:rPr>
              <a:t>Develop adversarial robustness against anti-forensics attacks</a:t>
            </a:r>
            <a:endParaRPr lang="en-US" sz="1100" dirty="0"/>
          </a:p>
          <a:p>
            <a:pPr marL="342900" indent="-342900">
              <a:spcAft>
                <a:spcPts val="600"/>
              </a:spcAft>
              <a:buSzPct val="100000"/>
              <a:buChar char="•"/>
            </a:pPr>
            <a:r>
              <a:rPr lang="en-US" sz="1100" dirty="0">
                <a:solidFill>
                  <a:srgbClr val="D6E4F7"/>
                </a:solidFill>
              </a:rPr>
              <a:t>Deploy lightweight MobileNet variant for edge and mobile devices</a:t>
            </a:r>
            <a:endParaRPr lang="en-US" sz="1100" dirty="0"/>
          </a:p>
          <a:p>
            <a:pPr marL="342900" indent="-342900">
              <a:spcAft>
                <a:spcPts val="600"/>
              </a:spcAft>
              <a:buSzPct val="100000"/>
              <a:buChar char="•"/>
            </a:pPr>
            <a:r>
              <a:rPr lang="en-US" sz="1100" dirty="0">
                <a:solidFill>
                  <a:srgbClr val="D6E4F7"/>
                </a:solidFill>
              </a:rPr>
              <a:t>Continual learning to adapt to new and emerging GAN architectures</a:t>
            </a:r>
            <a:endParaRPr lang="en-US" sz="1100" dirty="0"/>
          </a:p>
          <a:p>
            <a:pPr marL="342900" indent="-342900">
              <a:spcAft>
                <a:spcPts val="600"/>
              </a:spcAft>
              <a:buSzPct val="100000"/>
              <a:buChar char="•"/>
            </a:pPr>
            <a:r>
              <a:rPr lang="en-US" sz="1100" dirty="0">
                <a:solidFill>
                  <a:srgbClr val="D6E4F7"/>
                </a:solidFill>
              </a:rPr>
              <a:t>Browser extension for real-time social media deepfake detection</a:t>
            </a:r>
            <a:endParaRPr lang="en-US" sz="1100" dirty="0"/>
          </a:p>
          <a:p>
            <a:pPr marL="342900" indent="-342900">
              <a:spcAft>
                <a:spcPts val="600"/>
              </a:spcAft>
              <a:buSzPct val="100000"/>
              <a:buChar char="•"/>
            </a:pPr>
            <a:r>
              <a:rPr lang="en-US" sz="1100" dirty="0">
                <a:solidFill>
                  <a:srgbClr val="D6E4F7"/>
                </a:solidFill>
              </a:rPr>
              <a:t>Federated learning for privacy-preserving distributed training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C8FF"/>
          </a:solidFill>
          <a:ln w="12700">
            <a:solidFill>
              <a:srgbClr val="00C8FF"/>
            </a:solidFill>
            <a:prstDash val="solid"/>
          </a:ln>
        </p:spPr>
      </p:sp>
      <p:sp>
        <p:nvSpPr>
          <p:cNvPr id="3" name="Shape 1"/>
          <p:cNvSpPr/>
          <p:nvPr/>
        </p:nvSpPr>
        <p:spPr>
          <a:xfrm>
            <a:off x="0" y="5093208"/>
            <a:ext cx="9144000" cy="50292"/>
          </a:xfrm>
          <a:prstGeom prst="rect">
            <a:avLst/>
          </a:prstGeom>
          <a:solidFill>
            <a:srgbClr val="7B61FF"/>
          </a:solidFill>
          <a:ln w="12700">
            <a:solidFill>
              <a:srgbClr val="7B61FF"/>
            </a:solidFill>
            <a:prstDash val="solid"/>
          </a:ln>
        </p:spPr>
      </p:sp>
      <p:sp>
        <p:nvSpPr>
          <p:cNvPr id="4" name="Shape 2"/>
          <p:cNvSpPr/>
          <p:nvPr/>
        </p:nvSpPr>
        <p:spPr>
          <a:xfrm>
            <a:off x="1645920" y="914400"/>
            <a:ext cx="5852160" cy="3291840"/>
          </a:xfrm>
          <a:prstGeom prst="rect">
            <a:avLst/>
          </a:prstGeom>
          <a:solidFill>
            <a:srgbClr val="152B55"/>
          </a:solidFill>
          <a:ln w="8890">
            <a:solidFill>
              <a:srgbClr val="00C8FF"/>
            </a:solidFill>
            <a:prstDash val="solid"/>
          </a:ln>
          <a:effectLst>
            <a:outerShdw blurRad="101600" dist="38100" dir="8100000" algn="bl" rotWithShape="0">
              <a:srgbClr val="000000">
                <a:alpha val="28000"/>
              </a:srgbClr>
            </a:outerShdw>
          </a:effectLst>
        </p:spPr>
      </p:sp>
      <p:sp>
        <p:nvSpPr>
          <p:cNvPr id="5" name="Text 3"/>
          <p:cNvSpPr/>
          <p:nvPr/>
        </p:nvSpPr>
        <p:spPr>
          <a:xfrm>
            <a:off x="1645920" y="1115568"/>
            <a:ext cx="5852160" cy="914400"/>
          </a:xfrm>
          <a:prstGeom prst="rect">
            <a:avLst/>
          </a:prstGeom>
          <a:noFill/>
          <a:ln/>
        </p:spPr>
        <p:txBody>
          <a:bodyPr wrap="square" lIns="0" tIns="0" rIns="0" bIns="0"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Thank You</a:t>
            </a:r>
            <a:endParaRPr lang="en-US" sz="4200" dirty="0"/>
          </a:p>
        </p:txBody>
      </p:sp>
      <p:sp>
        <p:nvSpPr>
          <p:cNvPr id="6" name="Shape 4"/>
          <p:cNvSpPr/>
          <p:nvPr/>
        </p:nvSpPr>
        <p:spPr>
          <a:xfrm>
            <a:off x="3291840" y="2084832"/>
            <a:ext cx="2560320" cy="50292"/>
          </a:xfrm>
          <a:prstGeom prst="rect">
            <a:avLst/>
          </a:prstGeom>
          <a:solidFill>
            <a:srgbClr val="00C8FF"/>
          </a:solidFill>
          <a:ln w="12700">
            <a:solidFill>
              <a:srgbClr val="00C8FF"/>
            </a:solidFill>
            <a:prstDash val="solid"/>
          </a:ln>
        </p:spPr>
      </p:sp>
      <p:sp>
        <p:nvSpPr>
          <p:cNvPr id="7" name="Text 5"/>
          <p:cNvSpPr/>
          <p:nvPr/>
        </p:nvSpPr>
        <p:spPr>
          <a:xfrm>
            <a:off x="1645920" y="2212848"/>
            <a:ext cx="5852160" cy="365760"/>
          </a:xfrm>
          <a:prstGeom prst="rect">
            <a:avLst/>
          </a:prstGeom>
          <a:noFill/>
          <a:ln/>
        </p:spPr>
        <p:txBody>
          <a:bodyPr wrap="square" lIns="0" tIns="0" rIns="0" bIns="0" rtlCol="0" anchor="ctr"/>
          <a:lstStyle/>
          <a:p>
            <a:pPr marL="0" indent="0" algn="ctr">
              <a:buNone/>
            </a:pPr>
            <a:r>
              <a:rPr lang="en-US" sz="1400" i="1" dirty="0">
                <a:solidFill>
                  <a:srgbClr val="00C8FF"/>
                </a:solidFill>
              </a:rPr>
              <a:t>Questions &amp; Discussion Welcome</a:t>
            </a:r>
            <a:endParaRPr lang="en-US" sz="1400" dirty="0"/>
          </a:p>
        </p:txBody>
      </p:sp>
      <p:sp>
        <p:nvSpPr>
          <p:cNvPr id="8" name="Text 6"/>
          <p:cNvSpPr/>
          <p:nvPr/>
        </p:nvSpPr>
        <p:spPr>
          <a:xfrm>
            <a:off x="1645920" y="2697480"/>
            <a:ext cx="5852160" cy="256032"/>
          </a:xfrm>
          <a:prstGeom prst="rect">
            <a:avLst/>
          </a:prstGeom>
          <a:noFill/>
          <a:ln/>
        </p:spPr>
        <p:txBody>
          <a:bodyPr wrap="square" lIns="0" tIns="0" rIns="0" bIns="0" rtlCol="0" anchor="ctr"/>
          <a:lstStyle/>
          <a:p>
            <a:pPr marL="0" indent="0" algn="ctr">
              <a:buNone/>
            </a:pPr>
            <a:r>
              <a:rPr lang="en-US" sz="1050" dirty="0">
                <a:solidFill>
                  <a:srgbClr val="7A96BB"/>
                </a:solidFill>
              </a:rPr>
              <a:t>Presented by:  </a:t>
            </a:r>
            <a:r>
              <a:rPr lang="en-US" sz="1050" b="1" dirty="0">
                <a:solidFill>
                  <a:srgbClr val="D6E4F7"/>
                </a:solidFill>
              </a:rPr>
              <a:t>CHIDADHALA VENKATESH</a:t>
            </a:r>
            <a:endParaRPr lang="en-US" sz="1050" dirty="0"/>
          </a:p>
        </p:txBody>
      </p:sp>
      <p:sp>
        <p:nvSpPr>
          <p:cNvPr id="9" name="Text 7"/>
          <p:cNvSpPr/>
          <p:nvPr/>
        </p:nvSpPr>
        <p:spPr>
          <a:xfrm>
            <a:off x="1645920" y="2971800"/>
            <a:ext cx="5852160" cy="256032"/>
          </a:xfrm>
          <a:prstGeom prst="rect">
            <a:avLst/>
          </a:prstGeom>
          <a:noFill/>
          <a:ln/>
        </p:spPr>
        <p:txBody>
          <a:bodyPr wrap="square" lIns="0" tIns="0" rIns="0" bIns="0" rtlCol="0" anchor="ctr"/>
          <a:lstStyle/>
          <a:p>
            <a:pPr marL="0" indent="0" algn="ctr">
              <a:buNone/>
            </a:pPr>
            <a:r>
              <a:rPr lang="en-US" sz="1050" dirty="0">
                <a:solidFill>
                  <a:srgbClr val="7A96BB"/>
                </a:solidFill>
              </a:rPr>
              <a:t>Roll No:  </a:t>
            </a:r>
            <a:r>
              <a:rPr lang="en-US" sz="1050" b="1" dirty="0">
                <a:solidFill>
                  <a:srgbClr val="D6E4F7"/>
                </a:solidFill>
              </a:rPr>
              <a:t>24304332</a:t>
            </a:r>
            <a:endParaRPr lang="en-US" sz="1050" dirty="0"/>
          </a:p>
        </p:txBody>
      </p:sp>
      <p:sp>
        <p:nvSpPr>
          <p:cNvPr id="10" name="Text 8"/>
          <p:cNvSpPr/>
          <p:nvPr/>
        </p:nvSpPr>
        <p:spPr>
          <a:xfrm>
            <a:off x="1645920" y="3246120"/>
            <a:ext cx="5852160" cy="256032"/>
          </a:xfrm>
          <a:prstGeom prst="rect">
            <a:avLst/>
          </a:prstGeom>
          <a:noFill/>
          <a:ln/>
        </p:spPr>
        <p:txBody>
          <a:bodyPr wrap="square" lIns="0" tIns="0" rIns="0" bIns="0" rtlCol="0" anchor="ctr"/>
          <a:lstStyle/>
          <a:p>
            <a:pPr marL="0" indent="0" algn="ctr">
              <a:buNone/>
            </a:pPr>
            <a:r>
              <a:rPr lang="en-US" sz="1050" dirty="0">
                <a:solidFill>
                  <a:srgbClr val="7A96BB"/>
                </a:solidFill>
              </a:rPr>
              <a:t>Department:  </a:t>
            </a:r>
            <a:r>
              <a:rPr lang="en-US" sz="1050" b="1" dirty="0">
                <a:solidFill>
                  <a:srgbClr val="D6E4F7"/>
                </a:solidFill>
              </a:rPr>
              <a:t>II MCA-'C'</a:t>
            </a:r>
            <a:endParaRPr lang="en-US" sz="1050" dirty="0"/>
          </a:p>
        </p:txBody>
      </p:sp>
      <p:sp>
        <p:nvSpPr>
          <p:cNvPr id="11" name="Text 9"/>
          <p:cNvSpPr/>
          <p:nvPr/>
        </p:nvSpPr>
        <p:spPr>
          <a:xfrm>
            <a:off x="1645920" y="3520440"/>
            <a:ext cx="5852160" cy="256032"/>
          </a:xfrm>
          <a:prstGeom prst="rect">
            <a:avLst/>
          </a:prstGeom>
          <a:noFill/>
          <a:ln/>
        </p:spPr>
        <p:txBody>
          <a:bodyPr wrap="square" lIns="0" tIns="0" rIns="0" bIns="0" rtlCol="0" anchor="ctr"/>
          <a:lstStyle/>
          <a:p>
            <a:pPr marL="0" indent="0" algn="ctr">
              <a:buNone/>
            </a:pPr>
            <a:r>
              <a:rPr lang="en-US" sz="1050" dirty="0">
                <a:solidFill>
                  <a:srgbClr val="7A96BB"/>
                </a:solidFill>
              </a:rPr>
              <a:t>Guide:  </a:t>
            </a:r>
            <a:r>
              <a:rPr lang="en-US" sz="1050" b="1" dirty="0">
                <a:solidFill>
                  <a:srgbClr val="00C8FF"/>
                </a:solidFill>
              </a:rPr>
              <a:t>Dr. P. Kavitha</a:t>
            </a:r>
            <a:endParaRPr lang="en-US" sz="1050" dirty="0"/>
          </a:p>
        </p:txBody>
      </p:sp>
      <p:sp>
        <p:nvSpPr>
          <p:cNvPr id="12" name="Text 10"/>
          <p:cNvSpPr/>
          <p:nvPr/>
        </p:nvSpPr>
        <p:spPr>
          <a:xfrm>
            <a:off x="1645920" y="3794760"/>
            <a:ext cx="5852160" cy="256032"/>
          </a:xfrm>
          <a:prstGeom prst="rect">
            <a:avLst/>
          </a:prstGeom>
          <a:noFill/>
          <a:ln/>
        </p:spPr>
        <p:txBody>
          <a:bodyPr wrap="square" lIns="0" tIns="0" rIns="0" bIns="0" rtlCol="0" anchor="ctr"/>
          <a:lstStyle/>
          <a:p>
            <a:pPr marL="0" indent="0" algn="ctr">
              <a:buNone/>
            </a:pPr>
            <a:r>
              <a:rPr lang="en-US" sz="1050" dirty="0">
                <a:solidFill>
                  <a:srgbClr val="7A96BB"/>
                </a:solidFill>
              </a:rPr>
              <a:t>Year:  </a:t>
            </a:r>
            <a:r>
              <a:rPr lang="en-US" sz="1050" b="1" dirty="0">
                <a:solidFill>
                  <a:srgbClr val="D6E4F7"/>
                </a:solidFill>
              </a:rPr>
              <a:t>2026</a:t>
            </a:r>
            <a:endParaRPr lang="en-US" sz="1050" dirty="0"/>
          </a:p>
        </p:txBody>
      </p:sp>
      <p:sp>
        <p:nvSpPr>
          <p:cNvPr id="13" name="Text 11"/>
          <p:cNvSpPr/>
          <p:nvPr/>
        </p:nvSpPr>
        <p:spPr>
          <a:xfrm>
            <a:off x="914400" y="4407408"/>
            <a:ext cx="7315200" cy="320040"/>
          </a:xfrm>
          <a:prstGeom prst="rect">
            <a:avLst/>
          </a:prstGeom>
          <a:noFill/>
          <a:ln/>
        </p:spPr>
        <p:txBody>
          <a:bodyPr wrap="square" lIns="0" tIns="0" rIns="0" bIns="0" rtlCol="0" anchor="ctr"/>
          <a:lstStyle/>
          <a:p>
            <a:pPr marL="0" indent="0" algn="ctr">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1299</Words>
  <Application>Microsoft Office PowerPoint</Application>
  <PresentationFormat>On-screen Show (16:9)</PresentationFormat>
  <Paragraphs>262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Deep Learning Framework for Deepfake Detection</dc:title>
  <dc:subject>PptxGenJS Presentation</dc:subject>
  <dc:creator>PptxGenJS</dc:creator>
  <cp:lastModifiedBy>venkateshchidadhla05@outlook.com</cp:lastModifiedBy>
  <cp:revision>2</cp:revision>
  <dcterms:created xsi:type="dcterms:W3CDTF">2026-05-20T01:58:45Z</dcterms:created>
  <dcterms:modified xsi:type="dcterms:W3CDTF">2026-05-20T07:30:48Z</dcterms:modified>
</cp:coreProperties>
</file>